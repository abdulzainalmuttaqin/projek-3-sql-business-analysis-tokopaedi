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Montserrat Bold" charset="1" panose="00000800000000000000"/>
      <p:regular r:id="rId51"/>
    </p:embeddedFont>
    <p:embeddedFont>
      <p:font typeface="Inter Bold" charset="1" panose="02000503000000020004"/>
      <p:regular r:id="rId52"/>
    </p:embeddedFont>
    <p:embeddedFont>
      <p:font typeface="Canva Sans" charset="1" panose="020B0503030501040103"/>
      <p:regular r:id="rId53"/>
    </p:embeddedFont>
    <p:embeddedFont>
      <p:font typeface="Poppins Semi-Bold" charset="1" panose="00000700000000000000"/>
      <p:regular r:id="rId54"/>
    </p:embeddedFont>
    <p:embeddedFont>
      <p:font typeface="Open Sans Bold" charset="1" panose="00000000000000000000"/>
      <p:regular r:id="rId55"/>
    </p:embeddedFont>
    <p:embeddedFont>
      <p:font typeface="Open Sans" charset="1" panose="00000000000000000000"/>
      <p:regular r:id="rId56"/>
    </p:embeddedFont>
    <p:embeddedFont>
      <p:font typeface="Poppins" charset="1" panose="0000050000000000000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1.bin" Type="http://schemas.openxmlformats.org/officeDocument/2006/relationships/oleObject"/><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solidFill>
              <a:srgbClr val="3B82F6"/>
            </a:soli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191726" y="1580598"/>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D3FC"/>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319354" y="-427750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0191726" y="6977077"/>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TextBox 14" id="14"/>
          <p:cNvSpPr txBox="true"/>
          <p:nvPr/>
        </p:nvSpPr>
        <p:spPr>
          <a:xfrm rot="0">
            <a:off x="1028700" y="3150444"/>
            <a:ext cx="9537689" cy="1892299"/>
          </a:xfrm>
          <a:prstGeom prst="rect">
            <a:avLst/>
          </a:prstGeom>
        </p:spPr>
        <p:txBody>
          <a:bodyPr anchor="t" rtlCol="false" tIns="0" lIns="0" bIns="0" rIns="0">
            <a:spAutoFit/>
          </a:bodyPr>
          <a:lstStyle/>
          <a:p>
            <a:pPr algn="just">
              <a:lnSpc>
                <a:spcPts val="15400"/>
              </a:lnSpc>
            </a:pPr>
            <a:r>
              <a:rPr lang="en-US" b="true" sz="11000">
                <a:solidFill>
                  <a:srgbClr val="1F3A5F"/>
                </a:solidFill>
                <a:latin typeface="Montserrat Bold"/>
                <a:ea typeface="Montserrat Bold"/>
                <a:cs typeface="Montserrat Bold"/>
                <a:sym typeface="Montserrat Bold"/>
              </a:rPr>
              <a:t>Tokopaedi</a:t>
            </a:r>
          </a:p>
        </p:txBody>
      </p:sp>
      <p:sp>
        <p:nvSpPr>
          <p:cNvPr name="TextBox 15" id="15"/>
          <p:cNvSpPr txBox="true"/>
          <p:nvPr/>
        </p:nvSpPr>
        <p:spPr>
          <a:xfrm rot="0">
            <a:off x="1028700" y="4545501"/>
            <a:ext cx="10147286" cy="1892299"/>
          </a:xfrm>
          <a:prstGeom prst="rect">
            <a:avLst/>
          </a:prstGeom>
        </p:spPr>
        <p:txBody>
          <a:bodyPr anchor="t" rtlCol="false" tIns="0" lIns="0" bIns="0" rIns="0">
            <a:spAutoFit/>
          </a:bodyPr>
          <a:lstStyle/>
          <a:p>
            <a:pPr algn="just">
              <a:lnSpc>
                <a:spcPts val="15400"/>
              </a:lnSpc>
            </a:pPr>
            <a:r>
              <a:rPr lang="en-US" b="true" sz="11000">
                <a:solidFill>
                  <a:srgbClr val="1F3A5F"/>
                </a:solidFill>
                <a:latin typeface="Montserrat Bold"/>
                <a:ea typeface="Montserrat Bold"/>
                <a:cs typeface="Montserrat Bold"/>
                <a:sym typeface="Montserrat Bold"/>
              </a:rPr>
              <a:t>E-Commerce</a:t>
            </a:r>
          </a:p>
        </p:txBody>
      </p:sp>
      <p:grpSp>
        <p:nvGrpSpPr>
          <p:cNvPr name="Group 16" id="16"/>
          <p:cNvGrpSpPr/>
          <p:nvPr/>
        </p:nvGrpSpPr>
        <p:grpSpPr>
          <a:xfrm rot="0">
            <a:off x="1028700" y="1131870"/>
            <a:ext cx="6872523" cy="897456"/>
            <a:chOff x="0" y="0"/>
            <a:chExt cx="9163364" cy="1196608"/>
          </a:xfrm>
        </p:grpSpPr>
        <p:sp>
          <p:nvSpPr>
            <p:cNvPr name="Freeform 17" id="17"/>
            <p:cNvSpPr/>
            <p:nvPr/>
          </p:nvSpPr>
          <p:spPr>
            <a:xfrm flipH="false" flipV="false" rot="0">
              <a:off x="0" y="67265"/>
              <a:ext cx="1129344" cy="1129344"/>
            </a:xfrm>
            <a:custGeom>
              <a:avLst/>
              <a:gdLst/>
              <a:ahLst/>
              <a:cxnLst/>
              <a:rect r="r" b="b" t="t" l="l"/>
              <a:pathLst>
                <a:path h="1129344" w="1129344">
                  <a:moveTo>
                    <a:pt x="0" y="0"/>
                  </a:moveTo>
                  <a:lnTo>
                    <a:pt x="1129344" y="0"/>
                  </a:lnTo>
                  <a:lnTo>
                    <a:pt x="1129344" y="1129343"/>
                  </a:lnTo>
                  <a:lnTo>
                    <a:pt x="0" y="11293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636001" y="-38100"/>
              <a:ext cx="5301642" cy="537633"/>
            </a:xfrm>
            <a:prstGeom prst="rect">
              <a:avLst/>
            </a:prstGeom>
          </p:spPr>
          <p:txBody>
            <a:bodyPr anchor="t" rtlCol="false" tIns="0" lIns="0" bIns="0" rIns="0">
              <a:spAutoFit/>
            </a:bodyPr>
            <a:lstStyle/>
            <a:p>
              <a:pPr algn="l">
                <a:lnSpc>
                  <a:spcPts val="3499"/>
                </a:lnSpc>
              </a:pPr>
              <a:r>
                <a:rPr lang="en-US" b="true" sz="2499">
                  <a:solidFill>
                    <a:srgbClr val="282828"/>
                  </a:solidFill>
                  <a:latin typeface="Inter Bold"/>
                  <a:ea typeface="Inter Bold"/>
                  <a:cs typeface="Inter Bold"/>
                  <a:sym typeface="Inter Bold"/>
                </a:rPr>
                <a:t>MySkill</a:t>
              </a:r>
            </a:p>
          </p:txBody>
        </p:sp>
        <p:sp>
          <p:nvSpPr>
            <p:cNvPr name="TextBox 19" id="19"/>
            <p:cNvSpPr txBox="true"/>
            <p:nvPr/>
          </p:nvSpPr>
          <p:spPr>
            <a:xfrm rot="0">
              <a:off x="1636001" y="461433"/>
              <a:ext cx="7527362" cy="537633"/>
            </a:xfrm>
            <a:prstGeom prst="rect">
              <a:avLst/>
            </a:prstGeom>
          </p:spPr>
          <p:txBody>
            <a:bodyPr anchor="t" rtlCol="false" tIns="0" lIns="0" bIns="0" rIns="0">
              <a:spAutoFit/>
            </a:bodyPr>
            <a:lstStyle/>
            <a:p>
              <a:pPr algn="l">
                <a:lnSpc>
                  <a:spcPts val="3499"/>
                </a:lnSpc>
              </a:pPr>
              <a:r>
                <a:rPr lang="en-US" b="true" sz="2499">
                  <a:solidFill>
                    <a:srgbClr val="282828"/>
                  </a:solidFill>
                  <a:latin typeface="Inter Bold"/>
                  <a:ea typeface="Inter Bold"/>
                  <a:cs typeface="Inter Bold"/>
                  <a:sym typeface="Inter Bold"/>
                </a:rPr>
                <a:t>Final Project Data Analyst Batch 29</a:t>
              </a:r>
            </a:p>
          </p:txBody>
        </p:sp>
      </p:grpSp>
      <p:sp>
        <p:nvSpPr>
          <p:cNvPr name="TextBox 20" id="20"/>
          <p:cNvSpPr txBox="true"/>
          <p:nvPr/>
        </p:nvSpPr>
        <p:spPr>
          <a:xfrm rot="0">
            <a:off x="1095375" y="6337489"/>
            <a:ext cx="10147286" cy="396240"/>
          </a:xfrm>
          <a:prstGeom prst="rect">
            <a:avLst/>
          </a:prstGeom>
        </p:spPr>
        <p:txBody>
          <a:bodyPr anchor="t" rtlCol="false" tIns="0" lIns="0" bIns="0" rIns="0">
            <a:spAutoFit/>
          </a:bodyPr>
          <a:lstStyle/>
          <a:p>
            <a:pPr algn="just">
              <a:lnSpc>
                <a:spcPts val="3359"/>
              </a:lnSpc>
            </a:pPr>
            <a:r>
              <a:rPr lang="en-US" sz="2400">
                <a:solidFill>
                  <a:srgbClr val="282828"/>
                </a:solidFill>
                <a:latin typeface="Canva Sans"/>
                <a:ea typeface="Canva Sans"/>
                <a:cs typeface="Canva Sans"/>
                <a:sym typeface="Canva Sans"/>
              </a:rPr>
              <a:t>5 Business Requests → 5 Analytical Solution with SQL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3391230" y="6480088"/>
            <a:ext cx="562492" cy="452200"/>
            <a:chOff x="0" y="0"/>
            <a:chExt cx="647700" cy="520700"/>
          </a:xfrm>
        </p:grpSpPr>
        <p:sp>
          <p:nvSpPr>
            <p:cNvPr name="Freeform 6" id="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7" id="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5400000">
            <a:off x="9200875" y="6480088"/>
            <a:ext cx="562492" cy="452200"/>
            <a:chOff x="0" y="0"/>
            <a:chExt cx="647700" cy="520700"/>
          </a:xfrm>
        </p:grpSpPr>
        <p:sp>
          <p:nvSpPr>
            <p:cNvPr name="Freeform 9" id="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0" id="10"/>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5400000">
            <a:off x="15011764" y="6480088"/>
            <a:ext cx="562492" cy="452200"/>
            <a:chOff x="0" y="0"/>
            <a:chExt cx="647700" cy="520700"/>
          </a:xfrm>
        </p:grpSpPr>
        <p:sp>
          <p:nvSpPr>
            <p:cNvPr name="Freeform 12" id="12"/>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3" id="13"/>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5400000">
            <a:off x="18002497" y="6480088"/>
            <a:ext cx="562492" cy="452200"/>
            <a:chOff x="0" y="0"/>
            <a:chExt cx="647700" cy="520700"/>
          </a:xfrm>
        </p:grpSpPr>
        <p:sp>
          <p:nvSpPr>
            <p:cNvPr name="Freeform 15" id="15"/>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6" id="16"/>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10625692" y="1028700"/>
            <a:ext cx="6633608" cy="3171196"/>
            <a:chOff x="0" y="0"/>
            <a:chExt cx="1027719" cy="491301"/>
          </a:xfrm>
        </p:grpSpPr>
        <p:sp>
          <p:nvSpPr>
            <p:cNvPr name="Freeform 18" id="18"/>
            <p:cNvSpPr/>
            <p:nvPr/>
          </p:nvSpPr>
          <p:spPr>
            <a:xfrm flipH="false" flipV="false" rot="0">
              <a:off x="0" y="0"/>
              <a:ext cx="1027719" cy="491301"/>
            </a:xfrm>
            <a:custGeom>
              <a:avLst/>
              <a:gdLst/>
              <a:ahLst/>
              <a:cxnLst/>
              <a:rect r="r" b="b" t="t" l="l"/>
              <a:pathLst>
                <a:path h="491301" w="1027719">
                  <a:moveTo>
                    <a:pt x="16339" y="0"/>
                  </a:moveTo>
                  <a:lnTo>
                    <a:pt x="1011380" y="0"/>
                  </a:lnTo>
                  <a:cubicBezTo>
                    <a:pt x="1015714" y="0"/>
                    <a:pt x="1019870" y="1721"/>
                    <a:pt x="1022934" y="4786"/>
                  </a:cubicBezTo>
                  <a:cubicBezTo>
                    <a:pt x="1025998" y="7850"/>
                    <a:pt x="1027719" y="12006"/>
                    <a:pt x="1027719" y="16339"/>
                  </a:cubicBezTo>
                  <a:lnTo>
                    <a:pt x="1027719" y="474962"/>
                  </a:lnTo>
                  <a:cubicBezTo>
                    <a:pt x="1027719" y="483986"/>
                    <a:pt x="1020404" y="491301"/>
                    <a:pt x="1011380" y="491301"/>
                  </a:cubicBezTo>
                  <a:lnTo>
                    <a:pt x="16339" y="491301"/>
                  </a:lnTo>
                  <a:cubicBezTo>
                    <a:pt x="12006" y="491301"/>
                    <a:pt x="7850" y="489580"/>
                    <a:pt x="4786" y="486516"/>
                  </a:cubicBezTo>
                  <a:cubicBezTo>
                    <a:pt x="1721" y="483451"/>
                    <a:pt x="0" y="479296"/>
                    <a:pt x="0" y="474962"/>
                  </a:cubicBezTo>
                  <a:lnTo>
                    <a:pt x="0" y="16339"/>
                  </a:lnTo>
                  <a:cubicBezTo>
                    <a:pt x="0" y="12006"/>
                    <a:pt x="1721" y="7850"/>
                    <a:pt x="4786" y="4786"/>
                  </a:cubicBezTo>
                  <a:cubicBezTo>
                    <a:pt x="7850" y="1721"/>
                    <a:pt x="12006" y="0"/>
                    <a:pt x="16339" y="0"/>
                  </a:cubicBezTo>
                  <a:close/>
                </a:path>
              </a:pathLst>
            </a:custGeom>
            <a:blipFill>
              <a:blip r:embed="rId2"/>
              <a:stretch>
                <a:fillRect l="0" t="-19791" r="0" b="-19791"/>
              </a:stretch>
            </a:blipFill>
          </p:spPr>
        </p:sp>
      </p:grpSp>
      <p:sp>
        <p:nvSpPr>
          <p:cNvPr name="TextBox 19" id="19"/>
          <p:cNvSpPr txBox="true"/>
          <p:nvPr/>
        </p:nvSpPr>
        <p:spPr>
          <a:xfrm rot="0">
            <a:off x="1028700" y="2453755"/>
            <a:ext cx="921599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Table of Content</a:t>
            </a:r>
          </a:p>
        </p:txBody>
      </p:sp>
      <p:grpSp>
        <p:nvGrpSpPr>
          <p:cNvPr name="Group 20" id="20"/>
          <p:cNvGrpSpPr/>
          <p:nvPr/>
        </p:nvGrpSpPr>
        <p:grpSpPr>
          <a:xfrm rot="0">
            <a:off x="1708256" y="4447546"/>
            <a:ext cx="3928440" cy="2009215"/>
            <a:chOff x="0" y="0"/>
            <a:chExt cx="5237921" cy="2678953"/>
          </a:xfrm>
        </p:grpSpPr>
        <p:grpSp>
          <p:nvGrpSpPr>
            <p:cNvPr name="Group 21" id="21"/>
            <p:cNvGrpSpPr/>
            <p:nvPr/>
          </p:nvGrpSpPr>
          <p:grpSpPr>
            <a:xfrm rot="0">
              <a:off x="0" y="0"/>
              <a:ext cx="5237921" cy="2678953"/>
              <a:chOff x="0" y="0"/>
              <a:chExt cx="1034651" cy="529176"/>
            </a:xfrm>
          </p:grpSpPr>
          <p:sp>
            <p:nvSpPr>
              <p:cNvPr name="Freeform 22" id="22"/>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BFD9F9"/>
              </a:solidFill>
            </p:spPr>
          </p:sp>
          <p:sp>
            <p:nvSpPr>
              <p:cNvPr name="TextBox 23" id="23"/>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sp>
          <p:nvSpPr>
            <p:cNvPr name="TextBox 24" id="24"/>
            <p:cNvSpPr txBox="true"/>
            <p:nvPr/>
          </p:nvSpPr>
          <p:spPr>
            <a:xfrm rot="0">
              <a:off x="564672" y="796168"/>
              <a:ext cx="4140922" cy="1115193"/>
            </a:xfrm>
            <a:prstGeom prst="rect">
              <a:avLst/>
            </a:prstGeom>
          </p:spPr>
          <p:txBody>
            <a:bodyPr anchor="t" rtlCol="false" tIns="0" lIns="0" bIns="0" rIns="0">
              <a:spAutoFit/>
            </a:bodyPr>
            <a:lstStyle/>
            <a:p>
              <a:pPr algn="ctr">
                <a:lnSpc>
                  <a:spcPts val="3050"/>
                </a:lnSpc>
              </a:pPr>
              <a:r>
                <a:rPr lang="en-US" b="true" sz="3112">
                  <a:solidFill>
                    <a:srgbClr val="000000"/>
                  </a:solidFill>
                  <a:latin typeface="Poppins Semi-Bold"/>
                  <a:ea typeface="Poppins Semi-Bold"/>
                  <a:cs typeface="Poppins Semi-Bold"/>
                  <a:sym typeface="Poppins Semi-Bold"/>
                </a:rPr>
                <a:t>Project Background</a:t>
              </a:r>
            </a:p>
          </p:txBody>
        </p:sp>
      </p:grpSp>
      <p:grpSp>
        <p:nvGrpSpPr>
          <p:cNvPr name="Group 25" id="25"/>
          <p:cNvGrpSpPr/>
          <p:nvPr/>
        </p:nvGrpSpPr>
        <p:grpSpPr>
          <a:xfrm rot="0">
            <a:off x="7517900" y="4447546"/>
            <a:ext cx="3928440" cy="2009215"/>
            <a:chOff x="0" y="0"/>
            <a:chExt cx="5237921" cy="2678953"/>
          </a:xfrm>
        </p:grpSpPr>
        <p:grpSp>
          <p:nvGrpSpPr>
            <p:cNvPr name="Group 26" id="26"/>
            <p:cNvGrpSpPr/>
            <p:nvPr/>
          </p:nvGrpSpPr>
          <p:grpSpPr>
            <a:xfrm rot="0">
              <a:off x="0" y="0"/>
              <a:ext cx="5237921" cy="2678953"/>
              <a:chOff x="0" y="0"/>
              <a:chExt cx="1034651" cy="529176"/>
            </a:xfrm>
          </p:grpSpPr>
          <p:sp>
            <p:nvSpPr>
              <p:cNvPr name="Freeform 27" id="27"/>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BFD9F9"/>
              </a:solidFill>
            </p:spPr>
          </p:sp>
          <p:sp>
            <p:nvSpPr>
              <p:cNvPr name="TextBox 28" id="28"/>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sp>
          <p:nvSpPr>
            <p:cNvPr name="TextBox 29" id="29"/>
            <p:cNvSpPr txBox="true"/>
            <p:nvPr/>
          </p:nvSpPr>
          <p:spPr>
            <a:xfrm rot="0">
              <a:off x="537431" y="796168"/>
              <a:ext cx="4140922" cy="1115193"/>
            </a:xfrm>
            <a:prstGeom prst="rect">
              <a:avLst/>
            </a:prstGeom>
          </p:spPr>
          <p:txBody>
            <a:bodyPr anchor="t" rtlCol="false" tIns="0" lIns="0" bIns="0" rIns="0">
              <a:spAutoFit/>
            </a:bodyPr>
            <a:lstStyle/>
            <a:p>
              <a:pPr algn="ctr">
                <a:lnSpc>
                  <a:spcPts val="3050"/>
                </a:lnSpc>
              </a:pPr>
              <a:r>
                <a:rPr lang="en-US" sz="3112" b="true">
                  <a:solidFill>
                    <a:srgbClr val="000000"/>
                  </a:solidFill>
                  <a:latin typeface="Poppins Semi-Bold"/>
                  <a:ea typeface="Poppins Semi-Bold"/>
                  <a:cs typeface="Poppins Semi-Bold"/>
                  <a:sym typeface="Poppins Semi-Bold"/>
                </a:rPr>
                <a:t>Data</a:t>
              </a:r>
            </a:p>
            <a:p>
              <a:pPr algn="ctr">
                <a:lnSpc>
                  <a:spcPts val="3050"/>
                </a:lnSpc>
              </a:pPr>
              <a:r>
                <a:rPr lang="en-US" sz="3112" b="true">
                  <a:solidFill>
                    <a:srgbClr val="000000"/>
                  </a:solidFill>
                  <a:latin typeface="Poppins Semi-Bold"/>
                  <a:ea typeface="Poppins Semi-Bold"/>
                  <a:cs typeface="Poppins Semi-Bold"/>
                  <a:sym typeface="Poppins Semi-Bold"/>
                </a:rPr>
                <a:t>Understanding</a:t>
              </a:r>
            </a:p>
          </p:txBody>
        </p:sp>
      </p:grpSp>
      <p:grpSp>
        <p:nvGrpSpPr>
          <p:cNvPr name="Group 30" id="30"/>
          <p:cNvGrpSpPr/>
          <p:nvPr/>
        </p:nvGrpSpPr>
        <p:grpSpPr>
          <a:xfrm rot="0">
            <a:off x="13328789" y="4447546"/>
            <a:ext cx="3928440" cy="2009215"/>
            <a:chOff x="0" y="0"/>
            <a:chExt cx="5237921" cy="2678953"/>
          </a:xfrm>
        </p:grpSpPr>
        <p:grpSp>
          <p:nvGrpSpPr>
            <p:cNvPr name="Group 31" id="31"/>
            <p:cNvGrpSpPr/>
            <p:nvPr/>
          </p:nvGrpSpPr>
          <p:grpSpPr>
            <a:xfrm rot="0">
              <a:off x="0" y="0"/>
              <a:ext cx="5237921" cy="2678953"/>
              <a:chOff x="0" y="0"/>
              <a:chExt cx="1034651" cy="529176"/>
            </a:xfrm>
          </p:grpSpPr>
          <p:sp>
            <p:nvSpPr>
              <p:cNvPr name="Freeform 32" id="32"/>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BFD9F9"/>
              </a:solidFill>
            </p:spPr>
          </p:sp>
          <p:sp>
            <p:nvSpPr>
              <p:cNvPr name="TextBox 33" id="33"/>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508531" y="796168"/>
              <a:ext cx="4140922" cy="1115193"/>
            </a:xfrm>
            <a:prstGeom prst="rect">
              <a:avLst/>
            </a:prstGeom>
          </p:spPr>
          <p:txBody>
            <a:bodyPr anchor="t" rtlCol="false" tIns="0" lIns="0" bIns="0" rIns="0">
              <a:spAutoFit/>
            </a:bodyPr>
            <a:lstStyle/>
            <a:p>
              <a:pPr algn="ctr">
                <a:lnSpc>
                  <a:spcPts val="3050"/>
                </a:lnSpc>
              </a:pPr>
              <a:r>
                <a:rPr lang="en-US" sz="3112" b="true">
                  <a:solidFill>
                    <a:srgbClr val="000000"/>
                  </a:solidFill>
                  <a:latin typeface="Poppins Semi-Bold"/>
                  <a:ea typeface="Poppins Semi-Bold"/>
                  <a:cs typeface="Poppins Semi-Bold"/>
                  <a:sym typeface="Poppins Semi-Bold"/>
                </a:rPr>
                <a:t>Validate </a:t>
              </a:r>
            </a:p>
            <a:p>
              <a:pPr algn="ctr">
                <a:lnSpc>
                  <a:spcPts val="3050"/>
                </a:lnSpc>
              </a:pPr>
              <a:r>
                <a:rPr lang="en-US" sz="3112" b="true">
                  <a:solidFill>
                    <a:srgbClr val="000000"/>
                  </a:solidFill>
                  <a:latin typeface="Poppins Semi-Bold"/>
                  <a:ea typeface="Poppins Semi-Bold"/>
                  <a:cs typeface="Poppins Semi-Bold"/>
                  <a:sym typeface="Poppins Semi-Bold"/>
                </a:rPr>
                <a:t>the Data</a:t>
              </a:r>
            </a:p>
          </p:txBody>
        </p:sp>
      </p:grpSp>
      <p:grpSp>
        <p:nvGrpSpPr>
          <p:cNvPr name="Group 35" id="35"/>
          <p:cNvGrpSpPr/>
          <p:nvPr/>
        </p:nvGrpSpPr>
        <p:grpSpPr>
          <a:xfrm rot="0">
            <a:off x="1708256" y="6706187"/>
            <a:ext cx="3928440" cy="2552113"/>
            <a:chOff x="0" y="0"/>
            <a:chExt cx="5237921" cy="3402817"/>
          </a:xfrm>
        </p:grpSpPr>
        <p:grpSp>
          <p:nvGrpSpPr>
            <p:cNvPr name="Group 36" id="36"/>
            <p:cNvGrpSpPr/>
            <p:nvPr/>
          </p:nvGrpSpPr>
          <p:grpSpPr>
            <a:xfrm rot="0">
              <a:off x="0" y="0"/>
              <a:ext cx="5237921" cy="3402817"/>
              <a:chOff x="0" y="0"/>
              <a:chExt cx="1034651" cy="672161"/>
            </a:xfrm>
          </p:grpSpPr>
          <p:sp>
            <p:nvSpPr>
              <p:cNvPr name="Freeform 37" id="37"/>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38" id="38"/>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sp>
          <p:nvSpPr>
            <p:cNvPr name="TextBox 39" id="39"/>
            <p:cNvSpPr txBox="true"/>
            <p:nvPr/>
          </p:nvSpPr>
          <p:spPr>
            <a:xfrm rot="0">
              <a:off x="548499" y="1158100"/>
              <a:ext cx="4140922" cy="1115193"/>
            </a:xfrm>
            <a:prstGeom prst="rect">
              <a:avLst/>
            </a:prstGeom>
          </p:spPr>
          <p:txBody>
            <a:bodyPr anchor="t" rtlCol="false" tIns="0" lIns="0" bIns="0" rIns="0">
              <a:spAutoFit/>
            </a:bodyPr>
            <a:lstStyle/>
            <a:p>
              <a:pPr algn="ctr">
                <a:lnSpc>
                  <a:spcPts val="3050"/>
                </a:lnSpc>
              </a:pPr>
              <a:r>
                <a:rPr lang="en-US" sz="3112" b="true">
                  <a:solidFill>
                    <a:srgbClr val="F4F9FD"/>
                  </a:solidFill>
                  <a:latin typeface="Poppins Semi-Bold"/>
                  <a:ea typeface="Poppins Semi-Bold"/>
                  <a:cs typeface="Poppins Semi-Bold"/>
                  <a:sym typeface="Poppins Semi-Bold"/>
                </a:rPr>
                <a:t>Business Case</a:t>
              </a:r>
            </a:p>
            <a:p>
              <a:pPr algn="ctr">
                <a:lnSpc>
                  <a:spcPts val="3050"/>
                </a:lnSpc>
              </a:pPr>
              <a:r>
                <a:rPr lang="en-US" sz="3112" b="true">
                  <a:solidFill>
                    <a:srgbClr val="F4F9FD"/>
                  </a:solidFill>
                  <a:latin typeface="Poppins Semi-Bold"/>
                  <a:ea typeface="Poppins Semi-Bold"/>
                  <a:cs typeface="Poppins Semi-Bold"/>
                  <a:sym typeface="Poppins Semi-Bold"/>
                </a:rPr>
                <a:t>Overview</a:t>
              </a:r>
            </a:p>
          </p:txBody>
        </p:sp>
      </p:grpSp>
      <p:sp>
        <p:nvSpPr>
          <p:cNvPr name="TextBox 40" id="40"/>
          <p:cNvSpPr txBox="true"/>
          <p:nvPr/>
        </p:nvSpPr>
        <p:spPr>
          <a:xfrm rot="0">
            <a:off x="1452204" y="10111996"/>
            <a:ext cx="3105692" cy="829251"/>
          </a:xfrm>
          <a:prstGeom prst="rect">
            <a:avLst/>
          </a:prstGeom>
        </p:spPr>
        <p:txBody>
          <a:bodyPr anchor="t" rtlCol="false" tIns="0" lIns="0" bIns="0" rIns="0">
            <a:spAutoFit/>
          </a:bodyPr>
          <a:lstStyle/>
          <a:p>
            <a:pPr algn="ctr">
              <a:lnSpc>
                <a:spcPts val="3050"/>
              </a:lnSpc>
            </a:pPr>
            <a:r>
              <a:rPr lang="en-US" sz="3112" b="true">
                <a:solidFill>
                  <a:srgbClr val="F4F9FD"/>
                </a:solidFill>
                <a:latin typeface="Poppins Semi-Bold"/>
                <a:ea typeface="Poppins Semi-Bold"/>
                <a:cs typeface="Poppins Semi-Bold"/>
                <a:sym typeface="Poppins Semi-Bold"/>
              </a:rPr>
              <a:t>Business Case</a:t>
            </a:r>
          </a:p>
          <a:p>
            <a:pPr algn="ctr">
              <a:lnSpc>
                <a:spcPts val="3050"/>
              </a:lnSpc>
            </a:pPr>
            <a:r>
              <a:rPr lang="en-US" sz="3112" b="true">
                <a:solidFill>
                  <a:srgbClr val="F4F9FD"/>
                </a:solidFill>
                <a:latin typeface="Poppins Semi-Bold"/>
                <a:ea typeface="Poppins Semi-Bold"/>
                <a:cs typeface="Poppins Semi-Bold"/>
                <a:sym typeface="Poppins Semi-Bold"/>
              </a:rPr>
              <a:t>Overview</a:t>
            </a:r>
          </a:p>
        </p:txBody>
      </p:sp>
      <p:grpSp>
        <p:nvGrpSpPr>
          <p:cNvPr name="Group 41" id="41"/>
          <p:cNvGrpSpPr/>
          <p:nvPr/>
        </p:nvGrpSpPr>
        <p:grpSpPr>
          <a:xfrm rot="0">
            <a:off x="7517900" y="6706187"/>
            <a:ext cx="3928440" cy="2552113"/>
            <a:chOff x="0" y="0"/>
            <a:chExt cx="5237921" cy="3402817"/>
          </a:xfrm>
        </p:grpSpPr>
        <p:grpSp>
          <p:nvGrpSpPr>
            <p:cNvPr name="Group 42" id="42"/>
            <p:cNvGrpSpPr/>
            <p:nvPr/>
          </p:nvGrpSpPr>
          <p:grpSpPr>
            <a:xfrm rot="0">
              <a:off x="0" y="0"/>
              <a:ext cx="5237921" cy="3402817"/>
              <a:chOff x="0" y="0"/>
              <a:chExt cx="1034651" cy="672161"/>
            </a:xfrm>
          </p:grpSpPr>
          <p:sp>
            <p:nvSpPr>
              <p:cNvPr name="Freeform 43" id="43"/>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44" id="44"/>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sp>
          <p:nvSpPr>
            <p:cNvPr name="TextBox 45" id="45"/>
            <p:cNvSpPr txBox="true"/>
            <p:nvPr/>
          </p:nvSpPr>
          <p:spPr>
            <a:xfrm rot="0">
              <a:off x="563598" y="1158100"/>
              <a:ext cx="4140922" cy="1115193"/>
            </a:xfrm>
            <a:prstGeom prst="rect">
              <a:avLst/>
            </a:prstGeom>
          </p:spPr>
          <p:txBody>
            <a:bodyPr anchor="t" rtlCol="false" tIns="0" lIns="0" bIns="0" rIns="0">
              <a:spAutoFit/>
            </a:bodyPr>
            <a:lstStyle/>
            <a:p>
              <a:pPr algn="ctr">
                <a:lnSpc>
                  <a:spcPts val="3050"/>
                </a:lnSpc>
              </a:pPr>
              <a:r>
                <a:rPr lang="en-US" sz="3112" b="true">
                  <a:solidFill>
                    <a:srgbClr val="F4F9FD"/>
                  </a:solidFill>
                  <a:latin typeface="Poppins Semi-Bold"/>
                  <a:ea typeface="Poppins Semi-Bold"/>
                  <a:cs typeface="Poppins Semi-Bold"/>
                  <a:sym typeface="Poppins Semi-Bold"/>
                </a:rPr>
                <a:t>C</a:t>
              </a:r>
              <a:r>
                <a:rPr lang="en-US" sz="3112" b="true">
                  <a:solidFill>
                    <a:srgbClr val="F4F9FD"/>
                  </a:solidFill>
                  <a:latin typeface="Poppins Semi-Bold"/>
                  <a:ea typeface="Poppins Semi-Bold"/>
                  <a:cs typeface="Poppins Semi-Bold"/>
                  <a:sym typeface="Poppins Semi-Bold"/>
                </a:rPr>
                <a:t>ase</a:t>
              </a:r>
            </a:p>
            <a:p>
              <a:pPr algn="ctr">
                <a:lnSpc>
                  <a:spcPts val="3050"/>
                </a:lnSpc>
              </a:pPr>
              <a:r>
                <a:rPr lang="en-US" sz="3112" b="true">
                  <a:solidFill>
                    <a:srgbClr val="F4F9FD"/>
                  </a:solidFill>
                  <a:latin typeface="Poppins Semi-Bold"/>
                  <a:ea typeface="Poppins Semi-Bold"/>
                  <a:cs typeface="Poppins Semi-Bold"/>
                  <a:sym typeface="Poppins Semi-Bold"/>
                </a:rPr>
                <a:t>Analysis</a:t>
              </a:r>
            </a:p>
          </p:txBody>
        </p:sp>
      </p:grpSp>
      <p:grpSp>
        <p:nvGrpSpPr>
          <p:cNvPr name="Group 46" id="46"/>
          <p:cNvGrpSpPr/>
          <p:nvPr/>
        </p:nvGrpSpPr>
        <p:grpSpPr>
          <a:xfrm rot="0">
            <a:off x="13327545" y="6706187"/>
            <a:ext cx="3928440" cy="2552113"/>
            <a:chOff x="0" y="0"/>
            <a:chExt cx="5237921" cy="3402817"/>
          </a:xfrm>
        </p:grpSpPr>
        <p:grpSp>
          <p:nvGrpSpPr>
            <p:cNvPr name="Group 47" id="47"/>
            <p:cNvGrpSpPr/>
            <p:nvPr/>
          </p:nvGrpSpPr>
          <p:grpSpPr>
            <a:xfrm rot="0">
              <a:off x="0" y="0"/>
              <a:ext cx="5237921" cy="3402817"/>
              <a:chOff x="0" y="0"/>
              <a:chExt cx="1034651" cy="672161"/>
            </a:xfrm>
          </p:grpSpPr>
          <p:sp>
            <p:nvSpPr>
              <p:cNvPr name="Freeform 48" id="48"/>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49" id="49"/>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sp>
          <p:nvSpPr>
            <p:cNvPr name="TextBox 50" id="50"/>
            <p:cNvSpPr txBox="true"/>
            <p:nvPr/>
          </p:nvSpPr>
          <p:spPr>
            <a:xfrm rot="0">
              <a:off x="578697" y="1158100"/>
              <a:ext cx="4140922" cy="1115193"/>
            </a:xfrm>
            <a:prstGeom prst="rect">
              <a:avLst/>
            </a:prstGeom>
          </p:spPr>
          <p:txBody>
            <a:bodyPr anchor="t" rtlCol="false" tIns="0" lIns="0" bIns="0" rIns="0">
              <a:spAutoFit/>
            </a:bodyPr>
            <a:lstStyle/>
            <a:p>
              <a:pPr algn="ctr">
                <a:lnSpc>
                  <a:spcPts val="3050"/>
                </a:lnSpc>
              </a:pPr>
              <a:r>
                <a:rPr lang="en-US" sz="3112" b="true">
                  <a:solidFill>
                    <a:srgbClr val="F4F9FD"/>
                  </a:solidFill>
                  <a:latin typeface="Poppins Semi-Bold"/>
                  <a:ea typeface="Poppins Semi-Bold"/>
                  <a:cs typeface="Poppins Semi-Bold"/>
                  <a:sym typeface="Poppins Semi-Bold"/>
                </a:rPr>
                <a:t>Executive</a:t>
              </a:r>
            </a:p>
            <a:p>
              <a:pPr algn="ctr">
                <a:lnSpc>
                  <a:spcPts val="3050"/>
                </a:lnSpc>
              </a:pPr>
              <a:r>
                <a:rPr lang="en-US" sz="3112" b="true">
                  <a:solidFill>
                    <a:srgbClr val="F4F9FD"/>
                  </a:solidFill>
                  <a:latin typeface="Poppins Semi-Bold"/>
                  <a:ea typeface="Poppins Semi-Bold"/>
                  <a:cs typeface="Poppins Semi-Bold"/>
                  <a:sym typeface="Poppins Semi-Bold"/>
                </a:rPr>
                <a:t>Summary</a:t>
              </a:r>
            </a:p>
          </p:txBody>
        </p:sp>
      </p:grpSp>
      <p:grpSp>
        <p:nvGrpSpPr>
          <p:cNvPr name="Group 51" id="51"/>
          <p:cNvGrpSpPr/>
          <p:nvPr/>
        </p:nvGrpSpPr>
        <p:grpSpPr>
          <a:xfrm rot="0">
            <a:off x="1028700" y="1028700"/>
            <a:ext cx="6872523" cy="897456"/>
            <a:chOff x="0" y="0"/>
            <a:chExt cx="9163364" cy="1196608"/>
          </a:xfrm>
        </p:grpSpPr>
        <p:sp>
          <p:nvSpPr>
            <p:cNvPr name="Freeform 52" id="52"/>
            <p:cNvSpPr/>
            <p:nvPr/>
          </p:nvSpPr>
          <p:spPr>
            <a:xfrm flipH="false" flipV="false" rot="0">
              <a:off x="0" y="67265"/>
              <a:ext cx="1129344" cy="1129344"/>
            </a:xfrm>
            <a:custGeom>
              <a:avLst/>
              <a:gdLst/>
              <a:ahLst/>
              <a:cxnLst/>
              <a:rect r="r" b="b" t="t" l="l"/>
              <a:pathLst>
                <a:path h="1129344" w="1129344">
                  <a:moveTo>
                    <a:pt x="0" y="0"/>
                  </a:moveTo>
                  <a:lnTo>
                    <a:pt x="1129344" y="0"/>
                  </a:lnTo>
                  <a:lnTo>
                    <a:pt x="1129344" y="1129343"/>
                  </a:lnTo>
                  <a:lnTo>
                    <a:pt x="0" y="11293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3" id="53"/>
            <p:cNvSpPr txBox="true"/>
            <p:nvPr/>
          </p:nvSpPr>
          <p:spPr>
            <a:xfrm rot="0">
              <a:off x="1636001" y="-47625"/>
              <a:ext cx="5301642" cy="54715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MySkill</a:t>
              </a:r>
            </a:p>
          </p:txBody>
        </p:sp>
        <p:sp>
          <p:nvSpPr>
            <p:cNvPr name="TextBox 54" id="54"/>
            <p:cNvSpPr txBox="true"/>
            <p:nvPr/>
          </p:nvSpPr>
          <p:spPr>
            <a:xfrm rot="0">
              <a:off x="1636001" y="451908"/>
              <a:ext cx="7527362" cy="54715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Final Project Data Analyst Batch 29</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1468587" y="5476875"/>
          <a:ext cx="5657850" cy="3914775"/>
        </p:xfrm>
        <a:graphic>
          <a:graphicData uri="http://schemas.openxmlformats.org/presentationml/2006/ole">
            <p:oleObj imgW="6781800" imgH="5041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6915863" y="1116329"/>
            <a:ext cx="10343437"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Project Background</a:t>
            </a:r>
          </a:p>
        </p:txBody>
      </p:sp>
      <p:sp>
        <p:nvSpPr>
          <p:cNvPr name="TextBox 7" id="7"/>
          <p:cNvSpPr txBox="true"/>
          <p:nvPr/>
        </p:nvSpPr>
        <p:spPr>
          <a:xfrm rot="0">
            <a:off x="1468587" y="2530475"/>
            <a:ext cx="15350825" cy="2613025"/>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Tokopaedi adalah platform e-commerce yang datanya merekam seluruh perjalanan pelanggan — mulai</a:t>
            </a:r>
            <a:r>
              <a:rPr lang="en-US" sz="2499">
                <a:solidFill>
                  <a:srgbClr val="1E293B"/>
                </a:solidFill>
                <a:latin typeface="Open Sans"/>
                <a:ea typeface="Open Sans"/>
                <a:cs typeface="Open Sans"/>
                <a:sym typeface="Open Sans"/>
              </a:rPr>
              <a:t> dari funnel masuk (organic maupun paid), proses order, pembayaran, hingga transaksi final. Menjelang tutup tahun 2024, dalam rentang waktu yang hampir bersamaan (31 Desember 2024), lima fungsi bisnis yang berbeda mengirimkan permintaan data secara terpisah ke Tim Data — masing-masing dengan kepentingan dan tenggat waktu sendiri: </a:t>
            </a:r>
          </a:p>
          <a:p>
            <a:pPr algn="l">
              <a:lnSpc>
                <a:spcPts val="3499"/>
              </a:lnSpc>
            </a:pPr>
          </a:p>
        </p:txBody>
      </p:sp>
      <p:sp>
        <p:nvSpPr>
          <p:cNvPr name="Freeform 8" id="8"/>
          <p:cNvSpPr/>
          <p:nvPr/>
        </p:nvSpPr>
        <p:spPr>
          <a:xfrm flipH="false" flipV="false" rot="-10800000">
            <a:off x="1028700" y="0"/>
            <a:ext cx="4672899" cy="2336449"/>
          </a:xfrm>
          <a:custGeom>
            <a:avLst/>
            <a:gdLst/>
            <a:ahLst/>
            <a:cxnLst/>
            <a:rect r="r" b="b" t="t" l="l"/>
            <a:pathLst>
              <a:path h="2336449" w="4672899">
                <a:moveTo>
                  <a:pt x="0" y="0"/>
                </a:moveTo>
                <a:lnTo>
                  <a:pt x="4672899" y="0"/>
                </a:lnTo>
                <a:lnTo>
                  <a:pt x="4672899" y="2336449"/>
                </a:lnTo>
                <a:lnTo>
                  <a:pt x="0" y="2336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737635" y="-2719239"/>
            <a:ext cx="4963964" cy="496396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51147" y="-4310188"/>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28700" y="3867444"/>
            <a:ext cx="16446115" cy="2552113"/>
            <a:chOff x="0" y="0"/>
            <a:chExt cx="21928154" cy="3402817"/>
          </a:xfrm>
        </p:grpSpPr>
        <p:grpSp>
          <p:nvGrpSpPr>
            <p:cNvPr name="Group 9" id="9"/>
            <p:cNvGrpSpPr/>
            <p:nvPr/>
          </p:nvGrpSpPr>
          <p:grpSpPr>
            <a:xfrm rot="0">
              <a:off x="0" y="0"/>
              <a:ext cx="21078643" cy="3402817"/>
              <a:chOff x="0" y="0"/>
              <a:chExt cx="4163683" cy="672161"/>
            </a:xfrm>
          </p:grpSpPr>
          <p:sp>
            <p:nvSpPr>
              <p:cNvPr name="Freeform 10" id="10"/>
              <p:cNvSpPr/>
              <p:nvPr/>
            </p:nvSpPr>
            <p:spPr>
              <a:xfrm flipH="false" flipV="false" rot="0">
                <a:off x="0" y="0"/>
                <a:ext cx="4163683" cy="672161"/>
              </a:xfrm>
              <a:custGeom>
                <a:avLst/>
                <a:gdLst/>
                <a:ahLst/>
                <a:cxnLst/>
                <a:rect r="r" b="b" t="t" l="l"/>
                <a:pathLst>
                  <a:path h="672161" w="4163683">
                    <a:moveTo>
                      <a:pt x="7346" y="0"/>
                    </a:moveTo>
                    <a:lnTo>
                      <a:pt x="4156337" y="0"/>
                    </a:lnTo>
                    <a:cubicBezTo>
                      <a:pt x="4158285" y="0"/>
                      <a:pt x="4160153" y="774"/>
                      <a:pt x="4161531" y="2152"/>
                    </a:cubicBezTo>
                    <a:cubicBezTo>
                      <a:pt x="4162909" y="3529"/>
                      <a:pt x="4163683" y="5398"/>
                      <a:pt x="4163683" y="7346"/>
                    </a:cubicBezTo>
                    <a:lnTo>
                      <a:pt x="4163683" y="664816"/>
                    </a:lnTo>
                    <a:cubicBezTo>
                      <a:pt x="4163683" y="666764"/>
                      <a:pt x="4162909" y="668632"/>
                      <a:pt x="4161531" y="670010"/>
                    </a:cubicBezTo>
                    <a:cubicBezTo>
                      <a:pt x="4160153" y="671387"/>
                      <a:pt x="4158285" y="672161"/>
                      <a:pt x="4156337" y="672161"/>
                    </a:cubicBezTo>
                    <a:lnTo>
                      <a:pt x="7346" y="672161"/>
                    </a:lnTo>
                    <a:cubicBezTo>
                      <a:pt x="5398" y="672161"/>
                      <a:pt x="3529" y="671387"/>
                      <a:pt x="2152" y="670010"/>
                    </a:cubicBezTo>
                    <a:cubicBezTo>
                      <a:pt x="774" y="668632"/>
                      <a:pt x="0" y="666764"/>
                      <a:pt x="0" y="664816"/>
                    </a:cubicBezTo>
                    <a:lnTo>
                      <a:pt x="0" y="7346"/>
                    </a:lnTo>
                    <a:cubicBezTo>
                      <a:pt x="0" y="5398"/>
                      <a:pt x="774" y="3529"/>
                      <a:pt x="2152" y="2152"/>
                    </a:cubicBezTo>
                    <a:cubicBezTo>
                      <a:pt x="3529" y="774"/>
                      <a:pt x="5398" y="0"/>
                      <a:pt x="7346" y="0"/>
                    </a:cubicBezTo>
                    <a:close/>
                  </a:path>
                </a:pathLst>
              </a:custGeom>
              <a:solidFill>
                <a:srgbClr val="BFD9F9"/>
              </a:solidFill>
            </p:spPr>
          </p:sp>
          <p:sp>
            <p:nvSpPr>
              <p:cNvPr name="TextBox 11" id="11"/>
              <p:cNvSpPr txBox="true"/>
              <p:nvPr/>
            </p:nvSpPr>
            <p:spPr>
              <a:xfrm>
                <a:off x="0" y="-47625"/>
                <a:ext cx="4163683" cy="719786"/>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20229133" y="1399942"/>
              <a:ext cx="1699021" cy="602933"/>
              <a:chOff x="0" y="0"/>
              <a:chExt cx="1467295" cy="520700"/>
            </a:xfrm>
          </p:grpSpPr>
          <p:sp>
            <p:nvSpPr>
              <p:cNvPr name="Freeform 13" id="13"/>
              <p:cNvSpPr/>
              <p:nvPr/>
            </p:nvSpPr>
            <p:spPr>
              <a:xfrm flipH="false" flipV="false" rot="0">
                <a:off x="0" y="0"/>
                <a:ext cx="1467295" cy="520700"/>
              </a:xfrm>
              <a:custGeom>
                <a:avLst/>
                <a:gdLst/>
                <a:ahLst/>
                <a:cxnLst/>
                <a:rect r="r" b="b" t="t" l="l"/>
                <a:pathLst>
                  <a:path h="520700" w="1467295">
                    <a:moveTo>
                      <a:pt x="733648" y="0"/>
                    </a:moveTo>
                    <a:lnTo>
                      <a:pt x="1467295" y="260350"/>
                    </a:lnTo>
                    <a:lnTo>
                      <a:pt x="733648" y="520700"/>
                    </a:lnTo>
                    <a:lnTo>
                      <a:pt x="0" y="260350"/>
                    </a:lnTo>
                    <a:lnTo>
                      <a:pt x="733648" y="0"/>
                    </a:lnTo>
                    <a:close/>
                  </a:path>
                </a:pathLst>
              </a:custGeom>
              <a:solidFill>
                <a:srgbClr val="BFD9F9"/>
              </a:solidFill>
            </p:spPr>
          </p:sp>
          <p:sp>
            <p:nvSpPr>
              <p:cNvPr name="TextBox 14" id="14"/>
              <p:cNvSpPr txBox="true"/>
              <p:nvPr/>
            </p:nvSpPr>
            <p:spPr>
              <a:xfrm>
                <a:off x="345246" y="66675"/>
                <a:ext cx="776803" cy="339725"/>
              </a:xfrm>
              <a:prstGeom prst="rect">
                <a:avLst/>
              </a:prstGeom>
            </p:spPr>
            <p:txBody>
              <a:bodyPr anchor="ctr" rtlCol="false" tIns="50800" lIns="50800" bIns="50800" rIns="50800"/>
              <a:lstStyle/>
              <a:p>
                <a:pPr algn="ctr">
                  <a:lnSpc>
                    <a:spcPts val="3499"/>
                  </a:lnSpc>
                </a:pPr>
              </a:p>
            </p:txBody>
          </p:sp>
        </p:grpSp>
      </p:grpSp>
      <p:sp>
        <p:nvSpPr>
          <p:cNvPr name="TextBox 15" id="15"/>
          <p:cNvSpPr txBox="true"/>
          <p:nvPr/>
        </p:nvSpPr>
        <p:spPr>
          <a:xfrm rot="0">
            <a:off x="1183955" y="4393173"/>
            <a:ext cx="15653727" cy="1736725"/>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M</a:t>
            </a:r>
            <a:r>
              <a:rPr lang="en-US" sz="2499">
                <a:solidFill>
                  <a:srgbClr val="1E293B"/>
                </a:solidFill>
                <a:latin typeface="Open Sans"/>
                <a:ea typeface="Open Sans"/>
                <a:cs typeface="Open Sans"/>
                <a:sym typeface="Open Sans"/>
              </a:rPr>
              <a:t>enjawab lima permintaan bisnis tersebut secara akurat dan tepat waktu, sekaligus mendemonstrasikan kemamp</a:t>
            </a:r>
            <a:r>
              <a:rPr lang="en-US" sz="2499">
                <a:solidFill>
                  <a:srgbClr val="1E293B"/>
                </a:solidFill>
                <a:latin typeface="Open Sans"/>
                <a:ea typeface="Open Sans"/>
                <a:cs typeface="Open Sans"/>
                <a:sym typeface="Open Sans"/>
              </a:rPr>
              <a:t>uan menerjemahkan bahasa bisnis (memo/email) menjadi query SQL yang tepat — termasuk memilih tabel yang relevan, teknik agregasi yang sesuai, dan menghindari jebakan umum (double-counting, retur yang belum di-exclude, division by zero pada perhitungan rasio).</a:t>
            </a:r>
          </a:p>
        </p:txBody>
      </p:sp>
      <p:grpSp>
        <p:nvGrpSpPr>
          <p:cNvPr name="Group 16" id="16"/>
          <p:cNvGrpSpPr/>
          <p:nvPr/>
        </p:nvGrpSpPr>
        <p:grpSpPr>
          <a:xfrm rot="0">
            <a:off x="1028700" y="7151803"/>
            <a:ext cx="15808982" cy="2552113"/>
            <a:chOff x="0" y="0"/>
            <a:chExt cx="4163683" cy="672161"/>
          </a:xfrm>
        </p:grpSpPr>
        <p:sp>
          <p:nvSpPr>
            <p:cNvPr name="Freeform 17" id="17"/>
            <p:cNvSpPr/>
            <p:nvPr/>
          </p:nvSpPr>
          <p:spPr>
            <a:xfrm flipH="false" flipV="false" rot="0">
              <a:off x="0" y="0"/>
              <a:ext cx="4163683" cy="672161"/>
            </a:xfrm>
            <a:custGeom>
              <a:avLst/>
              <a:gdLst/>
              <a:ahLst/>
              <a:cxnLst/>
              <a:rect r="r" b="b" t="t" l="l"/>
              <a:pathLst>
                <a:path h="672161" w="4163683">
                  <a:moveTo>
                    <a:pt x="7346" y="0"/>
                  </a:moveTo>
                  <a:lnTo>
                    <a:pt x="4156337" y="0"/>
                  </a:lnTo>
                  <a:cubicBezTo>
                    <a:pt x="4158285" y="0"/>
                    <a:pt x="4160153" y="774"/>
                    <a:pt x="4161531" y="2152"/>
                  </a:cubicBezTo>
                  <a:cubicBezTo>
                    <a:pt x="4162909" y="3529"/>
                    <a:pt x="4163683" y="5398"/>
                    <a:pt x="4163683" y="7346"/>
                  </a:cubicBezTo>
                  <a:lnTo>
                    <a:pt x="4163683" y="664816"/>
                  </a:lnTo>
                  <a:cubicBezTo>
                    <a:pt x="4163683" y="666764"/>
                    <a:pt x="4162909" y="668632"/>
                    <a:pt x="4161531" y="670010"/>
                  </a:cubicBezTo>
                  <a:cubicBezTo>
                    <a:pt x="4160153" y="671387"/>
                    <a:pt x="4158285" y="672161"/>
                    <a:pt x="4156337" y="672161"/>
                  </a:cubicBezTo>
                  <a:lnTo>
                    <a:pt x="7346" y="672161"/>
                  </a:lnTo>
                  <a:cubicBezTo>
                    <a:pt x="5398" y="672161"/>
                    <a:pt x="3529" y="671387"/>
                    <a:pt x="2152" y="670010"/>
                  </a:cubicBezTo>
                  <a:cubicBezTo>
                    <a:pt x="774" y="668632"/>
                    <a:pt x="0" y="666764"/>
                    <a:pt x="0" y="664816"/>
                  </a:cubicBezTo>
                  <a:lnTo>
                    <a:pt x="0" y="7346"/>
                  </a:lnTo>
                  <a:cubicBezTo>
                    <a:pt x="0" y="5398"/>
                    <a:pt x="774" y="3529"/>
                    <a:pt x="2152" y="2152"/>
                  </a:cubicBezTo>
                  <a:cubicBezTo>
                    <a:pt x="3529" y="774"/>
                    <a:pt x="5398" y="0"/>
                    <a:pt x="7346" y="0"/>
                  </a:cubicBezTo>
                  <a:close/>
                </a:path>
              </a:pathLst>
            </a:custGeom>
            <a:solidFill>
              <a:srgbClr val="BFD9F9"/>
            </a:solidFill>
          </p:spPr>
        </p:sp>
        <p:sp>
          <p:nvSpPr>
            <p:cNvPr name="TextBox 18" id="18"/>
            <p:cNvSpPr txBox="true"/>
            <p:nvPr/>
          </p:nvSpPr>
          <p:spPr>
            <a:xfrm>
              <a:off x="0" y="-47625"/>
              <a:ext cx="4163683" cy="719786"/>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6200549" y="7756144"/>
            <a:ext cx="1274266" cy="452200"/>
            <a:chOff x="0" y="0"/>
            <a:chExt cx="1467295" cy="520700"/>
          </a:xfrm>
        </p:grpSpPr>
        <p:sp>
          <p:nvSpPr>
            <p:cNvPr name="Freeform 20" id="20"/>
            <p:cNvSpPr/>
            <p:nvPr/>
          </p:nvSpPr>
          <p:spPr>
            <a:xfrm flipH="false" flipV="false" rot="0">
              <a:off x="0" y="0"/>
              <a:ext cx="1467295" cy="520700"/>
            </a:xfrm>
            <a:custGeom>
              <a:avLst/>
              <a:gdLst/>
              <a:ahLst/>
              <a:cxnLst/>
              <a:rect r="r" b="b" t="t" l="l"/>
              <a:pathLst>
                <a:path h="520700" w="1467295">
                  <a:moveTo>
                    <a:pt x="733648" y="0"/>
                  </a:moveTo>
                  <a:lnTo>
                    <a:pt x="1467295" y="260350"/>
                  </a:lnTo>
                  <a:lnTo>
                    <a:pt x="733648" y="520700"/>
                  </a:lnTo>
                  <a:lnTo>
                    <a:pt x="0" y="260350"/>
                  </a:lnTo>
                  <a:lnTo>
                    <a:pt x="733648" y="0"/>
                  </a:lnTo>
                  <a:close/>
                </a:path>
              </a:pathLst>
            </a:custGeom>
            <a:solidFill>
              <a:srgbClr val="BFD9F9"/>
            </a:solidFill>
          </p:spPr>
        </p:sp>
        <p:sp>
          <p:nvSpPr>
            <p:cNvPr name="TextBox 21" id="21"/>
            <p:cNvSpPr txBox="true"/>
            <p:nvPr/>
          </p:nvSpPr>
          <p:spPr>
            <a:xfrm>
              <a:off x="345246" y="66675"/>
              <a:ext cx="776803" cy="3397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416819" y="3629756"/>
            <a:ext cx="1985567" cy="535701"/>
            <a:chOff x="0" y="0"/>
            <a:chExt cx="2647423" cy="714268"/>
          </a:xfrm>
        </p:grpSpPr>
        <p:grpSp>
          <p:nvGrpSpPr>
            <p:cNvPr name="Group 23" id="23"/>
            <p:cNvGrpSpPr/>
            <p:nvPr/>
          </p:nvGrpSpPr>
          <p:grpSpPr>
            <a:xfrm rot="0">
              <a:off x="0" y="46328"/>
              <a:ext cx="2647423" cy="667940"/>
              <a:chOff x="0" y="0"/>
              <a:chExt cx="710286" cy="179204"/>
            </a:xfrm>
          </p:grpSpPr>
          <p:sp>
            <p:nvSpPr>
              <p:cNvPr name="Freeform 24" id="24"/>
              <p:cNvSpPr/>
              <p:nvPr/>
            </p:nvSpPr>
            <p:spPr>
              <a:xfrm flipH="false" flipV="false" rot="0">
                <a:off x="0" y="0"/>
                <a:ext cx="710286" cy="179204"/>
              </a:xfrm>
              <a:custGeom>
                <a:avLst/>
                <a:gdLst/>
                <a:ahLst/>
                <a:cxnLst/>
                <a:rect r="r" b="b" t="t" l="l"/>
                <a:pathLst>
                  <a:path h="179204" w="710286">
                    <a:moveTo>
                      <a:pt x="89602" y="0"/>
                    </a:moveTo>
                    <a:lnTo>
                      <a:pt x="620684" y="0"/>
                    </a:lnTo>
                    <a:cubicBezTo>
                      <a:pt x="644448" y="0"/>
                      <a:pt x="667239" y="9440"/>
                      <a:pt x="684043" y="26244"/>
                    </a:cubicBezTo>
                    <a:cubicBezTo>
                      <a:pt x="700846" y="43047"/>
                      <a:pt x="710286" y="65838"/>
                      <a:pt x="710286" y="89602"/>
                    </a:cubicBezTo>
                    <a:lnTo>
                      <a:pt x="710286" y="89602"/>
                    </a:lnTo>
                    <a:cubicBezTo>
                      <a:pt x="710286" y="113366"/>
                      <a:pt x="700846" y="136157"/>
                      <a:pt x="684043" y="152960"/>
                    </a:cubicBezTo>
                    <a:cubicBezTo>
                      <a:pt x="667239" y="169764"/>
                      <a:pt x="644448" y="179204"/>
                      <a:pt x="620684" y="179204"/>
                    </a:cubicBezTo>
                    <a:lnTo>
                      <a:pt x="89602" y="179204"/>
                    </a:lnTo>
                    <a:cubicBezTo>
                      <a:pt x="65838" y="179204"/>
                      <a:pt x="43047" y="169764"/>
                      <a:pt x="26244" y="152960"/>
                    </a:cubicBezTo>
                    <a:cubicBezTo>
                      <a:pt x="9440" y="136157"/>
                      <a:pt x="0" y="113366"/>
                      <a:pt x="0" y="89602"/>
                    </a:cubicBezTo>
                    <a:lnTo>
                      <a:pt x="0" y="89602"/>
                    </a:lnTo>
                    <a:cubicBezTo>
                      <a:pt x="0" y="65838"/>
                      <a:pt x="9440" y="43047"/>
                      <a:pt x="26244" y="26244"/>
                    </a:cubicBezTo>
                    <a:cubicBezTo>
                      <a:pt x="43047" y="9440"/>
                      <a:pt x="65838" y="0"/>
                      <a:pt x="89602" y="0"/>
                    </a:cubicBezTo>
                    <a:close/>
                  </a:path>
                </a:pathLst>
              </a:custGeom>
              <a:solidFill>
                <a:srgbClr val="1E293B"/>
              </a:solidFill>
            </p:spPr>
          </p:sp>
          <p:sp>
            <p:nvSpPr>
              <p:cNvPr name="TextBox 25" id="25"/>
              <p:cNvSpPr txBox="true"/>
              <p:nvPr/>
            </p:nvSpPr>
            <p:spPr>
              <a:xfrm>
                <a:off x="0" y="-47625"/>
                <a:ext cx="710286" cy="226829"/>
              </a:xfrm>
              <a:prstGeom prst="rect">
                <a:avLst/>
              </a:prstGeom>
            </p:spPr>
            <p:txBody>
              <a:bodyPr anchor="ctr" rtlCol="false" tIns="50800" lIns="50800" bIns="50800" rIns="50800"/>
              <a:lstStyle/>
              <a:p>
                <a:pPr algn="ctr">
                  <a:lnSpc>
                    <a:spcPts val="3499"/>
                  </a:lnSpc>
                </a:pPr>
              </a:p>
            </p:txBody>
          </p:sp>
        </p:grpSp>
        <p:sp>
          <p:nvSpPr>
            <p:cNvPr name="TextBox 26" id="26"/>
            <p:cNvSpPr txBox="true"/>
            <p:nvPr/>
          </p:nvSpPr>
          <p:spPr>
            <a:xfrm rot="0">
              <a:off x="180978" y="47625"/>
              <a:ext cx="2285467" cy="666643"/>
            </a:xfrm>
            <a:prstGeom prst="rect">
              <a:avLst/>
            </a:prstGeom>
          </p:spPr>
          <p:txBody>
            <a:bodyPr anchor="t" rtlCol="false" tIns="0" lIns="0" bIns="0" rIns="0">
              <a:spAutoFit/>
            </a:bodyPr>
            <a:lstStyle/>
            <a:p>
              <a:pPr algn="ctr">
                <a:lnSpc>
                  <a:spcPts val="3459"/>
                </a:lnSpc>
              </a:pPr>
              <a:r>
                <a:rPr lang="en-US" b="true" sz="3529">
                  <a:solidFill>
                    <a:srgbClr val="F4F9FD"/>
                  </a:solidFill>
                  <a:latin typeface="Poppins Semi-Bold"/>
                  <a:ea typeface="Poppins Semi-Bold"/>
                  <a:cs typeface="Poppins Semi-Bold"/>
                  <a:sym typeface="Poppins Semi-Bold"/>
                </a:rPr>
                <a:t>Tujuan</a:t>
              </a:r>
            </a:p>
          </p:txBody>
        </p:sp>
      </p:grpSp>
      <p:sp>
        <p:nvSpPr>
          <p:cNvPr name="TextBox 27" id="27"/>
          <p:cNvSpPr txBox="true"/>
          <p:nvPr/>
        </p:nvSpPr>
        <p:spPr>
          <a:xfrm rot="0">
            <a:off x="1416819" y="7710843"/>
            <a:ext cx="14783731" cy="1736725"/>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6 tabel yang saling terhubung lewat key seperti sku_id, customer_id, order_id, transaction_id, dan payment_method: order_detail, product_detail, customer_detail, payment_d</a:t>
            </a:r>
            <a:r>
              <a:rPr lang="en-US" sz="2499">
                <a:solidFill>
                  <a:srgbClr val="1E293B"/>
                </a:solidFill>
                <a:latin typeface="Open Sans"/>
                <a:ea typeface="Open Sans"/>
                <a:cs typeface="Open Sans"/>
                <a:sym typeface="Open Sans"/>
              </a:rPr>
              <a:t>etail, transaction_detail, dan funnel_detail — mencakup periode 2020 hingga 2024, dari titik pertama pelanggan masuk funnel sampai transaksi selesai dibayar.</a:t>
            </a:r>
          </a:p>
        </p:txBody>
      </p:sp>
      <p:grpSp>
        <p:nvGrpSpPr>
          <p:cNvPr name="Group 28" id="28"/>
          <p:cNvGrpSpPr/>
          <p:nvPr/>
        </p:nvGrpSpPr>
        <p:grpSpPr>
          <a:xfrm rot="0">
            <a:off x="1028700" y="1028700"/>
            <a:ext cx="6872523" cy="897456"/>
            <a:chOff x="0" y="0"/>
            <a:chExt cx="9163364" cy="1196608"/>
          </a:xfrm>
        </p:grpSpPr>
        <p:sp>
          <p:nvSpPr>
            <p:cNvPr name="Freeform 29" id="29"/>
            <p:cNvSpPr/>
            <p:nvPr/>
          </p:nvSpPr>
          <p:spPr>
            <a:xfrm flipH="false" flipV="false" rot="0">
              <a:off x="0" y="67265"/>
              <a:ext cx="1129344" cy="1129344"/>
            </a:xfrm>
            <a:custGeom>
              <a:avLst/>
              <a:gdLst/>
              <a:ahLst/>
              <a:cxnLst/>
              <a:rect r="r" b="b" t="t" l="l"/>
              <a:pathLst>
                <a:path h="1129344" w="1129344">
                  <a:moveTo>
                    <a:pt x="0" y="0"/>
                  </a:moveTo>
                  <a:lnTo>
                    <a:pt x="1129344" y="0"/>
                  </a:lnTo>
                  <a:lnTo>
                    <a:pt x="1129344" y="1129343"/>
                  </a:lnTo>
                  <a:lnTo>
                    <a:pt x="0" y="11293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0" id="30"/>
            <p:cNvSpPr txBox="true"/>
            <p:nvPr/>
          </p:nvSpPr>
          <p:spPr>
            <a:xfrm rot="0">
              <a:off x="1636001" y="-47625"/>
              <a:ext cx="5301642" cy="54715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MySkill</a:t>
              </a:r>
            </a:p>
          </p:txBody>
        </p:sp>
        <p:sp>
          <p:nvSpPr>
            <p:cNvPr name="TextBox 31" id="31"/>
            <p:cNvSpPr txBox="true"/>
            <p:nvPr/>
          </p:nvSpPr>
          <p:spPr>
            <a:xfrm rot="0">
              <a:off x="1636001" y="451908"/>
              <a:ext cx="7527362" cy="54715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Final Project Data Analyst Batch 29</a:t>
              </a:r>
            </a:p>
          </p:txBody>
        </p:sp>
      </p:grpSp>
      <p:grpSp>
        <p:nvGrpSpPr>
          <p:cNvPr name="Group 32" id="32"/>
          <p:cNvGrpSpPr/>
          <p:nvPr/>
        </p:nvGrpSpPr>
        <p:grpSpPr>
          <a:xfrm rot="0">
            <a:off x="12027622" y="6933906"/>
            <a:ext cx="4172927" cy="535701"/>
            <a:chOff x="0" y="0"/>
            <a:chExt cx="5563903" cy="714268"/>
          </a:xfrm>
        </p:grpSpPr>
        <p:grpSp>
          <p:nvGrpSpPr>
            <p:cNvPr name="Group 33" id="33"/>
            <p:cNvGrpSpPr/>
            <p:nvPr/>
          </p:nvGrpSpPr>
          <p:grpSpPr>
            <a:xfrm rot="0">
              <a:off x="0" y="23164"/>
              <a:ext cx="5563903" cy="667940"/>
              <a:chOff x="0" y="0"/>
              <a:chExt cx="1492759" cy="179204"/>
            </a:xfrm>
          </p:grpSpPr>
          <p:sp>
            <p:nvSpPr>
              <p:cNvPr name="Freeform 34" id="34"/>
              <p:cNvSpPr/>
              <p:nvPr/>
            </p:nvSpPr>
            <p:spPr>
              <a:xfrm flipH="false" flipV="false" rot="0">
                <a:off x="0" y="0"/>
                <a:ext cx="1492759" cy="179204"/>
              </a:xfrm>
              <a:custGeom>
                <a:avLst/>
                <a:gdLst/>
                <a:ahLst/>
                <a:cxnLst/>
                <a:rect r="r" b="b" t="t" l="l"/>
                <a:pathLst>
                  <a:path h="179204" w="1492759">
                    <a:moveTo>
                      <a:pt x="89602" y="0"/>
                    </a:moveTo>
                    <a:lnTo>
                      <a:pt x="1403157" y="0"/>
                    </a:lnTo>
                    <a:cubicBezTo>
                      <a:pt x="1426921" y="0"/>
                      <a:pt x="1449712" y="9440"/>
                      <a:pt x="1466515" y="26244"/>
                    </a:cubicBezTo>
                    <a:cubicBezTo>
                      <a:pt x="1483319" y="43047"/>
                      <a:pt x="1492759" y="65838"/>
                      <a:pt x="1492759" y="89602"/>
                    </a:cubicBezTo>
                    <a:lnTo>
                      <a:pt x="1492759" y="89602"/>
                    </a:lnTo>
                    <a:cubicBezTo>
                      <a:pt x="1492759" y="113366"/>
                      <a:pt x="1483319" y="136157"/>
                      <a:pt x="1466515" y="152960"/>
                    </a:cubicBezTo>
                    <a:cubicBezTo>
                      <a:pt x="1449712" y="169764"/>
                      <a:pt x="1426921" y="179204"/>
                      <a:pt x="1403157" y="179204"/>
                    </a:cubicBezTo>
                    <a:lnTo>
                      <a:pt x="89602" y="179204"/>
                    </a:lnTo>
                    <a:cubicBezTo>
                      <a:pt x="65838" y="179204"/>
                      <a:pt x="43047" y="169764"/>
                      <a:pt x="26244" y="152960"/>
                    </a:cubicBezTo>
                    <a:cubicBezTo>
                      <a:pt x="9440" y="136157"/>
                      <a:pt x="0" y="113366"/>
                      <a:pt x="0" y="89602"/>
                    </a:cubicBezTo>
                    <a:lnTo>
                      <a:pt x="0" y="89602"/>
                    </a:lnTo>
                    <a:cubicBezTo>
                      <a:pt x="0" y="65838"/>
                      <a:pt x="9440" y="43047"/>
                      <a:pt x="26244" y="26244"/>
                    </a:cubicBezTo>
                    <a:cubicBezTo>
                      <a:pt x="43047" y="9440"/>
                      <a:pt x="65838" y="0"/>
                      <a:pt x="89602" y="0"/>
                    </a:cubicBezTo>
                    <a:close/>
                  </a:path>
                </a:pathLst>
              </a:custGeom>
              <a:solidFill>
                <a:srgbClr val="1E293B"/>
              </a:solidFill>
            </p:spPr>
          </p:sp>
          <p:sp>
            <p:nvSpPr>
              <p:cNvPr name="TextBox 35" id="35"/>
              <p:cNvSpPr txBox="true"/>
              <p:nvPr/>
            </p:nvSpPr>
            <p:spPr>
              <a:xfrm>
                <a:off x="0" y="-47625"/>
                <a:ext cx="1492759" cy="226829"/>
              </a:xfrm>
              <a:prstGeom prst="rect">
                <a:avLst/>
              </a:prstGeom>
            </p:spPr>
            <p:txBody>
              <a:bodyPr anchor="ctr" rtlCol="false" tIns="37401" lIns="37401" bIns="37401" rIns="37401"/>
              <a:lstStyle/>
              <a:p>
                <a:pPr algn="ctr">
                  <a:lnSpc>
                    <a:spcPts val="3499"/>
                  </a:lnSpc>
                </a:pPr>
              </a:p>
            </p:txBody>
          </p:sp>
        </p:grpSp>
        <p:sp>
          <p:nvSpPr>
            <p:cNvPr name="TextBox 36" id="36"/>
            <p:cNvSpPr txBox="true"/>
            <p:nvPr/>
          </p:nvSpPr>
          <p:spPr>
            <a:xfrm rot="0">
              <a:off x="450938" y="47625"/>
              <a:ext cx="4662028" cy="666643"/>
            </a:xfrm>
            <a:prstGeom prst="rect">
              <a:avLst/>
            </a:prstGeom>
          </p:spPr>
          <p:txBody>
            <a:bodyPr anchor="t" rtlCol="false" tIns="0" lIns="0" bIns="0" rIns="0">
              <a:spAutoFit/>
            </a:bodyPr>
            <a:lstStyle/>
            <a:p>
              <a:pPr algn="ctr">
                <a:lnSpc>
                  <a:spcPts val="3459"/>
                </a:lnSpc>
              </a:pPr>
              <a:r>
                <a:rPr lang="en-US" sz="3529" b="true">
                  <a:solidFill>
                    <a:srgbClr val="F4F9FD"/>
                  </a:solidFill>
                  <a:latin typeface="Poppins Semi-Bold"/>
                  <a:ea typeface="Poppins Semi-Bold"/>
                  <a:cs typeface="Poppins Semi-Bold"/>
                  <a:sym typeface="Poppins Semi-Bold"/>
                </a:rPr>
                <a:t>Cakupan Data</a:t>
              </a:r>
            </a:p>
          </p:txBody>
        </p:sp>
      </p:grpSp>
      <p:grpSp>
        <p:nvGrpSpPr>
          <p:cNvPr name="Group 37" id="37"/>
          <p:cNvGrpSpPr/>
          <p:nvPr/>
        </p:nvGrpSpPr>
        <p:grpSpPr>
          <a:xfrm rot="0">
            <a:off x="10142746" y="-4369199"/>
            <a:ext cx="7116554" cy="7116554"/>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40" id="40"/>
          <p:cNvSpPr txBox="true"/>
          <p:nvPr/>
        </p:nvSpPr>
        <p:spPr>
          <a:xfrm rot="0">
            <a:off x="1028700" y="2226019"/>
            <a:ext cx="15171849"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Tujuan dan Cakupan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10800000">
            <a:off x="13615101" y="-141254"/>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054324" y="2242821"/>
            <a:ext cx="4560344" cy="4712201"/>
            <a:chOff x="0" y="0"/>
            <a:chExt cx="1362292" cy="1407656"/>
          </a:xfrm>
        </p:grpSpPr>
        <p:sp>
          <p:nvSpPr>
            <p:cNvPr name="Freeform 7" id="7"/>
            <p:cNvSpPr/>
            <p:nvPr/>
          </p:nvSpPr>
          <p:spPr>
            <a:xfrm flipH="false" flipV="false" rot="0">
              <a:off x="0" y="0"/>
              <a:ext cx="1362292" cy="1407656"/>
            </a:xfrm>
            <a:custGeom>
              <a:avLst/>
              <a:gdLst/>
              <a:ahLst/>
              <a:cxnLst/>
              <a:rect r="r" b="b" t="t" l="l"/>
              <a:pathLst>
                <a:path h="1407656" w="1362292">
                  <a:moveTo>
                    <a:pt x="25465" y="0"/>
                  </a:moveTo>
                  <a:lnTo>
                    <a:pt x="1336827" y="0"/>
                  </a:lnTo>
                  <a:cubicBezTo>
                    <a:pt x="1350891" y="0"/>
                    <a:pt x="1362292" y="11401"/>
                    <a:pt x="1362292" y="25465"/>
                  </a:cubicBezTo>
                  <a:lnTo>
                    <a:pt x="1362292" y="1382191"/>
                  </a:lnTo>
                  <a:cubicBezTo>
                    <a:pt x="1362292" y="1396255"/>
                    <a:pt x="1350891" y="1407656"/>
                    <a:pt x="1336827" y="1407656"/>
                  </a:cubicBezTo>
                  <a:lnTo>
                    <a:pt x="25465" y="1407656"/>
                  </a:lnTo>
                  <a:cubicBezTo>
                    <a:pt x="18711" y="1407656"/>
                    <a:pt x="12234" y="1404973"/>
                    <a:pt x="7459" y="1400197"/>
                  </a:cubicBezTo>
                  <a:cubicBezTo>
                    <a:pt x="2683" y="1395422"/>
                    <a:pt x="0" y="1388945"/>
                    <a:pt x="0" y="1382191"/>
                  </a:cubicBezTo>
                  <a:lnTo>
                    <a:pt x="0" y="25465"/>
                  </a:lnTo>
                  <a:cubicBezTo>
                    <a:pt x="0" y="11401"/>
                    <a:pt x="11401" y="0"/>
                    <a:pt x="25465" y="0"/>
                  </a:cubicBezTo>
                  <a:close/>
                </a:path>
              </a:pathLst>
            </a:custGeom>
            <a:solidFill>
              <a:srgbClr val="BFD9F9"/>
            </a:solidFill>
          </p:spPr>
        </p:sp>
        <p:sp>
          <p:nvSpPr>
            <p:cNvPr name="TextBox 8" id="8"/>
            <p:cNvSpPr txBox="true"/>
            <p:nvPr/>
          </p:nvSpPr>
          <p:spPr>
            <a:xfrm>
              <a:off x="0" y="-47625"/>
              <a:ext cx="1362292" cy="1455281"/>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665019" y="742950"/>
            <a:ext cx="14734855"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Data Understanding</a:t>
            </a:r>
          </a:p>
        </p:txBody>
      </p:sp>
      <p:grpSp>
        <p:nvGrpSpPr>
          <p:cNvPr name="Group 10" id="10"/>
          <p:cNvGrpSpPr/>
          <p:nvPr/>
        </p:nvGrpSpPr>
        <p:grpSpPr>
          <a:xfrm rot="0">
            <a:off x="663407" y="2242821"/>
            <a:ext cx="6879804" cy="4712201"/>
            <a:chOff x="0" y="0"/>
            <a:chExt cx="2055175" cy="1407656"/>
          </a:xfrm>
        </p:grpSpPr>
        <p:sp>
          <p:nvSpPr>
            <p:cNvPr name="Freeform 11" id="11"/>
            <p:cNvSpPr/>
            <p:nvPr/>
          </p:nvSpPr>
          <p:spPr>
            <a:xfrm flipH="false" flipV="false" rot="0">
              <a:off x="0" y="0"/>
              <a:ext cx="2055175" cy="1407656"/>
            </a:xfrm>
            <a:custGeom>
              <a:avLst/>
              <a:gdLst/>
              <a:ahLst/>
              <a:cxnLst/>
              <a:rect r="r" b="b" t="t" l="l"/>
              <a:pathLst>
                <a:path h="1407656" w="2055175">
                  <a:moveTo>
                    <a:pt x="16880" y="0"/>
                  </a:moveTo>
                  <a:lnTo>
                    <a:pt x="2038295" y="0"/>
                  </a:lnTo>
                  <a:cubicBezTo>
                    <a:pt x="2042772" y="0"/>
                    <a:pt x="2047065" y="1778"/>
                    <a:pt x="2050231" y="4944"/>
                  </a:cubicBezTo>
                  <a:cubicBezTo>
                    <a:pt x="2053396" y="8109"/>
                    <a:pt x="2055175" y="12403"/>
                    <a:pt x="2055175" y="16880"/>
                  </a:cubicBezTo>
                  <a:lnTo>
                    <a:pt x="2055175" y="1390776"/>
                  </a:lnTo>
                  <a:cubicBezTo>
                    <a:pt x="2055175" y="1395253"/>
                    <a:pt x="2053396" y="1399546"/>
                    <a:pt x="2050231" y="1402712"/>
                  </a:cubicBezTo>
                  <a:cubicBezTo>
                    <a:pt x="2047065" y="1405877"/>
                    <a:pt x="2042772" y="1407656"/>
                    <a:pt x="2038295" y="1407656"/>
                  </a:cubicBezTo>
                  <a:lnTo>
                    <a:pt x="16880" y="1407656"/>
                  </a:lnTo>
                  <a:cubicBezTo>
                    <a:pt x="12403" y="1407656"/>
                    <a:pt x="8109" y="1405877"/>
                    <a:pt x="4944" y="1402712"/>
                  </a:cubicBezTo>
                  <a:cubicBezTo>
                    <a:pt x="1778" y="1399546"/>
                    <a:pt x="0" y="1395253"/>
                    <a:pt x="0" y="1390776"/>
                  </a:cubicBezTo>
                  <a:lnTo>
                    <a:pt x="0" y="16880"/>
                  </a:lnTo>
                  <a:cubicBezTo>
                    <a:pt x="0" y="12403"/>
                    <a:pt x="1778" y="8109"/>
                    <a:pt x="4944" y="4944"/>
                  </a:cubicBezTo>
                  <a:cubicBezTo>
                    <a:pt x="8109" y="1778"/>
                    <a:pt x="12403" y="0"/>
                    <a:pt x="16880" y="0"/>
                  </a:cubicBezTo>
                  <a:close/>
                </a:path>
              </a:pathLst>
            </a:custGeom>
            <a:solidFill>
              <a:srgbClr val="BFD9F9"/>
            </a:solidFill>
          </p:spPr>
        </p:sp>
        <p:sp>
          <p:nvSpPr>
            <p:cNvPr name="TextBox 12" id="12"/>
            <p:cNvSpPr txBox="true"/>
            <p:nvPr/>
          </p:nvSpPr>
          <p:spPr>
            <a:xfrm>
              <a:off x="0" y="-47625"/>
              <a:ext cx="2055175" cy="1455281"/>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665019" y="2204721"/>
            <a:ext cx="2123820"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order_detail</a:t>
            </a:r>
          </a:p>
        </p:txBody>
      </p:sp>
      <p:sp>
        <p:nvSpPr>
          <p:cNvPr name="TextBox 14" id="14"/>
          <p:cNvSpPr txBox="true"/>
          <p:nvPr/>
        </p:nvSpPr>
        <p:spPr>
          <a:xfrm rot="0">
            <a:off x="845773" y="2636176"/>
            <a:ext cx="6516685" cy="4274853"/>
          </a:xfrm>
          <a:prstGeom prst="rect">
            <a:avLst/>
          </a:prstGeom>
        </p:spPr>
        <p:txBody>
          <a:bodyPr anchor="t" rtlCol="false" tIns="0" lIns="0" bIns="0" rIns="0">
            <a:spAutoFit/>
          </a:bodyPr>
          <a:lstStyle/>
          <a:p>
            <a:pPr algn="just" marL="344728" indent="-172364" lvl="1">
              <a:lnSpc>
                <a:spcPts val="1564"/>
              </a:lnSpc>
              <a:buFont typeface="Arial"/>
              <a:buChar char="•"/>
            </a:pPr>
            <a:r>
              <a:rPr lang="en-US" sz="1596">
                <a:solidFill>
                  <a:srgbClr val="000000"/>
                </a:solidFill>
                <a:latin typeface="Poppins"/>
                <a:ea typeface="Poppins"/>
                <a:cs typeface="Poppins"/>
                <a:sym typeface="Poppins"/>
              </a:rPr>
              <a:t>transaction_id → angka unik dari transaksi (1 transaction id &gt; 1 order_id)</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order_id → angka unik da</a:t>
            </a:r>
            <a:r>
              <a:rPr lang="en-US" sz="1596">
                <a:solidFill>
                  <a:srgbClr val="000000"/>
                </a:solidFill>
                <a:latin typeface="Poppins"/>
                <a:ea typeface="Poppins"/>
                <a:cs typeface="Poppins"/>
                <a:sym typeface="Poppins"/>
              </a:rPr>
              <a:t>ri order / id_order</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order_date → tanggal saat dilakukan pemesanan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customer_id → angka unik dari pelanggan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channel_type → tipe chennel (web, app/play store, offline)</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sku_id → angka unik dari produk (sku adalah stock keeping unit)</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quantity → jumlah barang yang dibeli oleh </a:t>
            </a:r>
            <a:r>
              <a:rPr lang="en-US" sz="1596">
                <a:solidFill>
                  <a:srgbClr val="000000"/>
                </a:solidFill>
                <a:latin typeface="Poppins"/>
                <a:ea typeface="Poppins"/>
                <a:cs typeface="Poppins"/>
                <a:sym typeface="Poppins"/>
              </a:rPr>
              <a:t>pelanggan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price → harga yang tertera pada tagging harga</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before_discount → nilai harga total dari produk (price * qty_ordered)</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discount_item → nilai diskon product total</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a</a:t>
            </a:r>
            <a:r>
              <a:rPr lang="en-US" sz="1596">
                <a:solidFill>
                  <a:srgbClr val="000000"/>
                </a:solidFill>
                <a:latin typeface="Poppins"/>
                <a:ea typeface="Poppins"/>
                <a:cs typeface="Poppins"/>
                <a:sym typeface="Poppins"/>
              </a:rPr>
              <a:t>fter_discount → nilai harga total produk ketika sudah dikurangi dengan diskon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is gross → menunjukkan pelanggan belum membaya</a:t>
            </a:r>
            <a:r>
              <a:rPr lang="en-US" sz="1596">
                <a:solidFill>
                  <a:srgbClr val="000000"/>
                </a:solidFill>
                <a:latin typeface="Poppins"/>
                <a:ea typeface="Poppins"/>
                <a:cs typeface="Poppins"/>
                <a:sym typeface="Poppins"/>
              </a:rPr>
              <a:t>r pesanan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is_valid → menunjukkan pelanggan sudah melakukan pembayaran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is_net → 1 = menunjukkan transaksi sudah selesai, 0 = retur / cancel</a:t>
            </a:r>
          </a:p>
          <a:p>
            <a:pPr algn="just">
              <a:lnSpc>
                <a:spcPts val="1564"/>
              </a:lnSpc>
            </a:pPr>
          </a:p>
        </p:txBody>
      </p:sp>
      <p:grpSp>
        <p:nvGrpSpPr>
          <p:cNvPr name="Group 15" id="15"/>
          <p:cNvGrpSpPr/>
          <p:nvPr/>
        </p:nvGrpSpPr>
        <p:grpSpPr>
          <a:xfrm rot="0">
            <a:off x="665019" y="7285335"/>
            <a:ext cx="6878192" cy="2708060"/>
            <a:chOff x="0" y="0"/>
            <a:chExt cx="2054693" cy="808967"/>
          </a:xfrm>
        </p:grpSpPr>
        <p:sp>
          <p:nvSpPr>
            <p:cNvPr name="Freeform 16" id="16"/>
            <p:cNvSpPr/>
            <p:nvPr/>
          </p:nvSpPr>
          <p:spPr>
            <a:xfrm flipH="false" flipV="false" rot="0">
              <a:off x="0" y="0"/>
              <a:ext cx="2054693" cy="808967"/>
            </a:xfrm>
            <a:custGeom>
              <a:avLst/>
              <a:gdLst/>
              <a:ahLst/>
              <a:cxnLst/>
              <a:rect r="r" b="b" t="t" l="l"/>
              <a:pathLst>
                <a:path h="808967" w="2054693">
                  <a:moveTo>
                    <a:pt x="16884" y="0"/>
                  </a:moveTo>
                  <a:lnTo>
                    <a:pt x="2037810" y="0"/>
                  </a:lnTo>
                  <a:cubicBezTo>
                    <a:pt x="2047134" y="0"/>
                    <a:pt x="2054693" y="7559"/>
                    <a:pt x="2054693" y="16884"/>
                  </a:cubicBezTo>
                  <a:lnTo>
                    <a:pt x="2054693" y="792084"/>
                  </a:lnTo>
                  <a:cubicBezTo>
                    <a:pt x="2054693" y="796561"/>
                    <a:pt x="2052914" y="800856"/>
                    <a:pt x="2049748" y="804022"/>
                  </a:cubicBezTo>
                  <a:cubicBezTo>
                    <a:pt x="2046582" y="807188"/>
                    <a:pt x="2042287" y="808967"/>
                    <a:pt x="2037810" y="808967"/>
                  </a:cubicBezTo>
                  <a:lnTo>
                    <a:pt x="16884" y="808967"/>
                  </a:lnTo>
                  <a:cubicBezTo>
                    <a:pt x="12406" y="808967"/>
                    <a:pt x="8111" y="807188"/>
                    <a:pt x="4945" y="804022"/>
                  </a:cubicBezTo>
                  <a:cubicBezTo>
                    <a:pt x="1779" y="800856"/>
                    <a:pt x="0" y="796561"/>
                    <a:pt x="0" y="792084"/>
                  </a:cubicBezTo>
                  <a:lnTo>
                    <a:pt x="0" y="16884"/>
                  </a:lnTo>
                  <a:cubicBezTo>
                    <a:pt x="0" y="12406"/>
                    <a:pt x="1779" y="8111"/>
                    <a:pt x="4945" y="4945"/>
                  </a:cubicBezTo>
                  <a:cubicBezTo>
                    <a:pt x="8111" y="1779"/>
                    <a:pt x="12406" y="0"/>
                    <a:pt x="16884" y="0"/>
                  </a:cubicBezTo>
                  <a:close/>
                </a:path>
              </a:pathLst>
            </a:custGeom>
            <a:solidFill>
              <a:srgbClr val="BFD9F9"/>
            </a:solidFill>
          </p:spPr>
        </p:sp>
        <p:sp>
          <p:nvSpPr>
            <p:cNvPr name="TextBox 17" id="17"/>
            <p:cNvSpPr txBox="true"/>
            <p:nvPr/>
          </p:nvSpPr>
          <p:spPr>
            <a:xfrm>
              <a:off x="0" y="-47625"/>
              <a:ext cx="2054693" cy="856592"/>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8058652" y="2242821"/>
            <a:ext cx="4560344" cy="4712201"/>
            <a:chOff x="0" y="0"/>
            <a:chExt cx="1362292" cy="1407656"/>
          </a:xfrm>
        </p:grpSpPr>
        <p:sp>
          <p:nvSpPr>
            <p:cNvPr name="Freeform 19" id="19"/>
            <p:cNvSpPr/>
            <p:nvPr/>
          </p:nvSpPr>
          <p:spPr>
            <a:xfrm flipH="false" flipV="false" rot="0">
              <a:off x="0" y="0"/>
              <a:ext cx="1362292" cy="1407656"/>
            </a:xfrm>
            <a:custGeom>
              <a:avLst/>
              <a:gdLst/>
              <a:ahLst/>
              <a:cxnLst/>
              <a:rect r="r" b="b" t="t" l="l"/>
              <a:pathLst>
                <a:path h="1407656" w="1362292">
                  <a:moveTo>
                    <a:pt x="25465" y="0"/>
                  </a:moveTo>
                  <a:lnTo>
                    <a:pt x="1336827" y="0"/>
                  </a:lnTo>
                  <a:cubicBezTo>
                    <a:pt x="1350891" y="0"/>
                    <a:pt x="1362292" y="11401"/>
                    <a:pt x="1362292" y="25465"/>
                  </a:cubicBezTo>
                  <a:lnTo>
                    <a:pt x="1362292" y="1382191"/>
                  </a:lnTo>
                  <a:cubicBezTo>
                    <a:pt x="1362292" y="1396255"/>
                    <a:pt x="1350891" y="1407656"/>
                    <a:pt x="1336827" y="1407656"/>
                  </a:cubicBezTo>
                  <a:lnTo>
                    <a:pt x="25465" y="1407656"/>
                  </a:lnTo>
                  <a:cubicBezTo>
                    <a:pt x="18711" y="1407656"/>
                    <a:pt x="12234" y="1404973"/>
                    <a:pt x="7459" y="1400197"/>
                  </a:cubicBezTo>
                  <a:cubicBezTo>
                    <a:pt x="2683" y="1395422"/>
                    <a:pt x="0" y="1388945"/>
                    <a:pt x="0" y="1382191"/>
                  </a:cubicBezTo>
                  <a:lnTo>
                    <a:pt x="0" y="25465"/>
                  </a:lnTo>
                  <a:cubicBezTo>
                    <a:pt x="0" y="11401"/>
                    <a:pt x="11401" y="0"/>
                    <a:pt x="25465" y="0"/>
                  </a:cubicBezTo>
                  <a:close/>
                </a:path>
              </a:pathLst>
            </a:custGeom>
            <a:solidFill>
              <a:srgbClr val="BFD9F9"/>
            </a:solidFill>
          </p:spPr>
        </p:sp>
        <p:sp>
          <p:nvSpPr>
            <p:cNvPr name="TextBox 20" id="20"/>
            <p:cNvSpPr txBox="true"/>
            <p:nvPr/>
          </p:nvSpPr>
          <p:spPr>
            <a:xfrm>
              <a:off x="0" y="-47625"/>
              <a:ext cx="1362292" cy="1455281"/>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8296571" y="2664703"/>
            <a:ext cx="3840427" cy="3264062"/>
          </a:xfrm>
          <a:prstGeom prst="rect">
            <a:avLst/>
          </a:prstGeom>
        </p:spPr>
        <p:txBody>
          <a:bodyPr anchor="t" rtlCol="false" tIns="0" lIns="0" bIns="0" rIns="0">
            <a:spAutoFit/>
          </a:bodyPr>
          <a:lstStyle/>
          <a:p>
            <a:pPr algn="just" marL="344729" indent="-172364" lvl="1">
              <a:lnSpc>
                <a:spcPts val="1564"/>
              </a:lnSpc>
              <a:buFont typeface="Arial"/>
              <a:buChar char="•"/>
            </a:pPr>
            <a:r>
              <a:rPr lang="en-US" sz="1596">
                <a:solidFill>
                  <a:srgbClr val="000000"/>
                </a:solidFill>
                <a:latin typeface="Poppins"/>
                <a:ea typeface="Poppins"/>
                <a:cs typeface="Poppins"/>
                <a:sym typeface="Poppins"/>
              </a:rPr>
              <a:t>customer_id → angka unik dari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registration_date → tanggal pelanggan mulai mendaftarkan diri sebagai</a:t>
            </a:r>
            <a:r>
              <a:rPr lang="en-US" sz="1596">
                <a:solidFill>
                  <a:srgbClr val="000000"/>
                </a:solidFill>
                <a:latin typeface="Poppins"/>
                <a:ea typeface="Poppins"/>
                <a:cs typeface="Poppins"/>
                <a:sym typeface="Poppins"/>
              </a:rPr>
              <a:t> anggota</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cus</a:t>
            </a:r>
            <a:r>
              <a:rPr lang="en-US" sz="1596">
                <a:solidFill>
                  <a:srgbClr val="000000"/>
                </a:solidFill>
                <a:latin typeface="Poppins"/>
                <a:ea typeface="Poppins"/>
                <a:cs typeface="Poppins"/>
                <a:sym typeface="Poppins"/>
              </a:rPr>
              <a:t>tomer_name → nama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customer_type → tipe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dob → tanggal lahir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pro</a:t>
            </a:r>
            <a:r>
              <a:rPr lang="en-US" sz="1596">
                <a:solidFill>
                  <a:srgbClr val="000000"/>
                </a:solidFill>
                <a:latin typeface="Poppins"/>
                <a:ea typeface="Poppins"/>
                <a:cs typeface="Poppins"/>
                <a:sym typeface="Poppins"/>
              </a:rPr>
              <a:t>v</a:t>
            </a:r>
            <a:r>
              <a:rPr lang="en-US" sz="1596">
                <a:solidFill>
                  <a:srgbClr val="000000"/>
                </a:solidFill>
                <a:latin typeface="Poppins"/>
                <a:ea typeface="Poppins"/>
                <a:cs typeface="Poppins"/>
                <a:sym typeface="Poppins"/>
              </a:rPr>
              <a:t>ince → provinsi tempat tingg</a:t>
            </a:r>
            <a:r>
              <a:rPr lang="en-US" sz="1596">
                <a:solidFill>
                  <a:srgbClr val="000000"/>
                </a:solidFill>
                <a:latin typeface="Poppins"/>
                <a:ea typeface="Poppins"/>
                <a:cs typeface="Poppins"/>
                <a:sym typeface="Poppins"/>
              </a:rPr>
              <a:t>al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registration_</a:t>
            </a:r>
            <a:r>
              <a:rPr lang="en-US" sz="1596">
                <a:solidFill>
                  <a:srgbClr val="000000"/>
                </a:solidFill>
                <a:latin typeface="Poppins"/>
                <a:ea typeface="Poppins"/>
                <a:cs typeface="Poppins"/>
                <a:sym typeface="Poppins"/>
              </a:rPr>
              <a:t>channel → channel pendaftaran pelanggan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registered_date → tanggal pelanggan mulai</a:t>
            </a:r>
            <a:r>
              <a:rPr lang="en-US" sz="1596">
                <a:solidFill>
                  <a:srgbClr val="000000"/>
                </a:solidFill>
                <a:latin typeface="Poppins"/>
                <a:ea typeface="Poppins"/>
                <a:cs typeface="Poppins"/>
                <a:sym typeface="Poppins"/>
              </a:rPr>
              <a:t> mendaftarkan diri sebagai</a:t>
            </a:r>
            <a:r>
              <a:rPr lang="en-US" sz="1596">
                <a:solidFill>
                  <a:srgbClr val="000000"/>
                </a:solidFill>
                <a:latin typeface="Poppins"/>
                <a:ea typeface="Poppins"/>
                <a:cs typeface="Poppins"/>
                <a:sym typeface="Poppins"/>
              </a:rPr>
              <a:t> anggota</a:t>
            </a:r>
          </a:p>
          <a:p>
            <a:pPr algn="just">
              <a:lnSpc>
                <a:spcPts val="1564"/>
              </a:lnSpc>
            </a:pPr>
          </a:p>
        </p:txBody>
      </p:sp>
      <p:grpSp>
        <p:nvGrpSpPr>
          <p:cNvPr name="Group 22" id="22"/>
          <p:cNvGrpSpPr/>
          <p:nvPr/>
        </p:nvGrpSpPr>
        <p:grpSpPr>
          <a:xfrm rot="0">
            <a:off x="8038031" y="7285335"/>
            <a:ext cx="4580965" cy="2708060"/>
            <a:chOff x="0" y="0"/>
            <a:chExt cx="1368452" cy="808967"/>
          </a:xfrm>
        </p:grpSpPr>
        <p:sp>
          <p:nvSpPr>
            <p:cNvPr name="Freeform 23" id="23"/>
            <p:cNvSpPr/>
            <p:nvPr/>
          </p:nvSpPr>
          <p:spPr>
            <a:xfrm flipH="false" flipV="false" rot="0">
              <a:off x="0" y="0"/>
              <a:ext cx="1368452" cy="808967"/>
            </a:xfrm>
            <a:custGeom>
              <a:avLst/>
              <a:gdLst/>
              <a:ahLst/>
              <a:cxnLst/>
              <a:rect r="r" b="b" t="t" l="l"/>
              <a:pathLst>
                <a:path h="808967" w="1368452">
                  <a:moveTo>
                    <a:pt x="25350" y="0"/>
                  </a:moveTo>
                  <a:lnTo>
                    <a:pt x="1343102" y="0"/>
                  </a:lnTo>
                  <a:cubicBezTo>
                    <a:pt x="1357103" y="0"/>
                    <a:pt x="1368452" y="11350"/>
                    <a:pt x="1368452" y="25350"/>
                  </a:cubicBezTo>
                  <a:lnTo>
                    <a:pt x="1368452" y="783617"/>
                  </a:lnTo>
                  <a:cubicBezTo>
                    <a:pt x="1368452" y="797618"/>
                    <a:pt x="1357103" y="808967"/>
                    <a:pt x="1343102" y="808967"/>
                  </a:cubicBezTo>
                  <a:lnTo>
                    <a:pt x="25350" y="808967"/>
                  </a:lnTo>
                  <a:cubicBezTo>
                    <a:pt x="11350" y="808967"/>
                    <a:pt x="0" y="797618"/>
                    <a:pt x="0" y="783617"/>
                  </a:cubicBezTo>
                  <a:lnTo>
                    <a:pt x="0" y="25350"/>
                  </a:lnTo>
                  <a:cubicBezTo>
                    <a:pt x="0" y="11350"/>
                    <a:pt x="11350" y="0"/>
                    <a:pt x="25350" y="0"/>
                  </a:cubicBezTo>
                  <a:close/>
                </a:path>
              </a:pathLst>
            </a:custGeom>
            <a:solidFill>
              <a:srgbClr val="BFD9F9"/>
            </a:solidFill>
          </p:spPr>
        </p:sp>
        <p:sp>
          <p:nvSpPr>
            <p:cNvPr name="TextBox 24" id="24"/>
            <p:cNvSpPr txBox="true"/>
            <p:nvPr/>
          </p:nvSpPr>
          <p:spPr>
            <a:xfrm>
              <a:off x="0" y="-47625"/>
              <a:ext cx="1368452" cy="856592"/>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8418611" y="7763517"/>
            <a:ext cx="3596348" cy="787562"/>
          </a:xfrm>
          <a:prstGeom prst="rect">
            <a:avLst/>
          </a:prstGeom>
        </p:spPr>
        <p:txBody>
          <a:bodyPr anchor="t" rtlCol="false" tIns="0" lIns="0" bIns="0" rIns="0">
            <a:spAutoFit/>
          </a:bodyPr>
          <a:lstStyle/>
          <a:p>
            <a:pPr algn="just" marL="344729" indent="-172364" lvl="1">
              <a:lnSpc>
                <a:spcPts val="1564"/>
              </a:lnSpc>
              <a:buFont typeface="Arial"/>
              <a:buChar char="•"/>
            </a:pPr>
            <a:r>
              <a:rPr lang="en-US" sz="1596">
                <a:solidFill>
                  <a:srgbClr val="000000"/>
                </a:solidFill>
                <a:latin typeface="Poppins"/>
                <a:ea typeface="Poppins"/>
                <a:cs typeface="Poppins"/>
                <a:sym typeface="Poppins"/>
              </a:rPr>
              <a:t>id → angka unik dari metode pembayaran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p</a:t>
            </a:r>
            <a:r>
              <a:rPr lang="en-US" sz="1596">
                <a:solidFill>
                  <a:srgbClr val="000000"/>
                </a:solidFill>
                <a:latin typeface="Poppins"/>
                <a:ea typeface="Poppins"/>
                <a:cs typeface="Poppins"/>
                <a:sym typeface="Poppins"/>
              </a:rPr>
              <a:t>ayment_method → m</a:t>
            </a:r>
            <a:r>
              <a:rPr lang="en-US" sz="1596">
                <a:solidFill>
                  <a:srgbClr val="000000"/>
                </a:solidFill>
                <a:latin typeface="Poppins"/>
                <a:ea typeface="Poppins"/>
                <a:cs typeface="Poppins"/>
                <a:sym typeface="Poppins"/>
              </a:rPr>
              <a:t>etod</a:t>
            </a:r>
            <a:r>
              <a:rPr lang="en-US" sz="1596">
                <a:solidFill>
                  <a:srgbClr val="000000"/>
                </a:solidFill>
                <a:latin typeface="Poppins"/>
                <a:ea typeface="Poppins"/>
                <a:cs typeface="Poppins"/>
                <a:sym typeface="Poppins"/>
              </a:rPr>
              <a:t>e pembayaran yang digu</a:t>
            </a:r>
            <a:r>
              <a:rPr lang="en-US" sz="1596">
                <a:solidFill>
                  <a:srgbClr val="000000"/>
                </a:solidFill>
                <a:latin typeface="Poppins"/>
                <a:ea typeface="Poppins"/>
                <a:cs typeface="Poppins"/>
                <a:sym typeface="Poppins"/>
              </a:rPr>
              <a:t>nakan</a:t>
            </a:r>
          </a:p>
        </p:txBody>
      </p:sp>
      <p:sp>
        <p:nvSpPr>
          <p:cNvPr name="TextBox 26" id="26"/>
          <p:cNvSpPr txBox="true"/>
          <p:nvPr/>
        </p:nvSpPr>
        <p:spPr>
          <a:xfrm rot="0">
            <a:off x="7924211" y="7247235"/>
            <a:ext cx="2554428"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payment_detail</a:t>
            </a:r>
          </a:p>
        </p:txBody>
      </p:sp>
      <p:grpSp>
        <p:nvGrpSpPr>
          <p:cNvPr name="Group 27" id="27"/>
          <p:cNvGrpSpPr/>
          <p:nvPr/>
        </p:nvGrpSpPr>
        <p:grpSpPr>
          <a:xfrm rot="0">
            <a:off x="13059004" y="7285335"/>
            <a:ext cx="4580965" cy="2708060"/>
            <a:chOff x="0" y="0"/>
            <a:chExt cx="1368452" cy="808967"/>
          </a:xfrm>
        </p:grpSpPr>
        <p:sp>
          <p:nvSpPr>
            <p:cNvPr name="Freeform 28" id="28"/>
            <p:cNvSpPr/>
            <p:nvPr/>
          </p:nvSpPr>
          <p:spPr>
            <a:xfrm flipH="false" flipV="false" rot="0">
              <a:off x="0" y="0"/>
              <a:ext cx="1368452" cy="808967"/>
            </a:xfrm>
            <a:custGeom>
              <a:avLst/>
              <a:gdLst/>
              <a:ahLst/>
              <a:cxnLst/>
              <a:rect r="r" b="b" t="t" l="l"/>
              <a:pathLst>
                <a:path h="808967" w="1368452">
                  <a:moveTo>
                    <a:pt x="25350" y="0"/>
                  </a:moveTo>
                  <a:lnTo>
                    <a:pt x="1343102" y="0"/>
                  </a:lnTo>
                  <a:cubicBezTo>
                    <a:pt x="1357103" y="0"/>
                    <a:pt x="1368452" y="11350"/>
                    <a:pt x="1368452" y="25350"/>
                  </a:cubicBezTo>
                  <a:lnTo>
                    <a:pt x="1368452" y="783617"/>
                  </a:lnTo>
                  <a:cubicBezTo>
                    <a:pt x="1368452" y="797618"/>
                    <a:pt x="1357103" y="808967"/>
                    <a:pt x="1343102" y="808967"/>
                  </a:cubicBezTo>
                  <a:lnTo>
                    <a:pt x="25350" y="808967"/>
                  </a:lnTo>
                  <a:cubicBezTo>
                    <a:pt x="11350" y="808967"/>
                    <a:pt x="0" y="797618"/>
                    <a:pt x="0" y="783617"/>
                  </a:cubicBezTo>
                  <a:lnTo>
                    <a:pt x="0" y="25350"/>
                  </a:lnTo>
                  <a:cubicBezTo>
                    <a:pt x="0" y="11350"/>
                    <a:pt x="11350" y="0"/>
                    <a:pt x="25350" y="0"/>
                  </a:cubicBezTo>
                  <a:close/>
                </a:path>
              </a:pathLst>
            </a:custGeom>
            <a:solidFill>
              <a:srgbClr val="BFD9F9"/>
            </a:solidFill>
          </p:spPr>
        </p:sp>
        <p:sp>
          <p:nvSpPr>
            <p:cNvPr name="TextBox 29" id="29"/>
            <p:cNvSpPr txBox="true"/>
            <p:nvPr/>
          </p:nvSpPr>
          <p:spPr>
            <a:xfrm>
              <a:off x="0" y="-47625"/>
              <a:ext cx="1368452" cy="856592"/>
            </a:xfrm>
            <a:prstGeom prst="rect">
              <a:avLst/>
            </a:prstGeom>
          </p:spPr>
          <p:txBody>
            <a:bodyPr anchor="ctr" rtlCol="false" tIns="50800" lIns="50800" bIns="50800" rIns="50800"/>
            <a:lstStyle/>
            <a:p>
              <a:pPr algn="ctr">
                <a:lnSpc>
                  <a:spcPts val="3499"/>
                </a:lnSpc>
              </a:pPr>
            </a:p>
          </p:txBody>
        </p:sp>
      </p:grpSp>
      <p:sp>
        <p:nvSpPr>
          <p:cNvPr name="TextBox 30" id="30"/>
          <p:cNvSpPr txBox="true"/>
          <p:nvPr/>
        </p:nvSpPr>
        <p:spPr>
          <a:xfrm rot="0">
            <a:off x="13196472" y="7681833"/>
            <a:ext cx="4306030" cy="2311562"/>
          </a:xfrm>
          <a:prstGeom prst="rect">
            <a:avLst/>
          </a:prstGeom>
        </p:spPr>
        <p:txBody>
          <a:bodyPr anchor="t" rtlCol="false" tIns="0" lIns="0" bIns="0" rIns="0">
            <a:spAutoFit/>
          </a:bodyPr>
          <a:lstStyle/>
          <a:p>
            <a:pPr algn="just" marL="344729" indent="-172364" lvl="1">
              <a:lnSpc>
                <a:spcPts val="1564"/>
              </a:lnSpc>
              <a:buFont typeface="Arial"/>
              <a:buChar char="•"/>
            </a:pPr>
            <a:r>
              <a:rPr lang="en-US" sz="1596">
                <a:solidFill>
                  <a:srgbClr val="000000"/>
                </a:solidFill>
                <a:latin typeface="Poppins"/>
                <a:ea typeface="Poppins"/>
                <a:cs typeface="Poppins"/>
                <a:sym typeface="Poppins"/>
              </a:rPr>
              <a:t>sku_id → angka unik dari produk (dapat digunakan untuk key saat</a:t>
            </a:r>
            <a:r>
              <a:rPr lang="en-US" sz="1596">
                <a:solidFill>
                  <a:srgbClr val="000000"/>
                </a:solidFill>
                <a:latin typeface="Poppins"/>
                <a:ea typeface="Poppins"/>
                <a:cs typeface="Poppins"/>
                <a:sym typeface="Poppins"/>
              </a:rPr>
              <a:t> join)</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c</a:t>
            </a:r>
            <a:r>
              <a:rPr lang="en-US" sz="1596">
                <a:solidFill>
                  <a:srgbClr val="000000"/>
                </a:solidFill>
                <a:latin typeface="Poppins"/>
                <a:ea typeface="Poppins"/>
                <a:cs typeface="Poppins"/>
                <a:sym typeface="Poppins"/>
              </a:rPr>
              <a:t>ategory → kategori produk</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brand → brand dari produk</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produ</a:t>
            </a:r>
            <a:r>
              <a:rPr lang="en-US" sz="1596">
                <a:solidFill>
                  <a:srgbClr val="000000"/>
                </a:solidFill>
                <a:latin typeface="Poppins"/>
                <a:ea typeface="Poppins"/>
                <a:cs typeface="Poppins"/>
                <a:sym typeface="Poppins"/>
              </a:rPr>
              <a:t>ct → tipe/jenis produk</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var</a:t>
            </a:r>
            <a:r>
              <a:rPr lang="en-US" sz="1596">
                <a:solidFill>
                  <a:srgbClr val="000000"/>
                </a:solidFill>
                <a:latin typeface="Poppins"/>
                <a:ea typeface="Poppins"/>
                <a:cs typeface="Poppins"/>
                <a:sym typeface="Poppins"/>
              </a:rPr>
              <a:t>iant → variasi produk</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sku_name → n</a:t>
            </a:r>
            <a:r>
              <a:rPr lang="en-US" sz="1596">
                <a:solidFill>
                  <a:srgbClr val="000000"/>
                </a:solidFill>
                <a:latin typeface="Poppins"/>
                <a:ea typeface="Poppins"/>
                <a:cs typeface="Poppins"/>
                <a:sym typeface="Poppins"/>
              </a:rPr>
              <a:t>ama dari produk</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price → harga barang yang tertera pada tagging harga / price</a:t>
            </a:r>
          </a:p>
          <a:p>
            <a:pPr algn="just" marL="344729" indent="-172364" lvl="1">
              <a:lnSpc>
                <a:spcPts val="1564"/>
              </a:lnSpc>
              <a:buFont typeface="Arial"/>
              <a:buChar char="•"/>
            </a:pPr>
            <a:r>
              <a:rPr lang="en-US" sz="1596">
                <a:solidFill>
                  <a:srgbClr val="000000"/>
                </a:solidFill>
                <a:latin typeface="Poppins"/>
                <a:ea typeface="Poppins"/>
                <a:cs typeface="Poppins"/>
                <a:sym typeface="Poppins"/>
              </a:rPr>
              <a:t>cogs → cost of goods sold</a:t>
            </a:r>
            <a:r>
              <a:rPr lang="en-US" sz="1596">
                <a:solidFill>
                  <a:srgbClr val="000000"/>
                </a:solidFill>
                <a:latin typeface="Poppins"/>
                <a:ea typeface="Poppins"/>
                <a:cs typeface="Poppins"/>
                <a:sym typeface="Poppins"/>
              </a:rPr>
              <a:t> / total biaya</a:t>
            </a:r>
            <a:r>
              <a:rPr lang="en-US" sz="1596">
                <a:solidFill>
                  <a:srgbClr val="000000"/>
                </a:solidFill>
                <a:latin typeface="Poppins"/>
                <a:ea typeface="Poppins"/>
                <a:cs typeface="Poppins"/>
                <a:sym typeface="Poppins"/>
              </a:rPr>
              <a:t> untuk menjual 1 produk</a:t>
            </a:r>
          </a:p>
          <a:p>
            <a:pPr algn="just">
              <a:lnSpc>
                <a:spcPts val="1564"/>
              </a:lnSpc>
            </a:pPr>
          </a:p>
        </p:txBody>
      </p:sp>
      <p:sp>
        <p:nvSpPr>
          <p:cNvPr name="TextBox 31" id="31"/>
          <p:cNvSpPr txBox="true"/>
          <p:nvPr/>
        </p:nvSpPr>
        <p:spPr>
          <a:xfrm rot="0">
            <a:off x="13059004" y="7247235"/>
            <a:ext cx="2123820"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product_detail</a:t>
            </a:r>
          </a:p>
        </p:txBody>
      </p:sp>
      <p:sp>
        <p:nvSpPr>
          <p:cNvPr name="TextBox 32" id="32"/>
          <p:cNvSpPr txBox="true"/>
          <p:nvPr/>
        </p:nvSpPr>
        <p:spPr>
          <a:xfrm rot="0">
            <a:off x="751951" y="7634699"/>
            <a:ext cx="6702218" cy="2311562"/>
          </a:xfrm>
          <a:prstGeom prst="rect">
            <a:avLst/>
          </a:prstGeom>
        </p:spPr>
        <p:txBody>
          <a:bodyPr anchor="t" rtlCol="false" tIns="0" lIns="0" bIns="0" rIns="0">
            <a:spAutoFit/>
          </a:bodyPr>
          <a:lstStyle/>
          <a:p>
            <a:pPr algn="l" marL="344729" indent="-172364" lvl="1">
              <a:lnSpc>
                <a:spcPts val="1564"/>
              </a:lnSpc>
              <a:buFont typeface="Arial"/>
              <a:buChar char="•"/>
            </a:pPr>
            <a:r>
              <a:rPr lang="en-US" sz="1596">
                <a:solidFill>
                  <a:srgbClr val="000000"/>
                </a:solidFill>
                <a:latin typeface="Poppins"/>
                <a:ea typeface="Poppins"/>
                <a:cs typeface="Poppins"/>
                <a:sym typeface="Poppins"/>
              </a:rPr>
              <a:t>funnel_id → angka unik dari funnel</a:t>
            </a:r>
          </a:p>
          <a:p>
            <a:pPr algn="l" marL="344729" indent="-172364" lvl="1">
              <a:lnSpc>
                <a:spcPts val="1564"/>
              </a:lnSpc>
              <a:buFont typeface="Arial"/>
              <a:buChar char="•"/>
            </a:pPr>
            <a:r>
              <a:rPr lang="en-US" sz="1596">
                <a:solidFill>
                  <a:srgbClr val="000000"/>
                </a:solidFill>
                <a:latin typeface="Poppins"/>
                <a:ea typeface="Poppins"/>
                <a:cs typeface="Poppins"/>
                <a:sym typeface="Poppins"/>
              </a:rPr>
              <a:t>channel_source → sumber da</a:t>
            </a:r>
            <a:r>
              <a:rPr lang="en-US" sz="1596">
                <a:solidFill>
                  <a:srgbClr val="000000"/>
                </a:solidFill>
                <a:latin typeface="Poppins"/>
                <a:ea typeface="Poppins"/>
                <a:cs typeface="Poppins"/>
                <a:sym typeface="Poppins"/>
              </a:rPr>
              <a:t>ri channel</a:t>
            </a:r>
          </a:p>
          <a:p>
            <a:pPr algn="l" marL="344729" indent="-172364" lvl="1">
              <a:lnSpc>
                <a:spcPts val="1564"/>
              </a:lnSpc>
              <a:buFont typeface="Arial"/>
              <a:buChar char="•"/>
            </a:pPr>
            <a:r>
              <a:rPr lang="en-US" sz="1596">
                <a:solidFill>
                  <a:srgbClr val="000000"/>
                </a:solidFill>
                <a:latin typeface="Poppins"/>
                <a:ea typeface="Poppins"/>
                <a:cs typeface="Poppins"/>
                <a:sym typeface="Poppins"/>
              </a:rPr>
              <a:t>customer_id → angka unik dari pelanggan</a:t>
            </a:r>
          </a:p>
          <a:p>
            <a:pPr algn="l" marL="344729" indent="-172364" lvl="1">
              <a:lnSpc>
                <a:spcPts val="1564"/>
              </a:lnSpc>
              <a:buFont typeface="Arial"/>
              <a:buChar char="•"/>
            </a:pPr>
            <a:r>
              <a:rPr lang="en-US" sz="1596">
                <a:solidFill>
                  <a:srgbClr val="000000"/>
                </a:solidFill>
                <a:latin typeface="Poppins"/>
                <a:ea typeface="Poppins"/>
                <a:cs typeface="Poppins"/>
                <a:sym typeface="Poppins"/>
              </a:rPr>
              <a:t>sku_id → angka unik dari produk (dapat digunakan unt</a:t>
            </a:r>
            <a:r>
              <a:rPr lang="en-US" sz="1596">
                <a:solidFill>
                  <a:srgbClr val="000000"/>
                </a:solidFill>
                <a:latin typeface="Poppins"/>
                <a:ea typeface="Poppins"/>
                <a:cs typeface="Poppins"/>
                <a:sym typeface="Poppins"/>
              </a:rPr>
              <a:t>uk key saat join)</a:t>
            </a:r>
          </a:p>
          <a:p>
            <a:pPr algn="l" marL="344729" indent="-172364" lvl="1">
              <a:lnSpc>
                <a:spcPts val="1564"/>
              </a:lnSpc>
              <a:buFont typeface="Arial"/>
              <a:buChar char="•"/>
            </a:pPr>
            <a:r>
              <a:rPr lang="en-US" sz="1596">
                <a:solidFill>
                  <a:srgbClr val="000000"/>
                </a:solidFill>
                <a:latin typeface="Poppins"/>
                <a:ea typeface="Poppins"/>
                <a:cs typeface="Poppins"/>
                <a:sym typeface="Poppins"/>
              </a:rPr>
              <a:t>funnel date → t</a:t>
            </a:r>
            <a:r>
              <a:rPr lang="en-US" sz="1596">
                <a:solidFill>
                  <a:srgbClr val="000000"/>
                </a:solidFill>
                <a:latin typeface="Poppins"/>
                <a:ea typeface="Poppins"/>
                <a:cs typeface="Poppins"/>
                <a:sym typeface="Poppins"/>
              </a:rPr>
              <a:t>anggal dari funnel</a:t>
            </a:r>
          </a:p>
          <a:p>
            <a:pPr algn="l" marL="344729" indent="-172364" lvl="1">
              <a:lnSpc>
                <a:spcPts val="1564"/>
              </a:lnSpc>
              <a:buFont typeface="Arial"/>
              <a:buChar char="•"/>
            </a:pPr>
            <a:r>
              <a:rPr lang="en-US" sz="1596">
                <a:solidFill>
                  <a:srgbClr val="000000"/>
                </a:solidFill>
                <a:latin typeface="Poppins"/>
                <a:ea typeface="Poppins"/>
                <a:cs typeface="Poppins"/>
                <a:sym typeface="Poppins"/>
              </a:rPr>
              <a:t>status → status transaction</a:t>
            </a:r>
          </a:p>
          <a:p>
            <a:pPr algn="l" marL="344729" indent="-172364" lvl="1">
              <a:lnSpc>
                <a:spcPts val="1564"/>
              </a:lnSpc>
              <a:buFont typeface="Arial"/>
              <a:buChar char="•"/>
            </a:pPr>
            <a:r>
              <a:rPr lang="en-US" sz="1596">
                <a:solidFill>
                  <a:srgbClr val="000000"/>
                </a:solidFill>
                <a:latin typeface="Poppins"/>
                <a:ea typeface="Poppins"/>
                <a:cs typeface="Poppins"/>
                <a:sym typeface="Poppins"/>
              </a:rPr>
              <a:t>event → sumber dari funnel. organic = proses normal; click to buy = dari</a:t>
            </a:r>
          </a:p>
          <a:p>
            <a:pPr algn="l" marL="344729" indent="-172364" lvl="1">
              <a:lnSpc>
                <a:spcPts val="1564"/>
              </a:lnSpc>
              <a:buFont typeface="Arial"/>
              <a:buChar char="•"/>
            </a:pPr>
            <a:r>
              <a:rPr lang="en-US" sz="1596">
                <a:solidFill>
                  <a:srgbClr val="000000"/>
                </a:solidFill>
                <a:latin typeface="Poppins"/>
                <a:ea typeface="Poppins"/>
                <a:cs typeface="Poppins"/>
                <a:sym typeface="Poppins"/>
              </a:rPr>
              <a:t> ad</a:t>
            </a:r>
            <a:r>
              <a:rPr lang="en-US" sz="1596">
                <a:solidFill>
                  <a:srgbClr val="000000"/>
                </a:solidFill>
                <a:latin typeface="Poppins"/>
                <a:ea typeface="Poppins"/>
                <a:cs typeface="Poppins"/>
                <a:sym typeface="Poppins"/>
              </a:rPr>
              <a:t>s / landing page</a:t>
            </a:r>
          </a:p>
          <a:p>
            <a:pPr algn="l" marL="344729" indent="-172364" lvl="1">
              <a:lnSpc>
                <a:spcPts val="1564"/>
              </a:lnSpc>
              <a:buFont typeface="Arial"/>
              <a:buChar char="•"/>
            </a:pPr>
            <a:r>
              <a:rPr lang="en-US" sz="1596">
                <a:solidFill>
                  <a:srgbClr val="000000"/>
                </a:solidFill>
                <a:latin typeface="Poppins"/>
                <a:ea typeface="Poppins"/>
                <a:cs typeface="Poppins"/>
                <a:sym typeface="Poppins"/>
              </a:rPr>
              <a:t>orde</a:t>
            </a:r>
            <a:r>
              <a:rPr lang="en-US" sz="1596">
                <a:solidFill>
                  <a:srgbClr val="000000"/>
                </a:solidFill>
                <a:latin typeface="Poppins"/>
                <a:ea typeface="Poppins"/>
                <a:cs typeface="Poppins"/>
                <a:sym typeface="Poppins"/>
              </a:rPr>
              <a:t>r_id → angka unik dari transaksi (1 transaction id &gt; 1 order_id)</a:t>
            </a:r>
          </a:p>
        </p:txBody>
      </p:sp>
      <p:sp>
        <p:nvSpPr>
          <p:cNvPr name="TextBox 33" id="33"/>
          <p:cNvSpPr txBox="true"/>
          <p:nvPr/>
        </p:nvSpPr>
        <p:spPr>
          <a:xfrm rot="0">
            <a:off x="13491134" y="2732751"/>
            <a:ext cx="3716707" cy="4081704"/>
          </a:xfrm>
          <a:prstGeom prst="rect">
            <a:avLst/>
          </a:prstGeom>
        </p:spPr>
        <p:txBody>
          <a:bodyPr anchor="t" rtlCol="false" tIns="0" lIns="0" bIns="0" rIns="0">
            <a:spAutoFit/>
          </a:bodyPr>
          <a:lstStyle/>
          <a:p>
            <a:pPr algn="l" marL="344728" indent="-172364" lvl="1">
              <a:lnSpc>
                <a:spcPts val="1564"/>
              </a:lnSpc>
              <a:buFont typeface="Arial"/>
              <a:buChar char="•"/>
            </a:pPr>
            <a:r>
              <a:rPr lang="en-US" sz="1596">
                <a:solidFill>
                  <a:srgbClr val="000000"/>
                </a:solidFill>
                <a:latin typeface="Poppins"/>
                <a:ea typeface="Poppins"/>
                <a:cs typeface="Poppins"/>
                <a:sym typeface="Poppins"/>
              </a:rPr>
              <a:t>tra</a:t>
            </a:r>
            <a:r>
              <a:rPr lang="en-US" sz="1596">
                <a:solidFill>
                  <a:srgbClr val="000000"/>
                </a:solidFill>
                <a:latin typeface="Poppins"/>
                <a:ea typeface="Poppins"/>
                <a:cs typeface="Poppins"/>
                <a:sym typeface="Poppins"/>
              </a:rPr>
              <a:t>nsaction_id → angka unik dari transaksi (1 transaction id &gt; 1 order_id)</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transaction_date → tanggal saat dilakukan</a:t>
            </a:r>
            <a:r>
              <a:rPr lang="en-US" sz="1596">
                <a:solidFill>
                  <a:srgbClr val="000000"/>
                </a:solidFill>
                <a:latin typeface="Poppins"/>
                <a:ea typeface="Poppins"/>
                <a:cs typeface="Poppins"/>
                <a:sym typeface="Poppins"/>
              </a:rPr>
              <a:t> transaksi</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customer_id → angka unik dari pelanggan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payment</a:t>
            </a:r>
            <a:r>
              <a:rPr lang="en-US" sz="1596">
                <a:solidFill>
                  <a:srgbClr val="000000"/>
                </a:solidFill>
                <a:latin typeface="Poppins"/>
                <a:ea typeface="Poppins"/>
                <a:cs typeface="Poppins"/>
                <a:sym typeface="Poppins"/>
              </a:rPr>
              <a:t>_method → metode pembayaran yang digunakan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before_tax → harga total</a:t>
            </a:r>
            <a:r>
              <a:rPr lang="en-US" sz="1596">
                <a:solidFill>
                  <a:srgbClr val="000000"/>
                </a:solidFill>
                <a:latin typeface="Poppins"/>
                <a:ea typeface="Poppins"/>
                <a:cs typeface="Poppins"/>
                <a:sym typeface="Poppins"/>
              </a:rPr>
              <a:t> transaksi sebelum pajak</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tax → nominal pajak per tr</a:t>
            </a:r>
            <a:r>
              <a:rPr lang="en-US" sz="1596">
                <a:solidFill>
                  <a:srgbClr val="000000"/>
                </a:solidFill>
                <a:latin typeface="Poppins"/>
                <a:ea typeface="Poppins"/>
                <a:cs typeface="Poppins"/>
                <a:sym typeface="Poppins"/>
              </a:rPr>
              <a:t>ansaksi</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after_tax → harga total transaksi setelah pajak</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shipping cost → biaya pengiriman</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transaction discount → total di</a:t>
            </a:r>
            <a:r>
              <a:rPr lang="en-US" sz="1596">
                <a:solidFill>
                  <a:srgbClr val="000000"/>
                </a:solidFill>
                <a:latin typeface="Poppins"/>
                <a:ea typeface="Poppins"/>
                <a:cs typeface="Poppins"/>
                <a:sym typeface="Poppins"/>
              </a:rPr>
              <a:t>skon transaksi</a:t>
            </a:r>
          </a:p>
          <a:p>
            <a:pPr algn="just" marL="344728" indent="-172364" lvl="1">
              <a:lnSpc>
                <a:spcPts val="1564"/>
              </a:lnSpc>
              <a:buFont typeface="Arial"/>
              <a:buChar char="•"/>
            </a:pPr>
            <a:r>
              <a:rPr lang="en-US" sz="1596">
                <a:solidFill>
                  <a:srgbClr val="000000"/>
                </a:solidFill>
                <a:latin typeface="Poppins"/>
                <a:ea typeface="Poppins"/>
                <a:cs typeface="Poppins"/>
                <a:sym typeface="Poppins"/>
              </a:rPr>
              <a:t>total pa</a:t>
            </a:r>
            <a:r>
              <a:rPr lang="en-US" sz="1596">
                <a:solidFill>
                  <a:srgbClr val="000000"/>
                </a:solidFill>
                <a:latin typeface="Poppins"/>
                <a:ea typeface="Poppins"/>
                <a:cs typeface="Poppins"/>
                <a:sym typeface="Poppins"/>
              </a:rPr>
              <a:t>id → total biaya transaksi yang dibayarkan pelanggan</a:t>
            </a:r>
          </a:p>
        </p:txBody>
      </p:sp>
      <p:sp>
        <p:nvSpPr>
          <p:cNvPr name="TextBox 34" id="34"/>
          <p:cNvSpPr txBox="true"/>
          <p:nvPr/>
        </p:nvSpPr>
        <p:spPr>
          <a:xfrm rot="0">
            <a:off x="367633" y="7247235"/>
            <a:ext cx="2554428"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funnel_detail</a:t>
            </a:r>
          </a:p>
        </p:txBody>
      </p:sp>
      <p:sp>
        <p:nvSpPr>
          <p:cNvPr name="TextBox 35" id="35"/>
          <p:cNvSpPr txBox="true"/>
          <p:nvPr/>
        </p:nvSpPr>
        <p:spPr>
          <a:xfrm rot="0">
            <a:off x="8038031" y="2204721"/>
            <a:ext cx="2554428"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customer_detail</a:t>
            </a:r>
          </a:p>
        </p:txBody>
      </p:sp>
      <p:sp>
        <p:nvSpPr>
          <p:cNvPr name="TextBox 36" id="36"/>
          <p:cNvSpPr txBox="true"/>
          <p:nvPr/>
        </p:nvSpPr>
        <p:spPr>
          <a:xfrm rot="0">
            <a:off x="13196472" y="2204721"/>
            <a:ext cx="2554428" cy="368414"/>
          </a:xfrm>
          <a:prstGeom prst="rect">
            <a:avLst/>
          </a:prstGeom>
        </p:spPr>
        <p:txBody>
          <a:bodyPr anchor="t" rtlCol="false" tIns="0" lIns="0" bIns="0" rIns="0">
            <a:spAutoFit/>
          </a:bodyPr>
          <a:lstStyle/>
          <a:p>
            <a:pPr algn="ctr">
              <a:lnSpc>
                <a:spcPts val="3085"/>
              </a:lnSpc>
            </a:pPr>
            <a:r>
              <a:rPr lang="en-US" b="true" sz="2204">
                <a:solidFill>
                  <a:srgbClr val="1E293B"/>
                </a:solidFill>
                <a:latin typeface="Open Sans Bold"/>
                <a:ea typeface="Open Sans Bold"/>
                <a:cs typeface="Open Sans Bold"/>
                <a:sym typeface="Open Sans Bold"/>
              </a:rPr>
              <a:t>transaction_detail</a:t>
            </a:r>
          </a:p>
        </p:txBody>
      </p:sp>
      <p:grpSp>
        <p:nvGrpSpPr>
          <p:cNvPr name="Group 37" id="37"/>
          <p:cNvGrpSpPr/>
          <p:nvPr/>
        </p:nvGrpSpPr>
        <p:grpSpPr>
          <a:xfrm rot="0">
            <a:off x="12901387" y="-2897027"/>
            <a:ext cx="4996973" cy="4996973"/>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327005" y="-4168773"/>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741948" y="-41049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2731230" y="1926156"/>
            <a:ext cx="12825541" cy="8044179"/>
          </a:xfrm>
          <a:custGeom>
            <a:avLst/>
            <a:gdLst/>
            <a:ahLst/>
            <a:cxnLst/>
            <a:rect r="r" b="b" t="t" l="l"/>
            <a:pathLst>
              <a:path h="8044179" w="12825541">
                <a:moveTo>
                  <a:pt x="0" y="0"/>
                </a:moveTo>
                <a:lnTo>
                  <a:pt x="12825540" y="0"/>
                </a:lnTo>
                <a:lnTo>
                  <a:pt x="12825540" y="8044180"/>
                </a:lnTo>
                <a:lnTo>
                  <a:pt x="0" y="8044180"/>
                </a:lnTo>
                <a:lnTo>
                  <a:pt x="0" y="0"/>
                </a:lnTo>
                <a:close/>
              </a:path>
            </a:pathLst>
          </a:custGeom>
          <a:blipFill>
            <a:blip r:embed="rId2"/>
            <a:stretch>
              <a:fillRect l="0" t="0" r="0" b="0"/>
            </a:stretch>
          </a:blipFill>
        </p:spPr>
      </p:sp>
      <p:sp>
        <p:nvSpPr>
          <p:cNvPr name="TextBox 12" id="12"/>
          <p:cNvSpPr txBox="true"/>
          <p:nvPr/>
        </p:nvSpPr>
        <p:spPr>
          <a:xfrm rot="0">
            <a:off x="1028700" y="797761"/>
            <a:ext cx="7662838"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Data Schema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873406" y="1028700"/>
            <a:ext cx="14541189" cy="9039599"/>
          </a:xfrm>
          <a:custGeom>
            <a:avLst/>
            <a:gdLst/>
            <a:ahLst/>
            <a:cxnLst/>
            <a:rect r="r" b="b" t="t" l="l"/>
            <a:pathLst>
              <a:path h="9039599" w="14541189">
                <a:moveTo>
                  <a:pt x="0" y="0"/>
                </a:moveTo>
                <a:lnTo>
                  <a:pt x="14541188" y="0"/>
                </a:lnTo>
                <a:lnTo>
                  <a:pt x="14541188" y="9039599"/>
                </a:lnTo>
                <a:lnTo>
                  <a:pt x="0" y="9039599"/>
                </a:lnTo>
                <a:lnTo>
                  <a:pt x="0" y="0"/>
                </a:lnTo>
                <a:close/>
              </a:path>
            </a:pathLst>
          </a:custGeom>
          <a:blipFill>
            <a:blip r:embed="rId2"/>
            <a:stretch>
              <a:fillRect l="0" t="-297" r="0" b="-297"/>
            </a:stretch>
          </a:blipFill>
        </p:spPr>
      </p:sp>
      <p:sp>
        <p:nvSpPr>
          <p:cNvPr name="TextBox 6" id="6"/>
          <p:cNvSpPr txBox="true"/>
          <p:nvPr/>
        </p:nvSpPr>
        <p:spPr>
          <a:xfrm rot="0">
            <a:off x="1028700" y="587984"/>
            <a:ext cx="8115300" cy="967157"/>
          </a:xfrm>
          <a:prstGeom prst="rect">
            <a:avLst/>
          </a:prstGeom>
        </p:spPr>
        <p:txBody>
          <a:bodyPr anchor="t" rtlCol="false" tIns="0" lIns="0" bIns="0" rIns="0">
            <a:spAutoFit/>
          </a:bodyPr>
          <a:lstStyle/>
          <a:p>
            <a:pPr algn="r">
              <a:lnSpc>
                <a:spcPts val="6798"/>
              </a:lnSpc>
            </a:pPr>
            <a:r>
              <a:rPr lang="en-US" sz="6937" b="true">
                <a:solidFill>
                  <a:srgbClr val="1E293B"/>
                </a:solidFill>
                <a:latin typeface="Poppins Semi-Bold"/>
                <a:ea typeface="Poppins Semi-Bold"/>
                <a:cs typeface="Poppins Semi-Bold"/>
                <a:sym typeface="Poppins Semi-Bold"/>
              </a:rPr>
              <a:t>Validate the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3391230" y="5376390"/>
            <a:ext cx="562492" cy="452200"/>
            <a:chOff x="0" y="0"/>
            <a:chExt cx="647700" cy="520700"/>
          </a:xfrm>
        </p:grpSpPr>
        <p:sp>
          <p:nvSpPr>
            <p:cNvPr name="Freeform 6" id="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7" id="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5400000">
            <a:off x="5271488" y="9366046"/>
            <a:ext cx="562492" cy="452200"/>
            <a:chOff x="0" y="0"/>
            <a:chExt cx="647700" cy="520700"/>
          </a:xfrm>
        </p:grpSpPr>
        <p:sp>
          <p:nvSpPr>
            <p:cNvPr name="Freeform 9" id="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0" id="10"/>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5400000">
            <a:off x="11082377" y="9871295"/>
            <a:ext cx="562492" cy="452200"/>
            <a:chOff x="0" y="0"/>
            <a:chExt cx="647700" cy="520700"/>
          </a:xfrm>
        </p:grpSpPr>
        <p:sp>
          <p:nvSpPr>
            <p:cNvPr name="Freeform 12" id="12"/>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3" id="13"/>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5400000">
            <a:off x="18002497" y="6480088"/>
            <a:ext cx="562492" cy="452200"/>
            <a:chOff x="0" y="0"/>
            <a:chExt cx="647700" cy="520700"/>
          </a:xfrm>
        </p:grpSpPr>
        <p:sp>
          <p:nvSpPr>
            <p:cNvPr name="Freeform 15" id="15"/>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6" id="16"/>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1028700" y="3725483"/>
            <a:ext cx="16230600" cy="1324562"/>
            <a:chOff x="0" y="0"/>
            <a:chExt cx="4274726" cy="348856"/>
          </a:xfrm>
        </p:grpSpPr>
        <p:sp>
          <p:nvSpPr>
            <p:cNvPr name="Freeform 18" id="18"/>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19" id="19"/>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028700" y="5316746"/>
            <a:ext cx="16230600" cy="1324562"/>
            <a:chOff x="0" y="0"/>
            <a:chExt cx="4274726" cy="348856"/>
          </a:xfrm>
        </p:grpSpPr>
        <p:sp>
          <p:nvSpPr>
            <p:cNvPr name="Freeform 21" id="21"/>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2" id="22"/>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028700" y="6908008"/>
            <a:ext cx="16230600" cy="1324562"/>
            <a:chOff x="0" y="0"/>
            <a:chExt cx="4274726" cy="348856"/>
          </a:xfrm>
        </p:grpSpPr>
        <p:sp>
          <p:nvSpPr>
            <p:cNvPr name="Freeform 24" id="24"/>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5" id="25"/>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1028700" y="8499270"/>
            <a:ext cx="16230600" cy="1324562"/>
            <a:chOff x="0" y="0"/>
            <a:chExt cx="4274726" cy="348856"/>
          </a:xfrm>
        </p:grpSpPr>
        <p:sp>
          <p:nvSpPr>
            <p:cNvPr name="Freeform 27" id="27"/>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8" id="28"/>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29" id="29"/>
          <p:cNvSpPr/>
          <p:nvPr/>
        </p:nvSpPr>
        <p:spPr>
          <a:xfrm flipH="false" flipV="false" rot="0">
            <a:off x="1401776" y="4022282"/>
            <a:ext cx="726467" cy="726467"/>
          </a:xfrm>
          <a:custGeom>
            <a:avLst/>
            <a:gdLst/>
            <a:ahLst/>
            <a:cxnLst/>
            <a:rect r="r" b="b" t="t" l="l"/>
            <a:pathLst>
              <a:path h="726467" w="726467">
                <a:moveTo>
                  <a:pt x="0" y="0"/>
                </a:moveTo>
                <a:lnTo>
                  <a:pt x="726467" y="0"/>
                </a:lnTo>
                <a:lnTo>
                  <a:pt x="726467" y="726467"/>
                </a:lnTo>
                <a:lnTo>
                  <a:pt x="0" y="726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1322641" y="5602490"/>
            <a:ext cx="884736" cy="654704"/>
          </a:xfrm>
          <a:custGeom>
            <a:avLst/>
            <a:gdLst/>
            <a:ahLst/>
            <a:cxnLst/>
            <a:rect r="r" b="b" t="t" l="l"/>
            <a:pathLst>
              <a:path h="654704" w="884736">
                <a:moveTo>
                  <a:pt x="0" y="0"/>
                </a:moveTo>
                <a:lnTo>
                  <a:pt x="884736" y="0"/>
                </a:lnTo>
                <a:lnTo>
                  <a:pt x="884736" y="654704"/>
                </a:lnTo>
                <a:lnTo>
                  <a:pt x="0" y="654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1504905" y="7267843"/>
            <a:ext cx="520208" cy="604893"/>
          </a:xfrm>
          <a:custGeom>
            <a:avLst/>
            <a:gdLst/>
            <a:ahLst/>
            <a:cxnLst/>
            <a:rect r="r" b="b" t="t" l="l"/>
            <a:pathLst>
              <a:path h="604893" w="520208">
                <a:moveTo>
                  <a:pt x="0" y="0"/>
                </a:moveTo>
                <a:lnTo>
                  <a:pt x="520208" y="0"/>
                </a:lnTo>
                <a:lnTo>
                  <a:pt x="520208" y="604893"/>
                </a:lnTo>
                <a:lnTo>
                  <a:pt x="0" y="6048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1365094" y="8762016"/>
            <a:ext cx="799831" cy="799831"/>
          </a:xfrm>
          <a:custGeom>
            <a:avLst/>
            <a:gdLst/>
            <a:ahLst/>
            <a:cxnLst/>
            <a:rect r="r" b="b" t="t" l="l"/>
            <a:pathLst>
              <a:path h="799831" w="799831">
                <a:moveTo>
                  <a:pt x="0" y="0"/>
                </a:moveTo>
                <a:lnTo>
                  <a:pt x="799830" y="0"/>
                </a:lnTo>
                <a:lnTo>
                  <a:pt x="799830" y="799831"/>
                </a:lnTo>
                <a:lnTo>
                  <a:pt x="0" y="799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3" id="33"/>
          <p:cNvSpPr txBox="true"/>
          <p:nvPr/>
        </p:nvSpPr>
        <p:spPr>
          <a:xfrm rot="0">
            <a:off x="1028700" y="848448"/>
            <a:ext cx="14269556"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Business Case Overview</a:t>
            </a:r>
          </a:p>
        </p:txBody>
      </p:sp>
      <p:sp>
        <p:nvSpPr>
          <p:cNvPr name="TextBox 34" id="34"/>
          <p:cNvSpPr txBox="true"/>
          <p:nvPr/>
        </p:nvSpPr>
        <p:spPr>
          <a:xfrm rot="0">
            <a:off x="1452204" y="10111996"/>
            <a:ext cx="3105692" cy="829251"/>
          </a:xfrm>
          <a:prstGeom prst="rect">
            <a:avLst/>
          </a:prstGeom>
        </p:spPr>
        <p:txBody>
          <a:bodyPr anchor="t" rtlCol="false" tIns="0" lIns="0" bIns="0" rIns="0">
            <a:spAutoFit/>
          </a:bodyPr>
          <a:lstStyle/>
          <a:p>
            <a:pPr algn="ctr">
              <a:lnSpc>
                <a:spcPts val="3050"/>
              </a:lnSpc>
            </a:pPr>
            <a:r>
              <a:rPr lang="en-US" sz="3112" b="true">
                <a:solidFill>
                  <a:srgbClr val="F4F9FD"/>
                </a:solidFill>
                <a:latin typeface="Poppins Semi-Bold"/>
                <a:ea typeface="Poppins Semi-Bold"/>
                <a:cs typeface="Poppins Semi-Bold"/>
                <a:sym typeface="Poppins Semi-Bold"/>
              </a:rPr>
              <a:t>Business Case</a:t>
            </a:r>
          </a:p>
          <a:p>
            <a:pPr algn="ctr">
              <a:lnSpc>
                <a:spcPts val="3050"/>
              </a:lnSpc>
            </a:pPr>
            <a:r>
              <a:rPr lang="en-US" sz="3112" b="true">
                <a:solidFill>
                  <a:srgbClr val="F4F9FD"/>
                </a:solidFill>
                <a:latin typeface="Poppins Semi-Bold"/>
                <a:ea typeface="Poppins Semi-Bold"/>
                <a:cs typeface="Poppins Semi-Bold"/>
                <a:sym typeface="Poppins Semi-Bold"/>
              </a:rPr>
              <a:t>Overview</a:t>
            </a:r>
          </a:p>
        </p:txBody>
      </p:sp>
      <p:grpSp>
        <p:nvGrpSpPr>
          <p:cNvPr name="Group 35" id="35"/>
          <p:cNvGrpSpPr/>
          <p:nvPr/>
        </p:nvGrpSpPr>
        <p:grpSpPr>
          <a:xfrm rot="0">
            <a:off x="2415394" y="3820607"/>
            <a:ext cx="5749107" cy="1134316"/>
            <a:chOff x="0" y="0"/>
            <a:chExt cx="7665476" cy="1512421"/>
          </a:xfrm>
        </p:grpSpPr>
        <p:sp>
          <p:nvSpPr>
            <p:cNvPr name="TextBox 36" id="36"/>
            <p:cNvSpPr txBox="true"/>
            <p:nvPr/>
          </p:nvSpPr>
          <p:spPr>
            <a:xfrm rot="0">
              <a:off x="0" y="28575"/>
              <a:ext cx="1455061"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2</a:t>
              </a:r>
            </a:p>
          </p:txBody>
        </p:sp>
        <p:sp>
          <p:nvSpPr>
            <p:cNvPr name="TextBox 37" id="37"/>
            <p:cNvSpPr txBox="true"/>
            <p:nvPr/>
          </p:nvSpPr>
          <p:spPr>
            <a:xfrm rot="0">
              <a:off x="0" y="590084"/>
              <a:ext cx="632695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Tren Penjualan Kategori 2020–2024</a:t>
              </a:r>
            </a:p>
          </p:txBody>
        </p:sp>
        <p:sp>
          <p:nvSpPr>
            <p:cNvPr name="TextBox 38" id="38"/>
            <p:cNvSpPr txBox="true"/>
            <p:nvPr/>
          </p:nvSpPr>
          <p:spPr>
            <a:xfrm rot="0">
              <a:off x="0" y="1119864"/>
              <a:ext cx="766547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Warehouse Manager • Deadline 7 Jan 2025</a:t>
              </a:r>
            </a:p>
          </p:txBody>
        </p:sp>
      </p:grpSp>
      <p:grpSp>
        <p:nvGrpSpPr>
          <p:cNvPr name="Group 39" id="39"/>
          <p:cNvGrpSpPr/>
          <p:nvPr/>
        </p:nvGrpSpPr>
        <p:grpSpPr>
          <a:xfrm rot="0">
            <a:off x="2415394" y="5411996"/>
            <a:ext cx="5651591" cy="1134316"/>
            <a:chOff x="0" y="0"/>
            <a:chExt cx="7535454" cy="1512421"/>
          </a:xfrm>
        </p:grpSpPr>
        <p:sp>
          <p:nvSpPr>
            <p:cNvPr name="TextBox 40" id="40"/>
            <p:cNvSpPr txBox="true"/>
            <p:nvPr/>
          </p:nvSpPr>
          <p:spPr>
            <a:xfrm rot="0">
              <a:off x="0" y="28575"/>
              <a:ext cx="1456317"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3</a:t>
              </a:r>
            </a:p>
          </p:txBody>
        </p:sp>
        <p:sp>
          <p:nvSpPr>
            <p:cNvPr name="TextBox 41" id="41"/>
            <p:cNvSpPr txBox="true"/>
            <p:nvPr/>
          </p:nvSpPr>
          <p:spPr>
            <a:xfrm rot="0">
              <a:off x="0" y="590084"/>
              <a:ext cx="678163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Pertumbuhan Channel per Bulan 2024</a:t>
              </a:r>
            </a:p>
          </p:txBody>
        </p:sp>
        <p:sp>
          <p:nvSpPr>
            <p:cNvPr name="TextBox 42" id="42"/>
            <p:cNvSpPr txBox="true"/>
            <p:nvPr/>
          </p:nvSpPr>
          <p:spPr>
            <a:xfrm rot="0">
              <a:off x="0" y="1119864"/>
              <a:ext cx="7535454"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Marketing Manager • Deadline 10 Jan 2025</a:t>
              </a:r>
            </a:p>
          </p:txBody>
        </p:sp>
      </p:grpSp>
      <p:grpSp>
        <p:nvGrpSpPr>
          <p:cNvPr name="Group 43" id="43"/>
          <p:cNvGrpSpPr/>
          <p:nvPr/>
        </p:nvGrpSpPr>
        <p:grpSpPr>
          <a:xfrm rot="0">
            <a:off x="2415394" y="7003385"/>
            <a:ext cx="5733903" cy="1134316"/>
            <a:chOff x="0" y="0"/>
            <a:chExt cx="7645204" cy="1512421"/>
          </a:xfrm>
        </p:grpSpPr>
        <p:sp>
          <p:nvSpPr>
            <p:cNvPr name="TextBox 44" id="44"/>
            <p:cNvSpPr txBox="true"/>
            <p:nvPr/>
          </p:nvSpPr>
          <p:spPr>
            <a:xfrm rot="0">
              <a:off x="0" y="28575"/>
              <a:ext cx="1487674"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4</a:t>
              </a:r>
            </a:p>
          </p:txBody>
        </p:sp>
        <p:sp>
          <p:nvSpPr>
            <p:cNvPr name="TextBox 45" id="45"/>
            <p:cNvSpPr txBox="true"/>
            <p:nvPr/>
          </p:nvSpPr>
          <p:spPr>
            <a:xfrm rot="0">
              <a:off x="0" y="590084"/>
              <a:ext cx="6703243"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Analisis Funnel Conversion — Organic</a:t>
              </a:r>
            </a:p>
          </p:txBody>
        </p:sp>
        <p:sp>
          <p:nvSpPr>
            <p:cNvPr name="TextBox 46" id="46"/>
            <p:cNvSpPr txBox="true"/>
            <p:nvPr/>
          </p:nvSpPr>
          <p:spPr>
            <a:xfrm rot="0">
              <a:off x="0" y="1119864"/>
              <a:ext cx="7645204"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Marketing Manager • Deadline 20 Jan 2025</a:t>
              </a:r>
            </a:p>
          </p:txBody>
        </p:sp>
      </p:grpSp>
      <p:grpSp>
        <p:nvGrpSpPr>
          <p:cNvPr name="Group 47" id="47"/>
          <p:cNvGrpSpPr/>
          <p:nvPr/>
        </p:nvGrpSpPr>
        <p:grpSpPr>
          <a:xfrm rot="0">
            <a:off x="2415394" y="8594774"/>
            <a:ext cx="5603621" cy="1134316"/>
            <a:chOff x="0" y="0"/>
            <a:chExt cx="7471495" cy="1512421"/>
          </a:xfrm>
        </p:grpSpPr>
        <p:sp>
          <p:nvSpPr>
            <p:cNvPr name="TextBox 48" id="48"/>
            <p:cNvSpPr txBox="true"/>
            <p:nvPr/>
          </p:nvSpPr>
          <p:spPr>
            <a:xfrm rot="0">
              <a:off x="0" y="28575"/>
              <a:ext cx="1550388"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5</a:t>
              </a:r>
            </a:p>
          </p:txBody>
        </p:sp>
        <p:sp>
          <p:nvSpPr>
            <p:cNvPr name="TextBox 49" id="49"/>
            <p:cNvSpPr txBox="true"/>
            <p:nvPr/>
          </p:nvSpPr>
          <p:spPr>
            <a:xfrm rot="0">
              <a:off x="0" y="590084"/>
              <a:ext cx="7471495"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Registrasi &amp; Waktu ke Pembelian Pertama</a:t>
              </a:r>
            </a:p>
          </p:txBody>
        </p:sp>
        <p:sp>
          <p:nvSpPr>
            <p:cNvPr name="TextBox 50" id="50"/>
            <p:cNvSpPr txBox="true"/>
            <p:nvPr/>
          </p:nvSpPr>
          <p:spPr>
            <a:xfrm rot="0">
              <a:off x="0" y="1119864"/>
              <a:ext cx="661041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BI &amp; CRM Lead • Deadline 10 Jan 2025</a:t>
              </a:r>
            </a:p>
          </p:txBody>
        </p:sp>
      </p:grpSp>
      <p:grpSp>
        <p:nvGrpSpPr>
          <p:cNvPr name="Group 51" id="51"/>
          <p:cNvGrpSpPr/>
          <p:nvPr/>
        </p:nvGrpSpPr>
        <p:grpSpPr>
          <a:xfrm rot="0">
            <a:off x="12292745" y="4022282"/>
            <a:ext cx="4507591" cy="815978"/>
            <a:chOff x="0" y="0"/>
            <a:chExt cx="1187184" cy="214908"/>
          </a:xfrm>
        </p:grpSpPr>
        <p:sp>
          <p:nvSpPr>
            <p:cNvPr name="Freeform 52" id="52"/>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53" id="53"/>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grpSp>
        <p:nvGrpSpPr>
          <p:cNvPr name="Group 54" id="54"/>
          <p:cNvGrpSpPr/>
          <p:nvPr/>
        </p:nvGrpSpPr>
        <p:grpSpPr>
          <a:xfrm rot="0">
            <a:off x="12292745" y="5571038"/>
            <a:ext cx="4507591" cy="815978"/>
            <a:chOff x="0" y="0"/>
            <a:chExt cx="1187184" cy="214908"/>
          </a:xfrm>
        </p:grpSpPr>
        <p:sp>
          <p:nvSpPr>
            <p:cNvPr name="Freeform 55" id="55"/>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56" id="56"/>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grpSp>
        <p:nvGrpSpPr>
          <p:cNvPr name="Group 57" id="57"/>
          <p:cNvGrpSpPr/>
          <p:nvPr/>
        </p:nvGrpSpPr>
        <p:grpSpPr>
          <a:xfrm rot="0">
            <a:off x="12292745" y="7212808"/>
            <a:ext cx="4507591" cy="815978"/>
            <a:chOff x="0" y="0"/>
            <a:chExt cx="1187184" cy="214908"/>
          </a:xfrm>
        </p:grpSpPr>
        <p:sp>
          <p:nvSpPr>
            <p:cNvPr name="Freeform 58" id="58"/>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59" id="59"/>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grpSp>
        <p:nvGrpSpPr>
          <p:cNvPr name="Group 60" id="60"/>
          <p:cNvGrpSpPr/>
          <p:nvPr/>
        </p:nvGrpSpPr>
        <p:grpSpPr>
          <a:xfrm rot="0">
            <a:off x="12292745" y="8762016"/>
            <a:ext cx="4507591" cy="815978"/>
            <a:chOff x="0" y="0"/>
            <a:chExt cx="1187184" cy="214908"/>
          </a:xfrm>
        </p:grpSpPr>
        <p:sp>
          <p:nvSpPr>
            <p:cNvPr name="Freeform 61" id="61"/>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62" id="62"/>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grpSp>
        <p:nvGrpSpPr>
          <p:cNvPr name="Group 63" id="63"/>
          <p:cNvGrpSpPr/>
          <p:nvPr/>
        </p:nvGrpSpPr>
        <p:grpSpPr>
          <a:xfrm rot="0">
            <a:off x="1028700" y="2129723"/>
            <a:ext cx="16230600" cy="1324562"/>
            <a:chOff x="0" y="0"/>
            <a:chExt cx="21640800" cy="1766083"/>
          </a:xfrm>
        </p:grpSpPr>
        <p:grpSp>
          <p:nvGrpSpPr>
            <p:cNvPr name="Group 64" id="64"/>
            <p:cNvGrpSpPr/>
            <p:nvPr/>
          </p:nvGrpSpPr>
          <p:grpSpPr>
            <a:xfrm rot="0">
              <a:off x="0" y="0"/>
              <a:ext cx="21640800" cy="1766083"/>
              <a:chOff x="0" y="0"/>
              <a:chExt cx="4274726" cy="348856"/>
            </a:xfrm>
          </p:grpSpPr>
          <p:sp>
            <p:nvSpPr>
              <p:cNvPr name="Freeform 65" id="65"/>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66" id="66"/>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67" id="67"/>
            <p:cNvSpPr/>
            <p:nvPr/>
          </p:nvSpPr>
          <p:spPr>
            <a:xfrm flipH="false" flipV="false" rot="0">
              <a:off x="497434" y="266431"/>
              <a:ext cx="901385" cy="1099250"/>
            </a:xfrm>
            <a:custGeom>
              <a:avLst/>
              <a:gdLst/>
              <a:ahLst/>
              <a:cxnLst/>
              <a:rect r="r" b="b" t="t" l="l"/>
              <a:pathLst>
                <a:path h="1099250" w="901385">
                  <a:moveTo>
                    <a:pt x="0" y="0"/>
                  </a:moveTo>
                  <a:lnTo>
                    <a:pt x="901385" y="0"/>
                  </a:lnTo>
                  <a:lnTo>
                    <a:pt x="901385" y="1099249"/>
                  </a:lnTo>
                  <a:lnTo>
                    <a:pt x="0" y="10992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68" id="68"/>
            <p:cNvSpPr txBox="true"/>
            <p:nvPr/>
          </p:nvSpPr>
          <p:spPr>
            <a:xfrm rot="0">
              <a:off x="1848926" y="114055"/>
              <a:ext cx="1346566"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1</a:t>
              </a:r>
            </a:p>
          </p:txBody>
        </p:sp>
        <p:sp>
          <p:nvSpPr>
            <p:cNvPr name="TextBox 69" id="69"/>
            <p:cNvSpPr txBox="true"/>
            <p:nvPr/>
          </p:nvSpPr>
          <p:spPr>
            <a:xfrm rot="0">
              <a:off x="1848926" y="675564"/>
              <a:ext cx="632695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Laporan Pendapatan Bulanan 2024</a:t>
              </a:r>
            </a:p>
          </p:txBody>
        </p:sp>
        <p:sp>
          <p:nvSpPr>
            <p:cNvPr name="TextBox 70" id="70"/>
            <p:cNvSpPr txBox="true"/>
            <p:nvPr/>
          </p:nvSpPr>
          <p:spPr>
            <a:xfrm rot="0">
              <a:off x="1848926" y="1205344"/>
              <a:ext cx="7159167"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Board of Directors • Deadline 3 Jan 2025</a:t>
              </a:r>
            </a:p>
          </p:txBody>
        </p:sp>
        <p:grpSp>
          <p:nvGrpSpPr>
            <p:cNvPr name="Group 71" id="71"/>
            <p:cNvGrpSpPr/>
            <p:nvPr/>
          </p:nvGrpSpPr>
          <p:grpSpPr>
            <a:xfrm rot="0">
              <a:off x="15018727" y="297705"/>
              <a:ext cx="6010121" cy="1087971"/>
              <a:chOff x="0" y="0"/>
              <a:chExt cx="1187184" cy="214908"/>
            </a:xfrm>
          </p:grpSpPr>
          <p:sp>
            <p:nvSpPr>
              <p:cNvPr name="Freeform 72" id="72"/>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73" id="73"/>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74" id="74"/>
            <p:cNvSpPr txBox="true"/>
            <p:nvPr/>
          </p:nvSpPr>
          <p:spPr>
            <a:xfrm rot="0">
              <a:off x="14860310" y="634065"/>
              <a:ext cx="632695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Monthly Aggregation</a:t>
              </a:r>
            </a:p>
          </p:txBody>
        </p:sp>
      </p:grpSp>
      <p:sp>
        <p:nvSpPr>
          <p:cNvPr name="TextBox 75" id="75"/>
          <p:cNvSpPr txBox="true"/>
          <p:nvPr/>
        </p:nvSpPr>
        <p:spPr>
          <a:xfrm rot="0">
            <a:off x="12173932" y="4300922"/>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Multi-Year Trend</a:t>
            </a:r>
          </a:p>
        </p:txBody>
      </p:sp>
      <p:sp>
        <p:nvSpPr>
          <p:cNvPr name="TextBox 76" id="76"/>
          <p:cNvSpPr txBox="true"/>
          <p:nvPr/>
        </p:nvSpPr>
        <p:spPr>
          <a:xfrm rot="0">
            <a:off x="12173932" y="5849677"/>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MoM / YoY Growth</a:t>
            </a:r>
          </a:p>
        </p:txBody>
      </p:sp>
      <p:sp>
        <p:nvSpPr>
          <p:cNvPr name="TextBox 77" id="77"/>
          <p:cNvSpPr txBox="true"/>
          <p:nvPr/>
        </p:nvSpPr>
        <p:spPr>
          <a:xfrm rot="0">
            <a:off x="12173932" y="7498558"/>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Funnel &amp; Conversion</a:t>
            </a:r>
          </a:p>
        </p:txBody>
      </p:sp>
      <p:sp>
        <p:nvSpPr>
          <p:cNvPr name="TextBox 78" id="78"/>
          <p:cNvSpPr txBox="true"/>
          <p:nvPr/>
        </p:nvSpPr>
        <p:spPr>
          <a:xfrm rot="0">
            <a:off x="12173932" y="9033139"/>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Cohort &amp; Time-to-Event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43286"/>
            <a:ext cx="898754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Case Analysis</a:t>
            </a:r>
          </a:p>
        </p:txBody>
      </p:sp>
      <p:grpSp>
        <p:nvGrpSpPr>
          <p:cNvPr name="Group 6" id="6"/>
          <p:cNvGrpSpPr/>
          <p:nvPr/>
        </p:nvGrpSpPr>
        <p:grpSpPr>
          <a:xfrm rot="0">
            <a:off x="998081" y="5663612"/>
            <a:ext cx="7579843" cy="3594688"/>
            <a:chOff x="0" y="0"/>
            <a:chExt cx="2264294" cy="1073826"/>
          </a:xfrm>
        </p:grpSpPr>
        <p:sp>
          <p:nvSpPr>
            <p:cNvPr name="Freeform 7" id="7"/>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8" id="8"/>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028700" y="3419457"/>
            <a:ext cx="16230600" cy="1324562"/>
            <a:chOff x="0" y="0"/>
            <a:chExt cx="4274726" cy="348856"/>
          </a:xfrm>
        </p:grpSpPr>
        <p:sp>
          <p:nvSpPr>
            <p:cNvPr name="Freeform 10" id="10"/>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11" id="11"/>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401776" y="3619280"/>
            <a:ext cx="676039" cy="824437"/>
          </a:xfrm>
          <a:custGeom>
            <a:avLst/>
            <a:gdLst/>
            <a:ahLst/>
            <a:cxnLst/>
            <a:rect r="r" b="b" t="t" l="l"/>
            <a:pathLst>
              <a:path h="824437" w="676039">
                <a:moveTo>
                  <a:pt x="0" y="0"/>
                </a:moveTo>
                <a:lnTo>
                  <a:pt x="676038" y="0"/>
                </a:lnTo>
                <a:lnTo>
                  <a:pt x="676038" y="824437"/>
                </a:lnTo>
                <a:lnTo>
                  <a:pt x="0" y="8244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415394" y="3512142"/>
            <a:ext cx="1009925" cy="392557"/>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1</a:t>
            </a:r>
          </a:p>
        </p:txBody>
      </p:sp>
      <p:sp>
        <p:nvSpPr>
          <p:cNvPr name="TextBox 14" id="14"/>
          <p:cNvSpPr txBox="true"/>
          <p:nvPr/>
        </p:nvSpPr>
        <p:spPr>
          <a:xfrm rot="0">
            <a:off x="2415394" y="3933274"/>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Laporan Pendapatan Bulanan 2024</a:t>
            </a:r>
          </a:p>
        </p:txBody>
      </p:sp>
      <p:sp>
        <p:nvSpPr>
          <p:cNvPr name="TextBox 15" id="15"/>
          <p:cNvSpPr txBox="true"/>
          <p:nvPr/>
        </p:nvSpPr>
        <p:spPr>
          <a:xfrm rot="0">
            <a:off x="2415394" y="4330609"/>
            <a:ext cx="5369376"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Board of Directors • Deadline 3 Jan 2025</a:t>
            </a:r>
          </a:p>
        </p:txBody>
      </p:sp>
      <p:grpSp>
        <p:nvGrpSpPr>
          <p:cNvPr name="Group 16" id="16"/>
          <p:cNvGrpSpPr/>
          <p:nvPr/>
        </p:nvGrpSpPr>
        <p:grpSpPr>
          <a:xfrm rot="0">
            <a:off x="12292745" y="3642736"/>
            <a:ext cx="4507591" cy="815978"/>
            <a:chOff x="0" y="0"/>
            <a:chExt cx="1187184" cy="214908"/>
          </a:xfrm>
        </p:grpSpPr>
        <p:sp>
          <p:nvSpPr>
            <p:cNvPr name="Freeform 17" id="17"/>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18" id="18"/>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19" id="19"/>
          <p:cNvSpPr txBox="true"/>
          <p:nvPr/>
        </p:nvSpPr>
        <p:spPr>
          <a:xfrm rot="0">
            <a:off x="12173932" y="3902149"/>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Monthly Aggregation</a:t>
            </a:r>
          </a:p>
        </p:txBody>
      </p:sp>
      <p:sp>
        <p:nvSpPr>
          <p:cNvPr name="TextBox 20" id="20"/>
          <p:cNvSpPr txBox="true"/>
          <p:nvPr/>
        </p:nvSpPr>
        <p:spPr>
          <a:xfrm rot="0">
            <a:off x="1275532" y="6543519"/>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Dewan direksi meminta rekap total sales per bulan sepanjang 2024, diambil dari kolom total_paid pada tabel transaction_detail, untuk dipresentasikan dalam rapat dewan minggu depan.</a:t>
            </a:r>
          </a:p>
        </p:txBody>
      </p:sp>
      <p:grpSp>
        <p:nvGrpSpPr>
          <p:cNvPr name="Group 21" id="21"/>
          <p:cNvGrpSpPr/>
          <p:nvPr/>
        </p:nvGrpSpPr>
        <p:grpSpPr>
          <a:xfrm rot="0">
            <a:off x="9679457" y="5663612"/>
            <a:ext cx="7579843" cy="3594688"/>
            <a:chOff x="0" y="0"/>
            <a:chExt cx="2264294" cy="1073826"/>
          </a:xfrm>
        </p:grpSpPr>
        <p:sp>
          <p:nvSpPr>
            <p:cNvPr name="Freeform 22" id="22"/>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23" id="23"/>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24" id="24"/>
          <p:cNvSpPr txBox="true"/>
          <p:nvPr/>
        </p:nvSpPr>
        <p:spPr>
          <a:xfrm rot="0">
            <a:off x="9818182" y="6714969"/>
            <a:ext cx="7302393" cy="1764157"/>
          </a:xfrm>
          <a:prstGeom prst="rect">
            <a:avLst/>
          </a:prstGeom>
        </p:spPr>
        <p:txBody>
          <a:bodyPr anchor="t" rtlCol="false" tIns="0" lIns="0" bIns="0" rIns="0">
            <a:spAutoFit/>
          </a:bodyPr>
          <a:lstStyle/>
          <a:p>
            <a:pPr algn="l" marL="604519" indent="-302260" lvl="1">
              <a:lnSpc>
                <a:spcPts val="2743"/>
              </a:lnSpc>
              <a:buFont typeface="Arial"/>
              <a:buChar char="•"/>
            </a:pPr>
            <a:r>
              <a:rPr lang="en-US" sz="2799">
                <a:solidFill>
                  <a:srgbClr val="000000"/>
                </a:solidFill>
                <a:latin typeface="Poppins"/>
                <a:ea typeface="Poppins"/>
                <a:cs typeface="Poppins"/>
                <a:sym typeface="Poppins"/>
              </a:rPr>
              <a:t>Total penjualan (SUM total_paid) per bulan, Jan–Des 2024</a:t>
            </a:r>
          </a:p>
          <a:p>
            <a:pPr algn="l" marL="604519" indent="-302260" lvl="1">
              <a:lnSpc>
                <a:spcPts val="2743"/>
              </a:lnSpc>
              <a:buFont typeface="Arial"/>
              <a:buChar char="•"/>
            </a:pPr>
            <a:r>
              <a:rPr lang="en-US" sz="2799">
                <a:solidFill>
                  <a:srgbClr val="000000"/>
                </a:solidFill>
                <a:latin typeface="Poppins"/>
                <a:ea typeface="Poppins"/>
                <a:cs typeface="Poppins"/>
                <a:sym typeface="Poppins"/>
              </a:rPr>
              <a:t>Data siap dipresentasikan dalam bentuk tabel/tren bulanan</a:t>
            </a:r>
          </a:p>
          <a:p>
            <a:pPr algn="l">
              <a:lnSpc>
                <a:spcPts val="2743"/>
              </a:lnSpc>
            </a:pPr>
          </a:p>
        </p:txBody>
      </p:sp>
      <p:sp>
        <p:nvSpPr>
          <p:cNvPr name="TextBox 25" id="25"/>
          <p:cNvSpPr txBox="true"/>
          <p:nvPr/>
        </p:nvSpPr>
        <p:spPr>
          <a:xfrm rot="0">
            <a:off x="1275532" y="5899135"/>
            <a:ext cx="3657800" cy="441833"/>
          </a:xfrm>
          <a:prstGeom prst="rect">
            <a:avLst/>
          </a:prstGeom>
        </p:spPr>
        <p:txBody>
          <a:bodyPr anchor="t" rtlCol="false" tIns="0" lIns="0" bIns="0" rIns="0">
            <a:spAutoFit/>
          </a:bodyPr>
          <a:lstStyle/>
          <a:p>
            <a:pPr algn="ctr">
              <a:lnSpc>
                <a:spcPts val="3136"/>
              </a:lnSpc>
            </a:pPr>
            <a:r>
              <a:rPr lang="en-US" b="true" sz="3200">
                <a:solidFill>
                  <a:srgbClr val="1800AD"/>
                </a:solidFill>
                <a:latin typeface="Poppins Semi-Bold"/>
                <a:ea typeface="Poppins Semi-Bold"/>
                <a:cs typeface="Poppins Semi-Bold"/>
                <a:sym typeface="Poppins Semi-Bold"/>
              </a:rPr>
              <a:t>Business Request</a:t>
            </a:r>
          </a:p>
        </p:txBody>
      </p:sp>
      <p:sp>
        <p:nvSpPr>
          <p:cNvPr name="TextBox 26" id="26"/>
          <p:cNvSpPr txBox="true"/>
          <p:nvPr/>
        </p:nvSpPr>
        <p:spPr>
          <a:xfrm rot="0">
            <a:off x="10016244" y="5869734"/>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Objective/Output</a:t>
            </a:r>
          </a:p>
        </p:txBody>
      </p:sp>
      <p:grpSp>
        <p:nvGrpSpPr>
          <p:cNvPr name="Group 27" id="27"/>
          <p:cNvGrpSpPr/>
          <p:nvPr/>
        </p:nvGrpSpPr>
        <p:grpSpPr>
          <a:xfrm rot="0">
            <a:off x="11043819" y="-3760614"/>
            <a:ext cx="7244181" cy="724418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0">
            <a:off x="10390132" y="-4068572"/>
            <a:ext cx="7116554" cy="711655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3349865"/>
            <a:ext cx="8475962" cy="4555363"/>
          </a:xfrm>
          <a:custGeom>
            <a:avLst/>
            <a:gdLst/>
            <a:ahLst/>
            <a:cxnLst/>
            <a:rect r="r" b="b" t="t" l="l"/>
            <a:pathLst>
              <a:path h="4555363" w="8475962">
                <a:moveTo>
                  <a:pt x="0" y="0"/>
                </a:moveTo>
                <a:lnTo>
                  <a:pt x="8475962" y="0"/>
                </a:lnTo>
                <a:lnTo>
                  <a:pt x="8475962" y="4555363"/>
                </a:lnTo>
                <a:lnTo>
                  <a:pt x="0" y="4555363"/>
                </a:lnTo>
                <a:lnTo>
                  <a:pt x="0" y="0"/>
                </a:lnTo>
                <a:close/>
              </a:path>
            </a:pathLst>
          </a:custGeom>
          <a:blipFill>
            <a:blip r:embed="rId2"/>
            <a:stretch>
              <a:fillRect l="0" t="0" r="0" b="0"/>
            </a:stretch>
          </a:blipFill>
        </p:spPr>
      </p:sp>
      <p:grpSp>
        <p:nvGrpSpPr>
          <p:cNvPr name="Group 6" id="6"/>
          <p:cNvGrpSpPr/>
          <p:nvPr/>
        </p:nvGrpSpPr>
        <p:grpSpPr>
          <a:xfrm rot="0">
            <a:off x="11043819" y="6664909"/>
            <a:ext cx="7244181" cy="72441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1579954" y="6369060"/>
            <a:ext cx="7116554" cy="71165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1276097" y="3349865"/>
            <a:ext cx="5655894" cy="5286667"/>
          </a:xfrm>
          <a:custGeom>
            <a:avLst/>
            <a:gdLst/>
            <a:ahLst/>
            <a:cxnLst/>
            <a:rect r="r" b="b" t="t" l="l"/>
            <a:pathLst>
              <a:path h="5286667" w="5655894">
                <a:moveTo>
                  <a:pt x="0" y="0"/>
                </a:moveTo>
                <a:lnTo>
                  <a:pt x="5655895" y="0"/>
                </a:lnTo>
                <a:lnTo>
                  <a:pt x="5655895" y="5286667"/>
                </a:lnTo>
                <a:lnTo>
                  <a:pt x="0" y="5286667"/>
                </a:lnTo>
                <a:lnTo>
                  <a:pt x="0" y="0"/>
                </a:lnTo>
                <a:close/>
              </a:path>
            </a:pathLst>
          </a:custGeom>
          <a:blipFill>
            <a:blip r:embed="rId3"/>
            <a:stretch>
              <a:fillRect l="0" t="0" r="0" b="0"/>
            </a:stretch>
          </a:blipFill>
        </p:spPr>
      </p:sp>
      <p:sp>
        <p:nvSpPr>
          <p:cNvPr name="TextBox 13" id="13"/>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
        <p:nvSpPr>
          <p:cNvPr name="TextBox 14" id="14"/>
          <p:cNvSpPr txBox="true"/>
          <p:nvPr/>
        </p:nvSpPr>
        <p:spPr>
          <a:xfrm rot="0">
            <a:off x="1028700" y="2739593"/>
            <a:ext cx="1474863" cy="441833"/>
          </a:xfrm>
          <a:prstGeom prst="rect">
            <a:avLst/>
          </a:prstGeom>
        </p:spPr>
        <p:txBody>
          <a:bodyPr anchor="t" rtlCol="false" tIns="0" lIns="0" bIns="0" rIns="0">
            <a:spAutoFit/>
          </a:bodyPr>
          <a:lstStyle/>
          <a:p>
            <a:pPr algn="ctr">
              <a:lnSpc>
                <a:spcPts val="3136"/>
              </a:lnSpc>
            </a:pPr>
            <a:r>
              <a:rPr lang="en-US" b="true" sz="3200">
                <a:solidFill>
                  <a:srgbClr val="1E293B"/>
                </a:solidFill>
                <a:latin typeface="Poppins Semi-Bold"/>
                <a:ea typeface="Poppins Semi-Bold"/>
                <a:cs typeface="Poppins Semi-Bold"/>
                <a:sym typeface="Poppins Semi-Bold"/>
              </a:rPr>
              <a:t>Syntax</a:t>
            </a:r>
          </a:p>
        </p:txBody>
      </p:sp>
      <p:sp>
        <p:nvSpPr>
          <p:cNvPr name="TextBox 15" id="15"/>
          <p:cNvSpPr txBox="true"/>
          <p:nvPr/>
        </p:nvSpPr>
        <p:spPr>
          <a:xfrm rot="0">
            <a:off x="11154898" y="2739593"/>
            <a:ext cx="1474863" cy="441833"/>
          </a:xfrm>
          <a:prstGeom prst="rect">
            <a:avLst/>
          </a:prstGeom>
        </p:spPr>
        <p:txBody>
          <a:bodyPr anchor="t" rtlCol="false" tIns="0" lIns="0" bIns="0" rIns="0">
            <a:spAutoFit/>
          </a:bodyPr>
          <a:lstStyle/>
          <a:p>
            <a:pPr algn="ctr">
              <a:lnSpc>
                <a:spcPts val="3136"/>
              </a:lnSpc>
            </a:pPr>
            <a:r>
              <a:rPr lang="en-US" sz="3200" b="true">
                <a:solidFill>
                  <a:srgbClr val="1E293B"/>
                </a:solidFill>
                <a:latin typeface="Poppins Semi-Bold"/>
                <a:ea typeface="Poppins Semi-Bold"/>
                <a:cs typeface="Poppins Semi-Bold"/>
                <a:sym typeface="Poppins Semi-Bold"/>
              </a:rPr>
              <a:t>Tabel</a:t>
            </a:r>
          </a:p>
        </p:txBody>
      </p:sp>
      <p:grpSp>
        <p:nvGrpSpPr>
          <p:cNvPr name="Group 16" id="16"/>
          <p:cNvGrpSpPr/>
          <p:nvPr/>
        </p:nvGrpSpPr>
        <p:grpSpPr>
          <a:xfrm rot="0">
            <a:off x="11327005" y="-4168773"/>
            <a:ext cx="7244181" cy="72441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741948" y="-4104960"/>
            <a:ext cx="7116554" cy="711655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347685" y="2242821"/>
            <a:ext cx="15592631" cy="7395900"/>
          </a:xfrm>
          <a:custGeom>
            <a:avLst/>
            <a:gdLst/>
            <a:ahLst/>
            <a:cxnLst/>
            <a:rect r="r" b="b" t="t" l="l"/>
            <a:pathLst>
              <a:path h="7395900" w="15592631">
                <a:moveTo>
                  <a:pt x="0" y="0"/>
                </a:moveTo>
                <a:lnTo>
                  <a:pt x="15592630" y="0"/>
                </a:lnTo>
                <a:lnTo>
                  <a:pt x="15592630" y="7395900"/>
                </a:lnTo>
                <a:lnTo>
                  <a:pt x="0" y="7395900"/>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168823" y="3274611"/>
            <a:ext cx="15950354" cy="6188897"/>
          </a:xfrm>
          <a:custGeom>
            <a:avLst/>
            <a:gdLst/>
            <a:ahLst/>
            <a:cxnLst/>
            <a:rect r="r" b="b" t="t" l="l"/>
            <a:pathLst>
              <a:path h="6188897" w="15950354">
                <a:moveTo>
                  <a:pt x="0" y="0"/>
                </a:moveTo>
                <a:lnTo>
                  <a:pt x="15950354" y="0"/>
                </a:lnTo>
                <a:lnTo>
                  <a:pt x="15950354" y="6188897"/>
                </a:lnTo>
                <a:lnTo>
                  <a:pt x="0" y="6188897"/>
                </a:lnTo>
                <a:lnTo>
                  <a:pt x="0" y="0"/>
                </a:lnTo>
                <a:close/>
              </a:path>
            </a:pathLst>
          </a:custGeom>
          <a:blipFill>
            <a:blip r:embed="rId2"/>
            <a:stretch>
              <a:fillRect l="0" t="0" r="0" b="0"/>
            </a:stretch>
          </a:blipFill>
        </p:spPr>
      </p:sp>
      <p:sp>
        <p:nvSpPr>
          <p:cNvPr name="TextBox 18" id="18"/>
          <p:cNvSpPr txBox="true"/>
          <p:nvPr/>
        </p:nvSpPr>
        <p:spPr>
          <a:xfrm rot="0">
            <a:off x="1028488" y="956412"/>
            <a:ext cx="9052604"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Monthly Income Report</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7830575" y="1114425"/>
            <a:ext cx="9428725"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Insight and Recommendation</a:t>
            </a:r>
          </a:p>
        </p:txBody>
      </p:sp>
      <p:grpSp>
        <p:nvGrpSpPr>
          <p:cNvPr name="Group 18" id="18"/>
          <p:cNvGrpSpPr/>
          <p:nvPr/>
        </p:nvGrpSpPr>
        <p:grpSpPr>
          <a:xfrm rot="0">
            <a:off x="998081" y="4349935"/>
            <a:ext cx="7579843" cy="3808857"/>
            <a:chOff x="0" y="0"/>
            <a:chExt cx="2264294" cy="1137804"/>
          </a:xfrm>
        </p:grpSpPr>
        <p:sp>
          <p:nvSpPr>
            <p:cNvPr name="Freeform 19" id="19"/>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0" id="20"/>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275532" y="5229842"/>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Revenue 2024 sangat musiman, bukan tumbuh linear — Desember (Rp4,12M) jadi puncak ~2× rata-rata, sementara Maret &amp; Ju</a:t>
            </a:r>
            <a:r>
              <a:rPr lang="en-US" sz="2799">
                <a:solidFill>
                  <a:srgbClr val="000000"/>
                </a:solidFill>
                <a:latin typeface="Poppins"/>
                <a:ea typeface="Poppins"/>
                <a:cs typeface="Poppins"/>
                <a:sym typeface="Poppins"/>
              </a:rPr>
              <a:t>li jadi titik terlemah (~Rp1,1–1,2M). </a:t>
            </a:r>
          </a:p>
          <a:p>
            <a:pPr algn="l">
              <a:lnSpc>
                <a:spcPts val="2743"/>
              </a:lnSpc>
            </a:pPr>
          </a:p>
        </p:txBody>
      </p:sp>
      <p:grpSp>
        <p:nvGrpSpPr>
          <p:cNvPr name="Group 22" id="22"/>
          <p:cNvGrpSpPr/>
          <p:nvPr/>
        </p:nvGrpSpPr>
        <p:grpSpPr>
          <a:xfrm rot="0">
            <a:off x="9679457" y="4349935"/>
            <a:ext cx="7579843" cy="3808857"/>
            <a:chOff x="0" y="0"/>
            <a:chExt cx="2264294" cy="1137804"/>
          </a:xfrm>
        </p:grpSpPr>
        <p:sp>
          <p:nvSpPr>
            <p:cNvPr name="Freeform 23" id="23"/>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4" id="24"/>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10016244" y="5134844"/>
            <a:ext cx="7302393" cy="27928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Perlakukan Desember sebagai peak season resmi (siapkan stok, cashflow, dan tenaga sejak jauh hari); investigasi penyebab dip Maret &amp; Juli untuk diisi campaign penyeimbang agar revenue tidak terlalu bergantung pada 1 bulan saja. </a:t>
            </a:r>
          </a:p>
          <a:p>
            <a:pPr algn="l">
              <a:lnSpc>
                <a:spcPts val="2743"/>
              </a:lnSpc>
            </a:pPr>
          </a:p>
        </p:txBody>
      </p:sp>
      <p:sp>
        <p:nvSpPr>
          <p:cNvPr name="TextBox 26" id="26"/>
          <p:cNvSpPr txBox="true"/>
          <p:nvPr/>
        </p:nvSpPr>
        <p:spPr>
          <a:xfrm rot="0">
            <a:off x="183817" y="4556057"/>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Insight</a:t>
            </a:r>
          </a:p>
        </p:txBody>
      </p:sp>
      <p:sp>
        <p:nvSpPr>
          <p:cNvPr name="TextBox 27" id="27"/>
          <p:cNvSpPr txBox="true"/>
          <p:nvPr/>
        </p:nvSpPr>
        <p:spPr>
          <a:xfrm rot="0">
            <a:off x="10016244" y="4556057"/>
            <a:ext cx="3747037"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Recommendation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43286"/>
            <a:ext cx="898754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Case Analysis</a:t>
            </a:r>
          </a:p>
        </p:txBody>
      </p:sp>
      <p:grpSp>
        <p:nvGrpSpPr>
          <p:cNvPr name="Group 6" id="6"/>
          <p:cNvGrpSpPr/>
          <p:nvPr/>
        </p:nvGrpSpPr>
        <p:grpSpPr>
          <a:xfrm rot="0">
            <a:off x="998081" y="5663612"/>
            <a:ext cx="7579843" cy="3594688"/>
            <a:chOff x="0" y="0"/>
            <a:chExt cx="2264294" cy="1073826"/>
          </a:xfrm>
        </p:grpSpPr>
        <p:sp>
          <p:nvSpPr>
            <p:cNvPr name="Freeform 7" id="7"/>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8" id="8"/>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75532" y="6543519"/>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Untuk kebutuhan perencanaan restock, warehouse manager meminta volume (quantity) barang terjual per kategori produk, dirinci per tahun dari 2020 sampai dengan 2024.</a:t>
            </a:r>
          </a:p>
          <a:p>
            <a:pPr algn="l">
              <a:lnSpc>
                <a:spcPts val="2743"/>
              </a:lnSpc>
            </a:pPr>
          </a:p>
        </p:txBody>
      </p:sp>
      <p:grpSp>
        <p:nvGrpSpPr>
          <p:cNvPr name="Group 10" id="10"/>
          <p:cNvGrpSpPr/>
          <p:nvPr/>
        </p:nvGrpSpPr>
        <p:grpSpPr>
          <a:xfrm rot="0">
            <a:off x="9679457" y="5663612"/>
            <a:ext cx="7579843" cy="3594688"/>
            <a:chOff x="0" y="0"/>
            <a:chExt cx="2264294" cy="1073826"/>
          </a:xfrm>
        </p:grpSpPr>
        <p:sp>
          <p:nvSpPr>
            <p:cNvPr name="Freeform 11" id="11"/>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12" id="12"/>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9818182" y="6714969"/>
            <a:ext cx="7302393" cy="1764157"/>
          </a:xfrm>
          <a:prstGeom prst="rect">
            <a:avLst/>
          </a:prstGeom>
        </p:spPr>
        <p:txBody>
          <a:bodyPr anchor="t" rtlCol="false" tIns="0" lIns="0" bIns="0" rIns="0">
            <a:spAutoFit/>
          </a:bodyPr>
          <a:lstStyle/>
          <a:p>
            <a:pPr algn="l" marL="604519" indent="-302260" lvl="1">
              <a:lnSpc>
                <a:spcPts val="2743"/>
              </a:lnSpc>
              <a:buFont typeface="Arial"/>
              <a:buChar char="•"/>
            </a:pPr>
            <a:r>
              <a:rPr lang="en-US" sz="2799">
                <a:solidFill>
                  <a:srgbClr val="000000"/>
                </a:solidFill>
                <a:latin typeface="Poppins"/>
                <a:ea typeface="Poppins"/>
                <a:cs typeface="Poppins"/>
                <a:sym typeface="Poppins"/>
              </a:rPr>
              <a:t>Total quantity terjual per category per tahun (2020–2024)</a:t>
            </a:r>
          </a:p>
          <a:p>
            <a:pPr algn="l" marL="604519" indent="-302260" lvl="1">
              <a:lnSpc>
                <a:spcPts val="2743"/>
              </a:lnSpc>
              <a:buFont typeface="Arial"/>
              <a:buChar char="•"/>
            </a:pPr>
            <a:r>
              <a:rPr lang="en-US" sz="2799">
                <a:solidFill>
                  <a:srgbClr val="000000"/>
                </a:solidFill>
                <a:latin typeface="Poppins"/>
                <a:ea typeface="Poppins"/>
                <a:cs typeface="Poppins"/>
                <a:sym typeface="Poppins"/>
              </a:rPr>
              <a:t>K</a:t>
            </a:r>
            <a:r>
              <a:rPr lang="en-US" sz="2799">
                <a:solidFill>
                  <a:srgbClr val="000000"/>
                </a:solidFill>
                <a:latin typeface="Poppins"/>
                <a:ea typeface="Poppins"/>
                <a:cs typeface="Poppins"/>
                <a:sym typeface="Poppins"/>
              </a:rPr>
              <a:t>ecualikan transaksi retur/cancel (is_net = 1)</a:t>
            </a:r>
          </a:p>
          <a:p>
            <a:pPr algn="l">
              <a:lnSpc>
                <a:spcPts val="2743"/>
              </a:lnSpc>
            </a:pPr>
          </a:p>
        </p:txBody>
      </p:sp>
      <p:sp>
        <p:nvSpPr>
          <p:cNvPr name="TextBox 14" id="14"/>
          <p:cNvSpPr txBox="true"/>
          <p:nvPr/>
        </p:nvSpPr>
        <p:spPr>
          <a:xfrm rot="0">
            <a:off x="1275532" y="5899135"/>
            <a:ext cx="3657800" cy="441833"/>
          </a:xfrm>
          <a:prstGeom prst="rect">
            <a:avLst/>
          </a:prstGeom>
        </p:spPr>
        <p:txBody>
          <a:bodyPr anchor="t" rtlCol="false" tIns="0" lIns="0" bIns="0" rIns="0">
            <a:spAutoFit/>
          </a:bodyPr>
          <a:lstStyle/>
          <a:p>
            <a:pPr algn="ctr">
              <a:lnSpc>
                <a:spcPts val="3136"/>
              </a:lnSpc>
            </a:pPr>
            <a:r>
              <a:rPr lang="en-US" b="true" sz="3200">
                <a:solidFill>
                  <a:srgbClr val="1800AD"/>
                </a:solidFill>
                <a:latin typeface="Poppins Semi-Bold"/>
                <a:ea typeface="Poppins Semi-Bold"/>
                <a:cs typeface="Poppins Semi-Bold"/>
                <a:sym typeface="Poppins Semi-Bold"/>
              </a:rPr>
              <a:t>Business Request</a:t>
            </a:r>
          </a:p>
        </p:txBody>
      </p:sp>
      <p:sp>
        <p:nvSpPr>
          <p:cNvPr name="TextBox 15" id="15"/>
          <p:cNvSpPr txBox="true"/>
          <p:nvPr/>
        </p:nvSpPr>
        <p:spPr>
          <a:xfrm rot="0">
            <a:off x="10016244" y="5869734"/>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Objective/Output</a:t>
            </a:r>
          </a:p>
        </p:txBody>
      </p:sp>
      <p:grpSp>
        <p:nvGrpSpPr>
          <p:cNvPr name="Group 16" id="16"/>
          <p:cNvGrpSpPr/>
          <p:nvPr/>
        </p:nvGrpSpPr>
        <p:grpSpPr>
          <a:xfrm rot="0">
            <a:off x="11043819" y="-3760614"/>
            <a:ext cx="7244181" cy="72441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390132" y="-4068572"/>
            <a:ext cx="7116554" cy="711655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028700" y="3339377"/>
            <a:ext cx="16230600" cy="1324562"/>
            <a:chOff x="0" y="0"/>
            <a:chExt cx="4274726" cy="348856"/>
          </a:xfrm>
        </p:grpSpPr>
        <p:sp>
          <p:nvSpPr>
            <p:cNvPr name="Freeform 23" id="23"/>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4" id="24"/>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25" id="25"/>
          <p:cNvSpPr/>
          <p:nvPr/>
        </p:nvSpPr>
        <p:spPr>
          <a:xfrm flipH="false" flipV="false" rot="0">
            <a:off x="1401776" y="3636176"/>
            <a:ext cx="726467" cy="726467"/>
          </a:xfrm>
          <a:custGeom>
            <a:avLst/>
            <a:gdLst/>
            <a:ahLst/>
            <a:cxnLst/>
            <a:rect r="r" b="b" t="t" l="l"/>
            <a:pathLst>
              <a:path h="726467" w="726467">
                <a:moveTo>
                  <a:pt x="0" y="0"/>
                </a:moveTo>
                <a:lnTo>
                  <a:pt x="726467" y="0"/>
                </a:lnTo>
                <a:lnTo>
                  <a:pt x="726467" y="726467"/>
                </a:lnTo>
                <a:lnTo>
                  <a:pt x="0" y="726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2415394" y="3434500"/>
            <a:ext cx="5749107" cy="1134316"/>
            <a:chOff x="0" y="0"/>
            <a:chExt cx="7665476" cy="1512421"/>
          </a:xfrm>
        </p:grpSpPr>
        <p:sp>
          <p:nvSpPr>
            <p:cNvPr name="TextBox 27" id="27"/>
            <p:cNvSpPr txBox="true"/>
            <p:nvPr/>
          </p:nvSpPr>
          <p:spPr>
            <a:xfrm rot="0">
              <a:off x="0" y="28575"/>
              <a:ext cx="1455061"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2</a:t>
              </a:r>
            </a:p>
          </p:txBody>
        </p:sp>
        <p:sp>
          <p:nvSpPr>
            <p:cNvPr name="TextBox 28" id="28"/>
            <p:cNvSpPr txBox="true"/>
            <p:nvPr/>
          </p:nvSpPr>
          <p:spPr>
            <a:xfrm rot="0">
              <a:off x="0" y="590084"/>
              <a:ext cx="632695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Tren Penjualan Kategori 2020–2024</a:t>
              </a:r>
            </a:p>
          </p:txBody>
        </p:sp>
        <p:sp>
          <p:nvSpPr>
            <p:cNvPr name="TextBox 29" id="29"/>
            <p:cNvSpPr txBox="true"/>
            <p:nvPr/>
          </p:nvSpPr>
          <p:spPr>
            <a:xfrm rot="0">
              <a:off x="0" y="1119864"/>
              <a:ext cx="766547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Warehouse Manager • Deadline 7 Jan 2025</a:t>
              </a:r>
            </a:p>
          </p:txBody>
        </p:sp>
      </p:grpSp>
      <p:grpSp>
        <p:nvGrpSpPr>
          <p:cNvPr name="Group 30" id="30"/>
          <p:cNvGrpSpPr/>
          <p:nvPr/>
        </p:nvGrpSpPr>
        <p:grpSpPr>
          <a:xfrm rot="0">
            <a:off x="12292745" y="3636176"/>
            <a:ext cx="4507591" cy="815978"/>
            <a:chOff x="0" y="0"/>
            <a:chExt cx="1187184" cy="214908"/>
          </a:xfrm>
        </p:grpSpPr>
        <p:sp>
          <p:nvSpPr>
            <p:cNvPr name="Freeform 31" id="31"/>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32" id="32"/>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33" id="33"/>
          <p:cNvSpPr txBox="true"/>
          <p:nvPr/>
        </p:nvSpPr>
        <p:spPr>
          <a:xfrm rot="0">
            <a:off x="12173932" y="3914815"/>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Multi-Year Trend</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Syntax</a:t>
            </a:r>
          </a:p>
        </p:txBody>
      </p:sp>
      <p:grpSp>
        <p:nvGrpSpPr>
          <p:cNvPr name="Group 12" id="12"/>
          <p:cNvGrpSpPr/>
          <p:nvPr/>
        </p:nvGrpSpPr>
        <p:grpSpPr>
          <a:xfrm rot="0">
            <a:off x="11327005" y="-4168773"/>
            <a:ext cx="7244181" cy="7244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0741948" y="-4104960"/>
            <a:ext cx="7116554" cy="711655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1028700" y="2648239"/>
            <a:ext cx="13590159" cy="6299708"/>
          </a:xfrm>
          <a:prstGeom prst="rect">
            <a:avLst/>
          </a:prstGeom>
        </p:spPr>
        <p:txBody>
          <a:bodyPr anchor="t" rtlCol="false" tIns="0" lIns="0" bIns="0" rIns="0">
            <a:spAutoFit/>
          </a:bodyPr>
          <a:lstStyle/>
          <a:p>
            <a:pPr algn="l">
              <a:lnSpc>
                <a:spcPts val="3136"/>
              </a:lnSpc>
            </a:pPr>
            <a:r>
              <a:rPr lang="en-US" sz="3200">
                <a:solidFill>
                  <a:srgbClr val="000000"/>
                </a:solidFill>
                <a:latin typeface="Poppins"/>
                <a:ea typeface="Poppins"/>
                <a:cs typeface="Poppins"/>
                <a:sym typeface="Poppins"/>
              </a:rPr>
              <a:t>SELECT</a:t>
            </a:r>
          </a:p>
          <a:p>
            <a:pPr algn="l">
              <a:lnSpc>
                <a:spcPts val="3136"/>
              </a:lnSpc>
            </a:pPr>
            <a:r>
              <a:rPr lang="en-US" sz="3200">
                <a:solidFill>
                  <a:srgbClr val="000000"/>
                </a:solidFill>
                <a:latin typeface="Poppins"/>
                <a:ea typeface="Poppins"/>
                <a:cs typeface="Poppins"/>
                <a:sym typeface="Poppins"/>
              </a:rPr>
              <a:t>    p.category             AS kategori,</a:t>
            </a:r>
          </a:p>
          <a:p>
            <a:pPr algn="l">
              <a:lnSpc>
                <a:spcPts val="3136"/>
              </a:lnSpc>
            </a:pPr>
            <a:r>
              <a:rPr lang="en-US" sz="3200">
                <a:solidFill>
                  <a:srgbClr val="000000"/>
                </a:solidFill>
                <a:latin typeface="Poppins"/>
                <a:ea typeface="Poppins"/>
                <a:cs typeface="Poppins"/>
                <a:sym typeface="Poppins"/>
              </a:rPr>
              <a:t>    EXTRACT(YEAR FROM o.order_date)  AS tahun,</a:t>
            </a:r>
          </a:p>
          <a:p>
            <a:pPr algn="l">
              <a:lnSpc>
                <a:spcPts val="3136"/>
              </a:lnSpc>
            </a:pPr>
            <a:r>
              <a:rPr lang="en-US" sz="3200">
                <a:solidFill>
                  <a:srgbClr val="000000"/>
                </a:solidFill>
                <a:latin typeface="Poppins"/>
                <a:ea typeface="Poppins"/>
                <a:cs typeface="Poppins"/>
                <a:sym typeface="Poppins"/>
              </a:rPr>
              <a:t>    SUM(o.quantity)          AS total_volume</a:t>
            </a:r>
          </a:p>
          <a:p>
            <a:pPr algn="l">
              <a:lnSpc>
                <a:spcPts val="3136"/>
              </a:lnSpc>
            </a:pPr>
            <a:r>
              <a:rPr lang="en-US" sz="3200">
                <a:solidFill>
                  <a:srgbClr val="000000"/>
                </a:solidFill>
                <a:latin typeface="Poppins"/>
                <a:ea typeface="Poppins"/>
                <a:cs typeface="Poppins"/>
                <a:sym typeface="Poppins"/>
              </a:rPr>
              <a:t>FROM order_detail AS o</a:t>
            </a:r>
          </a:p>
          <a:p>
            <a:pPr algn="l">
              <a:lnSpc>
                <a:spcPts val="3136"/>
              </a:lnSpc>
            </a:pPr>
            <a:r>
              <a:rPr lang="en-US" sz="3200">
                <a:solidFill>
                  <a:srgbClr val="000000"/>
                </a:solidFill>
                <a:latin typeface="Poppins"/>
                <a:ea typeface="Poppins"/>
                <a:cs typeface="Poppins"/>
                <a:sym typeface="Poppins"/>
              </a:rPr>
              <a:t>JOIN product_detail AS p</a:t>
            </a:r>
          </a:p>
          <a:p>
            <a:pPr algn="l">
              <a:lnSpc>
                <a:spcPts val="3136"/>
              </a:lnSpc>
            </a:pPr>
            <a:r>
              <a:rPr lang="en-US" sz="3200">
                <a:solidFill>
                  <a:srgbClr val="000000"/>
                </a:solidFill>
                <a:latin typeface="Poppins"/>
                <a:ea typeface="Poppins"/>
                <a:cs typeface="Poppins"/>
                <a:sym typeface="Poppins"/>
              </a:rPr>
              <a:t>    ON o.sku_id = p.sku_id</a:t>
            </a:r>
          </a:p>
          <a:p>
            <a:pPr algn="l">
              <a:lnSpc>
                <a:spcPts val="3136"/>
              </a:lnSpc>
            </a:pPr>
            <a:r>
              <a:rPr lang="en-US" sz="3200">
                <a:solidFill>
                  <a:srgbClr val="000000"/>
                </a:solidFill>
                <a:latin typeface="Poppins"/>
                <a:ea typeface="Poppins"/>
                <a:cs typeface="Poppins"/>
                <a:sym typeface="Poppins"/>
              </a:rPr>
              <a:t>WHERE</a:t>
            </a:r>
          </a:p>
          <a:p>
            <a:pPr algn="l">
              <a:lnSpc>
                <a:spcPts val="3136"/>
              </a:lnSpc>
            </a:pPr>
            <a:r>
              <a:rPr lang="en-US" sz="3200">
                <a:solidFill>
                  <a:srgbClr val="000000"/>
                </a:solidFill>
                <a:latin typeface="Poppins"/>
                <a:ea typeface="Poppins"/>
                <a:cs typeface="Poppins"/>
                <a:sym typeface="Poppins"/>
              </a:rPr>
              <a:t>    o.is_net = 1</a:t>
            </a:r>
          </a:p>
          <a:p>
            <a:pPr algn="l">
              <a:lnSpc>
                <a:spcPts val="3136"/>
              </a:lnSpc>
            </a:pPr>
            <a:r>
              <a:rPr lang="en-US" sz="3200">
                <a:solidFill>
                  <a:srgbClr val="000000"/>
                </a:solidFill>
                <a:latin typeface="Poppins"/>
                <a:ea typeface="Poppins"/>
                <a:cs typeface="Poppins"/>
                <a:sym typeface="Poppins"/>
              </a:rPr>
              <a:t>    AND EXTRACT(YEAR FROM o.order_date) BETWEEN 2020 AND 2024</a:t>
            </a:r>
          </a:p>
          <a:p>
            <a:pPr algn="l">
              <a:lnSpc>
                <a:spcPts val="3136"/>
              </a:lnSpc>
            </a:pPr>
            <a:r>
              <a:rPr lang="en-US" sz="3200">
                <a:solidFill>
                  <a:srgbClr val="000000"/>
                </a:solidFill>
                <a:latin typeface="Poppins"/>
                <a:ea typeface="Poppins"/>
                <a:cs typeface="Poppins"/>
                <a:sym typeface="Poppins"/>
              </a:rPr>
              <a:t>GROUP BY</a:t>
            </a:r>
          </a:p>
          <a:p>
            <a:pPr algn="l">
              <a:lnSpc>
                <a:spcPts val="3136"/>
              </a:lnSpc>
            </a:pPr>
            <a:r>
              <a:rPr lang="en-US" sz="3200">
                <a:solidFill>
                  <a:srgbClr val="000000"/>
                </a:solidFill>
                <a:latin typeface="Poppins"/>
                <a:ea typeface="Poppins"/>
                <a:cs typeface="Poppins"/>
                <a:sym typeface="Poppins"/>
              </a:rPr>
              <a:t>    p.category,</a:t>
            </a:r>
          </a:p>
          <a:p>
            <a:pPr algn="l">
              <a:lnSpc>
                <a:spcPts val="3136"/>
              </a:lnSpc>
            </a:pPr>
            <a:r>
              <a:rPr lang="en-US" sz="3200">
                <a:solidFill>
                  <a:srgbClr val="000000"/>
                </a:solidFill>
                <a:latin typeface="Poppins"/>
                <a:ea typeface="Poppins"/>
                <a:cs typeface="Poppins"/>
                <a:sym typeface="Poppins"/>
              </a:rPr>
              <a:t>    EXTRACT(YEAR FROM o.order_date)</a:t>
            </a:r>
          </a:p>
          <a:p>
            <a:pPr algn="l">
              <a:lnSpc>
                <a:spcPts val="3136"/>
              </a:lnSpc>
            </a:pPr>
            <a:r>
              <a:rPr lang="en-US" sz="3200">
                <a:solidFill>
                  <a:srgbClr val="000000"/>
                </a:solidFill>
                <a:latin typeface="Poppins"/>
                <a:ea typeface="Poppins"/>
                <a:cs typeface="Poppins"/>
                <a:sym typeface="Poppins"/>
              </a:rPr>
              <a:t>ORDER BY</a:t>
            </a:r>
          </a:p>
          <a:p>
            <a:pPr algn="l">
              <a:lnSpc>
                <a:spcPts val="3136"/>
              </a:lnSpc>
            </a:pPr>
            <a:r>
              <a:rPr lang="en-US" sz="3200">
                <a:solidFill>
                  <a:srgbClr val="000000"/>
                </a:solidFill>
                <a:latin typeface="Poppins"/>
                <a:ea typeface="Poppins"/>
                <a:cs typeface="Poppins"/>
                <a:sym typeface="Poppins"/>
              </a:rPr>
              <a:t>    p.category,</a:t>
            </a:r>
          </a:p>
          <a:p>
            <a:pPr algn="l">
              <a:lnSpc>
                <a:spcPts val="3136"/>
              </a:lnSpc>
            </a:pPr>
            <a:r>
              <a:rPr lang="en-US" sz="3200">
                <a:solidFill>
                  <a:srgbClr val="000000"/>
                </a:solidFill>
                <a:latin typeface="Poppins"/>
                <a:ea typeface="Poppins"/>
                <a:cs typeface="Poppins"/>
                <a:sym typeface="Poppins"/>
              </a:rPr>
              <a:t>    tahun;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2369957" y="2242821"/>
            <a:ext cx="13548087" cy="7374967"/>
          </a:xfrm>
          <a:custGeom>
            <a:avLst/>
            <a:gdLst/>
            <a:ahLst/>
            <a:cxnLst/>
            <a:rect r="r" b="b" t="t" l="l"/>
            <a:pathLst>
              <a:path h="7374967" w="13548087">
                <a:moveTo>
                  <a:pt x="0" y="0"/>
                </a:moveTo>
                <a:lnTo>
                  <a:pt x="13548086" y="0"/>
                </a:lnTo>
                <a:lnTo>
                  <a:pt x="13548086" y="7374966"/>
                </a:lnTo>
                <a:lnTo>
                  <a:pt x="0" y="7374966"/>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680934" y="2547850"/>
            <a:ext cx="14926132" cy="6417516"/>
          </a:xfrm>
          <a:custGeom>
            <a:avLst/>
            <a:gdLst/>
            <a:ahLst/>
            <a:cxnLst/>
            <a:rect r="r" b="b" t="t" l="l"/>
            <a:pathLst>
              <a:path h="6417516" w="14926132">
                <a:moveTo>
                  <a:pt x="0" y="0"/>
                </a:moveTo>
                <a:lnTo>
                  <a:pt x="14926132" y="0"/>
                </a:lnTo>
                <a:lnTo>
                  <a:pt x="14926132" y="6417516"/>
                </a:lnTo>
                <a:lnTo>
                  <a:pt x="0" y="6417516"/>
                </a:lnTo>
                <a:lnTo>
                  <a:pt x="0" y="0"/>
                </a:lnTo>
                <a:close/>
              </a:path>
            </a:pathLst>
          </a:custGeom>
          <a:blipFill>
            <a:blip r:embed="rId2"/>
            <a:stretch>
              <a:fillRect l="0" t="0" r="0" b="0"/>
            </a:stretch>
          </a:blipFill>
        </p:spPr>
      </p:sp>
      <p:sp>
        <p:nvSpPr>
          <p:cNvPr name="TextBox 18" id="18"/>
          <p:cNvSpPr txBox="true"/>
          <p:nvPr/>
        </p:nvSpPr>
        <p:spPr>
          <a:xfrm rot="0">
            <a:off x="1680934" y="937362"/>
            <a:ext cx="9899020" cy="1308592"/>
          </a:xfrm>
          <a:prstGeom prst="rect">
            <a:avLst/>
          </a:prstGeom>
        </p:spPr>
        <p:txBody>
          <a:bodyPr anchor="t" rtlCol="false" tIns="0" lIns="0" bIns="0" rIns="0">
            <a:spAutoFit/>
          </a:bodyPr>
          <a:lstStyle/>
          <a:p>
            <a:pPr algn="l">
              <a:lnSpc>
                <a:spcPts val="4890"/>
              </a:lnSpc>
            </a:pPr>
            <a:r>
              <a:rPr lang="en-US" sz="4990" b="true">
                <a:solidFill>
                  <a:srgbClr val="1E293B"/>
                </a:solidFill>
                <a:latin typeface="Poppins Semi-Bold"/>
                <a:ea typeface="Poppins Semi-Bold"/>
                <a:cs typeface="Poppins Semi-Bold"/>
                <a:sym typeface="Poppins Semi-Bold"/>
              </a:rPr>
              <a:t>Tabel Sales Volume (Qty) </a:t>
            </a:r>
          </a:p>
          <a:p>
            <a:pPr algn="l">
              <a:lnSpc>
                <a:spcPts val="4890"/>
              </a:lnSpc>
            </a:pPr>
            <a:r>
              <a:rPr lang="en-US" sz="4990" b="true">
                <a:solidFill>
                  <a:srgbClr val="1E293B"/>
                </a:solidFill>
                <a:latin typeface="Poppins Semi-Bold"/>
                <a:ea typeface="Poppins Semi-Bold"/>
                <a:cs typeface="Poppins Semi-Bold"/>
                <a:sym typeface="Poppins Semi-Bold"/>
              </a:rPr>
              <a:t>by Category From 2020 - 2024</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180412" y="2821537"/>
            <a:ext cx="15927176" cy="6251609"/>
          </a:xfrm>
          <a:custGeom>
            <a:avLst/>
            <a:gdLst/>
            <a:ahLst/>
            <a:cxnLst/>
            <a:rect r="r" b="b" t="t" l="l"/>
            <a:pathLst>
              <a:path h="6251609" w="15927176">
                <a:moveTo>
                  <a:pt x="0" y="0"/>
                </a:moveTo>
                <a:lnTo>
                  <a:pt x="15927176" y="0"/>
                </a:lnTo>
                <a:lnTo>
                  <a:pt x="15927176" y="6251609"/>
                </a:lnTo>
                <a:lnTo>
                  <a:pt x="0" y="6251609"/>
                </a:lnTo>
                <a:lnTo>
                  <a:pt x="0" y="0"/>
                </a:lnTo>
                <a:close/>
              </a:path>
            </a:pathLst>
          </a:custGeom>
          <a:blipFill>
            <a:blip r:embed="rId2"/>
            <a:stretch>
              <a:fillRect l="0" t="0" r="0" b="0"/>
            </a:stretch>
          </a:blipFill>
        </p:spPr>
      </p:sp>
      <p:sp>
        <p:nvSpPr>
          <p:cNvPr name="TextBox 18" id="18"/>
          <p:cNvSpPr txBox="true"/>
          <p:nvPr/>
        </p:nvSpPr>
        <p:spPr>
          <a:xfrm rot="0">
            <a:off x="1680934" y="937362"/>
            <a:ext cx="9899020" cy="1308592"/>
          </a:xfrm>
          <a:prstGeom prst="rect">
            <a:avLst/>
          </a:prstGeom>
        </p:spPr>
        <p:txBody>
          <a:bodyPr anchor="t" rtlCol="false" tIns="0" lIns="0" bIns="0" rIns="0">
            <a:spAutoFit/>
          </a:bodyPr>
          <a:lstStyle/>
          <a:p>
            <a:pPr algn="l">
              <a:lnSpc>
                <a:spcPts val="4890"/>
              </a:lnSpc>
            </a:pPr>
            <a:r>
              <a:rPr lang="en-US" sz="4990" b="true">
                <a:solidFill>
                  <a:srgbClr val="1E293B"/>
                </a:solidFill>
                <a:latin typeface="Poppins Semi-Bold"/>
                <a:ea typeface="Poppins Semi-Bold"/>
                <a:cs typeface="Poppins Semi-Bold"/>
                <a:sym typeface="Poppins Semi-Bold"/>
              </a:rPr>
              <a:t>Sales Volume Trend </a:t>
            </a:r>
          </a:p>
          <a:p>
            <a:pPr algn="l">
              <a:lnSpc>
                <a:spcPts val="4890"/>
              </a:lnSpc>
            </a:pPr>
            <a:r>
              <a:rPr lang="en-US" sz="4990" b="true">
                <a:solidFill>
                  <a:srgbClr val="1E293B"/>
                </a:solidFill>
                <a:latin typeface="Poppins Semi-Bold"/>
                <a:ea typeface="Poppins Semi-Bold"/>
                <a:cs typeface="Poppins Semi-Bold"/>
                <a:sym typeface="Poppins Semi-Bold"/>
              </a:rPr>
              <a:t>by Category (2020–2024) </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7858432" y="1114425"/>
            <a:ext cx="9400868"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Insight and Recommendation</a:t>
            </a:r>
          </a:p>
        </p:txBody>
      </p:sp>
      <p:grpSp>
        <p:nvGrpSpPr>
          <p:cNvPr name="Group 18" id="18"/>
          <p:cNvGrpSpPr/>
          <p:nvPr/>
        </p:nvGrpSpPr>
        <p:grpSpPr>
          <a:xfrm rot="0">
            <a:off x="998081" y="4349935"/>
            <a:ext cx="7579843" cy="4132511"/>
            <a:chOff x="0" y="0"/>
            <a:chExt cx="2264294" cy="1234487"/>
          </a:xfrm>
        </p:grpSpPr>
        <p:sp>
          <p:nvSpPr>
            <p:cNvPr name="Freeform 19" id="19"/>
            <p:cNvSpPr/>
            <p:nvPr/>
          </p:nvSpPr>
          <p:spPr>
            <a:xfrm flipH="false" flipV="false" rot="0">
              <a:off x="0" y="0"/>
              <a:ext cx="2264294" cy="1234487"/>
            </a:xfrm>
            <a:custGeom>
              <a:avLst/>
              <a:gdLst/>
              <a:ahLst/>
              <a:cxnLst/>
              <a:rect r="r" b="b" t="t" l="l"/>
              <a:pathLst>
                <a:path h="1234487" w="2264294">
                  <a:moveTo>
                    <a:pt x="15321" y="0"/>
                  </a:moveTo>
                  <a:lnTo>
                    <a:pt x="2248974" y="0"/>
                  </a:lnTo>
                  <a:cubicBezTo>
                    <a:pt x="2257435" y="0"/>
                    <a:pt x="2264294" y="6859"/>
                    <a:pt x="2264294" y="15321"/>
                  </a:cubicBezTo>
                  <a:lnTo>
                    <a:pt x="2264294" y="1219167"/>
                  </a:lnTo>
                  <a:cubicBezTo>
                    <a:pt x="2264294" y="1227628"/>
                    <a:pt x="2257435" y="1234487"/>
                    <a:pt x="2248974" y="1234487"/>
                  </a:cubicBezTo>
                  <a:lnTo>
                    <a:pt x="15321" y="1234487"/>
                  </a:lnTo>
                  <a:cubicBezTo>
                    <a:pt x="6859" y="1234487"/>
                    <a:pt x="0" y="1227628"/>
                    <a:pt x="0" y="1219167"/>
                  </a:cubicBezTo>
                  <a:lnTo>
                    <a:pt x="0" y="15321"/>
                  </a:lnTo>
                  <a:cubicBezTo>
                    <a:pt x="0" y="6859"/>
                    <a:pt x="6859" y="0"/>
                    <a:pt x="15321" y="0"/>
                  </a:cubicBezTo>
                  <a:close/>
                </a:path>
              </a:pathLst>
            </a:custGeom>
            <a:solidFill>
              <a:srgbClr val="CFE2F3"/>
            </a:solidFill>
          </p:spPr>
        </p:sp>
        <p:sp>
          <p:nvSpPr>
            <p:cNvPr name="TextBox 20" id="20"/>
            <p:cNvSpPr txBox="true"/>
            <p:nvPr/>
          </p:nvSpPr>
          <p:spPr>
            <a:xfrm>
              <a:off x="0" y="-47625"/>
              <a:ext cx="2264294" cy="1282112"/>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275532" y="5229842"/>
            <a:ext cx="7082895" cy="17641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Top Contributor by Product Category :</a:t>
            </a:r>
          </a:p>
          <a:p>
            <a:pPr algn="l">
              <a:lnSpc>
                <a:spcPts val="2743"/>
              </a:lnSpc>
            </a:pPr>
            <a:r>
              <a:rPr lang="en-US" sz="2799">
                <a:solidFill>
                  <a:srgbClr val="000000"/>
                </a:solidFill>
                <a:latin typeface="Poppins"/>
                <a:ea typeface="Poppins"/>
                <a:cs typeface="Poppins"/>
                <a:sym typeface="Poppins"/>
              </a:rPr>
              <a:t>1.   Food &amp; Beverage (29432)</a:t>
            </a:r>
          </a:p>
          <a:p>
            <a:pPr algn="l">
              <a:lnSpc>
                <a:spcPts val="2743"/>
              </a:lnSpc>
            </a:pPr>
            <a:r>
              <a:rPr lang="en-US" sz="2799">
                <a:solidFill>
                  <a:srgbClr val="000000"/>
                </a:solidFill>
                <a:latin typeface="Poppins"/>
                <a:ea typeface="Poppins"/>
                <a:cs typeface="Poppins"/>
                <a:sym typeface="Poppins"/>
              </a:rPr>
              <a:t>2.   Beauty &amp; Personal Care (19756)</a:t>
            </a:r>
          </a:p>
          <a:p>
            <a:pPr algn="l">
              <a:lnSpc>
                <a:spcPts val="2743"/>
              </a:lnSpc>
            </a:pPr>
            <a:r>
              <a:rPr lang="en-US" sz="2799">
                <a:solidFill>
                  <a:srgbClr val="000000"/>
                </a:solidFill>
                <a:latin typeface="Poppins"/>
                <a:ea typeface="Poppins"/>
                <a:cs typeface="Poppins"/>
                <a:sym typeface="Poppins"/>
              </a:rPr>
              <a:t>3.   F</a:t>
            </a:r>
            <a:r>
              <a:rPr lang="en-US" sz="2799">
                <a:solidFill>
                  <a:srgbClr val="000000"/>
                </a:solidFill>
                <a:latin typeface="Poppins"/>
                <a:ea typeface="Poppins"/>
                <a:cs typeface="Poppins"/>
                <a:sym typeface="Poppins"/>
              </a:rPr>
              <a:t>ashion &amp; Footware (18141) </a:t>
            </a:r>
          </a:p>
          <a:p>
            <a:pPr algn="l">
              <a:lnSpc>
                <a:spcPts val="2743"/>
              </a:lnSpc>
            </a:pPr>
          </a:p>
        </p:txBody>
      </p:sp>
      <p:grpSp>
        <p:nvGrpSpPr>
          <p:cNvPr name="Group 22" id="22"/>
          <p:cNvGrpSpPr/>
          <p:nvPr/>
        </p:nvGrpSpPr>
        <p:grpSpPr>
          <a:xfrm rot="0">
            <a:off x="9679457" y="4349935"/>
            <a:ext cx="7579843" cy="4132511"/>
            <a:chOff x="0" y="0"/>
            <a:chExt cx="2264294" cy="1234487"/>
          </a:xfrm>
        </p:grpSpPr>
        <p:sp>
          <p:nvSpPr>
            <p:cNvPr name="Freeform 23" id="23"/>
            <p:cNvSpPr/>
            <p:nvPr/>
          </p:nvSpPr>
          <p:spPr>
            <a:xfrm flipH="false" flipV="false" rot="0">
              <a:off x="0" y="0"/>
              <a:ext cx="2264294" cy="1234487"/>
            </a:xfrm>
            <a:custGeom>
              <a:avLst/>
              <a:gdLst/>
              <a:ahLst/>
              <a:cxnLst/>
              <a:rect r="r" b="b" t="t" l="l"/>
              <a:pathLst>
                <a:path h="1234487" w="2264294">
                  <a:moveTo>
                    <a:pt x="15321" y="0"/>
                  </a:moveTo>
                  <a:lnTo>
                    <a:pt x="2248974" y="0"/>
                  </a:lnTo>
                  <a:cubicBezTo>
                    <a:pt x="2257435" y="0"/>
                    <a:pt x="2264294" y="6859"/>
                    <a:pt x="2264294" y="15321"/>
                  </a:cubicBezTo>
                  <a:lnTo>
                    <a:pt x="2264294" y="1219167"/>
                  </a:lnTo>
                  <a:cubicBezTo>
                    <a:pt x="2264294" y="1227628"/>
                    <a:pt x="2257435" y="1234487"/>
                    <a:pt x="2248974" y="1234487"/>
                  </a:cubicBezTo>
                  <a:lnTo>
                    <a:pt x="15321" y="1234487"/>
                  </a:lnTo>
                  <a:cubicBezTo>
                    <a:pt x="6859" y="1234487"/>
                    <a:pt x="0" y="1227628"/>
                    <a:pt x="0" y="1219167"/>
                  </a:cubicBezTo>
                  <a:lnTo>
                    <a:pt x="0" y="15321"/>
                  </a:lnTo>
                  <a:cubicBezTo>
                    <a:pt x="0" y="6859"/>
                    <a:pt x="6859" y="0"/>
                    <a:pt x="15321" y="0"/>
                  </a:cubicBezTo>
                  <a:close/>
                </a:path>
              </a:pathLst>
            </a:custGeom>
            <a:solidFill>
              <a:srgbClr val="CFE2F3"/>
            </a:solidFill>
          </p:spPr>
        </p:sp>
        <p:sp>
          <p:nvSpPr>
            <p:cNvPr name="TextBox 24" id="24"/>
            <p:cNvSpPr txBox="true"/>
            <p:nvPr/>
          </p:nvSpPr>
          <p:spPr>
            <a:xfrm>
              <a:off x="0" y="-47625"/>
              <a:ext cx="2264294" cy="1282112"/>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10016244" y="5125319"/>
            <a:ext cx="6923220" cy="3357127"/>
          </a:xfrm>
          <a:prstGeom prst="rect">
            <a:avLst/>
          </a:prstGeom>
        </p:spPr>
        <p:txBody>
          <a:bodyPr anchor="t" rtlCol="false" tIns="0" lIns="0" bIns="0" rIns="0">
            <a:spAutoFit/>
          </a:bodyPr>
          <a:lstStyle/>
          <a:p>
            <a:pPr algn="l">
              <a:lnSpc>
                <a:spcPts val="2209"/>
              </a:lnSpc>
            </a:pPr>
            <a:r>
              <a:rPr lang="en-US" sz="2254">
                <a:solidFill>
                  <a:srgbClr val="000000"/>
                </a:solidFill>
                <a:latin typeface="Poppins"/>
                <a:ea typeface="Poppins"/>
                <a:cs typeface="Poppins"/>
                <a:sym typeface="Poppins"/>
              </a:rPr>
              <a:t>Rekomendasi Operasional Gudang :</a:t>
            </a:r>
          </a:p>
          <a:p>
            <a:pPr algn="l">
              <a:lnSpc>
                <a:spcPts val="2209"/>
              </a:lnSpc>
            </a:pPr>
            <a:r>
              <a:rPr lang="en-US" sz="2254">
                <a:solidFill>
                  <a:srgbClr val="000000"/>
                </a:solidFill>
                <a:latin typeface="Poppins"/>
                <a:ea typeface="Poppins"/>
                <a:cs typeface="Poppins"/>
                <a:sym typeface="Poppins"/>
              </a:rPr>
              <a:t>Alokasi Ruang Simpan: Prioritaskan area penyimpanan utama untuk kategori fast-moving product seperti Fashion &amp; Footwear dan Food &amp; Beverage untuk mengantisipasi surge permintaan.</a:t>
            </a:r>
          </a:p>
          <a:p>
            <a:pPr algn="l">
              <a:lnSpc>
                <a:spcPts val="2209"/>
              </a:lnSpc>
            </a:pPr>
            <a:r>
              <a:rPr lang="en-US" sz="2254">
                <a:solidFill>
                  <a:srgbClr val="000000"/>
                </a:solidFill>
                <a:latin typeface="Poppins"/>
                <a:ea typeface="Poppins"/>
                <a:cs typeface="Poppins"/>
                <a:sym typeface="Poppins"/>
              </a:rPr>
              <a:t>Pengendalian Stok: Terapkan strategi lean inventory pada kategori low-volume (Electronics dan Gaming Gear) guna menghindari idle storage dan menekan biaya operasional gudang. </a:t>
            </a:r>
          </a:p>
          <a:p>
            <a:pPr algn="l">
              <a:lnSpc>
                <a:spcPts val="2209"/>
              </a:lnSpc>
            </a:pPr>
          </a:p>
        </p:txBody>
      </p:sp>
      <p:sp>
        <p:nvSpPr>
          <p:cNvPr name="TextBox 26" id="26"/>
          <p:cNvSpPr txBox="true"/>
          <p:nvPr/>
        </p:nvSpPr>
        <p:spPr>
          <a:xfrm rot="0">
            <a:off x="183817" y="4556057"/>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Insight</a:t>
            </a:r>
          </a:p>
        </p:txBody>
      </p:sp>
      <p:sp>
        <p:nvSpPr>
          <p:cNvPr name="TextBox 27" id="27"/>
          <p:cNvSpPr txBox="true"/>
          <p:nvPr/>
        </p:nvSpPr>
        <p:spPr>
          <a:xfrm rot="0">
            <a:off x="10016244" y="4556057"/>
            <a:ext cx="3747037"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Recommendation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43286"/>
            <a:ext cx="898754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Case Analysis</a:t>
            </a:r>
          </a:p>
        </p:txBody>
      </p:sp>
      <p:grpSp>
        <p:nvGrpSpPr>
          <p:cNvPr name="Group 6" id="6"/>
          <p:cNvGrpSpPr/>
          <p:nvPr/>
        </p:nvGrpSpPr>
        <p:grpSpPr>
          <a:xfrm rot="0">
            <a:off x="998081" y="5663612"/>
            <a:ext cx="7579843" cy="3594688"/>
            <a:chOff x="0" y="0"/>
            <a:chExt cx="2264294" cy="1073826"/>
          </a:xfrm>
        </p:grpSpPr>
        <p:sp>
          <p:nvSpPr>
            <p:cNvPr name="Freeform 7" id="7"/>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8" id="8"/>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75532" y="6543519"/>
            <a:ext cx="7082895" cy="24499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Marketing manager membutuhkan performa channel (web, app, offline) sepanjang 2024: total order &amp; revenue per bulan, serta growth revenue tiap bulan dibandingkan bulan yang sama di 2023.</a:t>
            </a:r>
          </a:p>
          <a:p>
            <a:pPr algn="l">
              <a:lnSpc>
                <a:spcPts val="2743"/>
              </a:lnSpc>
            </a:pPr>
          </a:p>
        </p:txBody>
      </p:sp>
      <p:grpSp>
        <p:nvGrpSpPr>
          <p:cNvPr name="Group 10" id="10"/>
          <p:cNvGrpSpPr/>
          <p:nvPr/>
        </p:nvGrpSpPr>
        <p:grpSpPr>
          <a:xfrm rot="0">
            <a:off x="9679457" y="5663612"/>
            <a:ext cx="7579843" cy="3594688"/>
            <a:chOff x="0" y="0"/>
            <a:chExt cx="2264294" cy="1073826"/>
          </a:xfrm>
        </p:grpSpPr>
        <p:sp>
          <p:nvSpPr>
            <p:cNvPr name="Freeform 11" id="11"/>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12" id="12"/>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9818182" y="6714969"/>
            <a:ext cx="7302393" cy="2107057"/>
          </a:xfrm>
          <a:prstGeom prst="rect">
            <a:avLst/>
          </a:prstGeom>
        </p:spPr>
        <p:txBody>
          <a:bodyPr anchor="t" rtlCol="false" tIns="0" lIns="0" bIns="0" rIns="0">
            <a:spAutoFit/>
          </a:bodyPr>
          <a:lstStyle/>
          <a:p>
            <a:pPr algn="l" marL="604519" indent="-302260" lvl="1">
              <a:lnSpc>
                <a:spcPts val="2743"/>
              </a:lnSpc>
              <a:buFont typeface="Arial"/>
              <a:buChar char="•"/>
            </a:pPr>
            <a:r>
              <a:rPr lang="en-US" sz="2799">
                <a:solidFill>
                  <a:srgbClr val="000000"/>
                </a:solidFill>
                <a:latin typeface="Poppins"/>
                <a:ea typeface="Poppins"/>
                <a:cs typeface="Poppins"/>
                <a:sym typeface="Poppins"/>
              </a:rPr>
              <a:t>COUNT(DISTINCT order_id) &amp; SUM(after_discount) per channel per bulan</a:t>
            </a:r>
          </a:p>
          <a:p>
            <a:pPr algn="l" marL="604519" indent="-302260" lvl="1">
              <a:lnSpc>
                <a:spcPts val="2743"/>
              </a:lnSpc>
              <a:buFont typeface="Arial"/>
              <a:buChar char="•"/>
            </a:pPr>
            <a:r>
              <a:rPr lang="en-US" sz="2799">
                <a:solidFill>
                  <a:srgbClr val="000000"/>
                </a:solidFill>
                <a:latin typeface="Poppins"/>
                <a:ea typeface="Poppins"/>
                <a:cs typeface="Poppins"/>
                <a:sym typeface="Poppins"/>
              </a:rPr>
              <a:t>Growth % vs bulan sama di 2023 (butuh data 2 tahun berdampingan)</a:t>
            </a:r>
          </a:p>
          <a:p>
            <a:pPr algn="l">
              <a:lnSpc>
                <a:spcPts val="2743"/>
              </a:lnSpc>
            </a:pPr>
          </a:p>
        </p:txBody>
      </p:sp>
      <p:sp>
        <p:nvSpPr>
          <p:cNvPr name="TextBox 14" id="14"/>
          <p:cNvSpPr txBox="true"/>
          <p:nvPr/>
        </p:nvSpPr>
        <p:spPr>
          <a:xfrm rot="0">
            <a:off x="1275532" y="5899135"/>
            <a:ext cx="3657800" cy="441833"/>
          </a:xfrm>
          <a:prstGeom prst="rect">
            <a:avLst/>
          </a:prstGeom>
        </p:spPr>
        <p:txBody>
          <a:bodyPr anchor="t" rtlCol="false" tIns="0" lIns="0" bIns="0" rIns="0">
            <a:spAutoFit/>
          </a:bodyPr>
          <a:lstStyle/>
          <a:p>
            <a:pPr algn="ctr">
              <a:lnSpc>
                <a:spcPts val="3136"/>
              </a:lnSpc>
            </a:pPr>
            <a:r>
              <a:rPr lang="en-US" b="true" sz="3200">
                <a:solidFill>
                  <a:srgbClr val="1800AD"/>
                </a:solidFill>
                <a:latin typeface="Poppins Semi-Bold"/>
                <a:ea typeface="Poppins Semi-Bold"/>
                <a:cs typeface="Poppins Semi-Bold"/>
                <a:sym typeface="Poppins Semi-Bold"/>
              </a:rPr>
              <a:t>Business Request</a:t>
            </a:r>
          </a:p>
        </p:txBody>
      </p:sp>
      <p:sp>
        <p:nvSpPr>
          <p:cNvPr name="TextBox 15" id="15"/>
          <p:cNvSpPr txBox="true"/>
          <p:nvPr/>
        </p:nvSpPr>
        <p:spPr>
          <a:xfrm rot="0">
            <a:off x="10016244" y="5869734"/>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Objective/Output</a:t>
            </a:r>
          </a:p>
        </p:txBody>
      </p:sp>
      <p:grpSp>
        <p:nvGrpSpPr>
          <p:cNvPr name="Group 16" id="16"/>
          <p:cNvGrpSpPr/>
          <p:nvPr/>
        </p:nvGrpSpPr>
        <p:grpSpPr>
          <a:xfrm rot="0">
            <a:off x="11043819" y="-3760614"/>
            <a:ext cx="7244181" cy="72441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390132" y="-4068572"/>
            <a:ext cx="7116554" cy="711655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5400000">
            <a:off x="3391230" y="3315010"/>
            <a:ext cx="562492" cy="452200"/>
            <a:chOff x="0" y="0"/>
            <a:chExt cx="647700" cy="520700"/>
          </a:xfrm>
        </p:grpSpPr>
        <p:sp>
          <p:nvSpPr>
            <p:cNvPr name="Freeform 23" id="2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24" id="2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0">
            <a:off x="1028700" y="3255366"/>
            <a:ext cx="16230600" cy="1324562"/>
            <a:chOff x="0" y="0"/>
            <a:chExt cx="4274726" cy="348856"/>
          </a:xfrm>
        </p:grpSpPr>
        <p:sp>
          <p:nvSpPr>
            <p:cNvPr name="Freeform 26" id="26"/>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7" id="27"/>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28" id="28"/>
          <p:cNvSpPr/>
          <p:nvPr/>
        </p:nvSpPr>
        <p:spPr>
          <a:xfrm flipH="false" flipV="false" rot="0">
            <a:off x="1322641" y="3541110"/>
            <a:ext cx="884736" cy="654704"/>
          </a:xfrm>
          <a:custGeom>
            <a:avLst/>
            <a:gdLst/>
            <a:ahLst/>
            <a:cxnLst/>
            <a:rect r="r" b="b" t="t" l="l"/>
            <a:pathLst>
              <a:path h="654704" w="884736">
                <a:moveTo>
                  <a:pt x="0" y="0"/>
                </a:moveTo>
                <a:lnTo>
                  <a:pt x="884736" y="0"/>
                </a:lnTo>
                <a:lnTo>
                  <a:pt x="884736" y="654704"/>
                </a:lnTo>
                <a:lnTo>
                  <a:pt x="0" y="654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15394" y="3350616"/>
            <a:ext cx="5651591" cy="1134316"/>
            <a:chOff x="0" y="0"/>
            <a:chExt cx="7535454" cy="1512421"/>
          </a:xfrm>
        </p:grpSpPr>
        <p:sp>
          <p:nvSpPr>
            <p:cNvPr name="TextBox 30" id="30"/>
            <p:cNvSpPr txBox="true"/>
            <p:nvPr/>
          </p:nvSpPr>
          <p:spPr>
            <a:xfrm rot="0">
              <a:off x="0" y="28575"/>
              <a:ext cx="1456317"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3</a:t>
              </a:r>
            </a:p>
          </p:txBody>
        </p:sp>
        <p:sp>
          <p:nvSpPr>
            <p:cNvPr name="TextBox 31" id="31"/>
            <p:cNvSpPr txBox="true"/>
            <p:nvPr/>
          </p:nvSpPr>
          <p:spPr>
            <a:xfrm rot="0">
              <a:off x="0" y="590084"/>
              <a:ext cx="678163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Pertumbuhan Channel per Bulan 2024</a:t>
              </a:r>
            </a:p>
          </p:txBody>
        </p:sp>
        <p:sp>
          <p:nvSpPr>
            <p:cNvPr name="TextBox 32" id="32"/>
            <p:cNvSpPr txBox="true"/>
            <p:nvPr/>
          </p:nvSpPr>
          <p:spPr>
            <a:xfrm rot="0">
              <a:off x="0" y="1119864"/>
              <a:ext cx="7535454"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Marketing Manager • Deadline 10 Jan 2025</a:t>
              </a:r>
            </a:p>
          </p:txBody>
        </p:sp>
      </p:grpSp>
      <p:grpSp>
        <p:nvGrpSpPr>
          <p:cNvPr name="Group 33" id="33"/>
          <p:cNvGrpSpPr/>
          <p:nvPr/>
        </p:nvGrpSpPr>
        <p:grpSpPr>
          <a:xfrm rot="0">
            <a:off x="12292745" y="3509658"/>
            <a:ext cx="4507591" cy="815978"/>
            <a:chOff x="0" y="0"/>
            <a:chExt cx="1187184" cy="214908"/>
          </a:xfrm>
        </p:grpSpPr>
        <p:sp>
          <p:nvSpPr>
            <p:cNvPr name="Freeform 34" id="34"/>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35" id="35"/>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36" id="36"/>
          <p:cNvSpPr txBox="true"/>
          <p:nvPr/>
        </p:nvSpPr>
        <p:spPr>
          <a:xfrm rot="0">
            <a:off x="12173932" y="3788297"/>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MoM / YoY Growth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2723525" y="2745432"/>
            <a:ext cx="7538922" cy="6282435"/>
          </a:xfrm>
          <a:custGeom>
            <a:avLst/>
            <a:gdLst/>
            <a:ahLst/>
            <a:cxnLst/>
            <a:rect r="r" b="b" t="t" l="l"/>
            <a:pathLst>
              <a:path h="6282435" w="7538922">
                <a:moveTo>
                  <a:pt x="0" y="0"/>
                </a:moveTo>
                <a:lnTo>
                  <a:pt x="7538922" y="0"/>
                </a:lnTo>
                <a:lnTo>
                  <a:pt x="7538922" y="6282435"/>
                </a:lnTo>
                <a:lnTo>
                  <a:pt x="0" y="6282435"/>
                </a:lnTo>
                <a:lnTo>
                  <a:pt x="0" y="0"/>
                </a:lnTo>
                <a:close/>
              </a:path>
            </a:pathLst>
          </a:custGeom>
          <a:blipFill>
            <a:blip r:embed="rId2"/>
            <a:stretch>
              <a:fillRect l="0" t="0" r="0" b="0"/>
            </a:stretch>
          </a:blipFill>
        </p:spPr>
      </p:sp>
      <p:sp>
        <p:nvSpPr>
          <p:cNvPr name="Freeform 18" id="18"/>
          <p:cNvSpPr/>
          <p:nvPr/>
        </p:nvSpPr>
        <p:spPr>
          <a:xfrm flipH="false" flipV="false" rot="0">
            <a:off x="11327005" y="2745432"/>
            <a:ext cx="4581253" cy="6282435"/>
          </a:xfrm>
          <a:custGeom>
            <a:avLst/>
            <a:gdLst/>
            <a:ahLst/>
            <a:cxnLst/>
            <a:rect r="r" b="b" t="t" l="l"/>
            <a:pathLst>
              <a:path h="6282435" w="4581253">
                <a:moveTo>
                  <a:pt x="0" y="0"/>
                </a:moveTo>
                <a:lnTo>
                  <a:pt x="4581253" y="0"/>
                </a:lnTo>
                <a:lnTo>
                  <a:pt x="4581253" y="6282435"/>
                </a:lnTo>
                <a:lnTo>
                  <a:pt x="0" y="6282435"/>
                </a:lnTo>
                <a:lnTo>
                  <a:pt x="0" y="0"/>
                </a:lnTo>
                <a:close/>
              </a:path>
            </a:pathLst>
          </a:custGeom>
          <a:blipFill>
            <a:blip r:embed="rId3"/>
            <a:stretch>
              <a:fillRect l="0" t="0" r="0" b="0"/>
            </a:stretch>
          </a:blipFill>
        </p:spPr>
      </p:sp>
      <p:sp>
        <p:nvSpPr>
          <p:cNvPr name="TextBox 19" id="19"/>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Syntax</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795668" y="2375387"/>
            <a:ext cx="14696664" cy="7368246"/>
          </a:xfrm>
          <a:custGeom>
            <a:avLst/>
            <a:gdLst/>
            <a:ahLst/>
            <a:cxnLst/>
            <a:rect r="r" b="b" t="t" l="l"/>
            <a:pathLst>
              <a:path h="7368246" w="14696664">
                <a:moveTo>
                  <a:pt x="0" y="0"/>
                </a:moveTo>
                <a:lnTo>
                  <a:pt x="14696664" y="0"/>
                </a:lnTo>
                <a:lnTo>
                  <a:pt x="14696664" y="7368246"/>
                </a:lnTo>
                <a:lnTo>
                  <a:pt x="0" y="7368246"/>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821100" y="2702154"/>
            <a:ext cx="14645800" cy="6933760"/>
          </a:xfrm>
          <a:custGeom>
            <a:avLst/>
            <a:gdLst/>
            <a:ahLst/>
            <a:cxnLst/>
            <a:rect r="r" b="b" t="t" l="l"/>
            <a:pathLst>
              <a:path h="6933760" w="14645800">
                <a:moveTo>
                  <a:pt x="0" y="0"/>
                </a:moveTo>
                <a:lnTo>
                  <a:pt x="14645800" y="0"/>
                </a:lnTo>
                <a:lnTo>
                  <a:pt x="14645800" y="6933761"/>
                </a:lnTo>
                <a:lnTo>
                  <a:pt x="0" y="6933761"/>
                </a:lnTo>
                <a:lnTo>
                  <a:pt x="0" y="0"/>
                </a:lnTo>
                <a:close/>
              </a:path>
            </a:pathLst>
          </a:custGeom>
          <a:blipFill>
            <a:blip r:embed="rId2"/>
            <a:stretch>
              <a:fillRect l="0" t="0" r="0" b="0"/>
            </a:stretch>
          </a:blipFill>
        </p:spPr>
      </p:sp>
      <p:sp>
        <p:nvSpPr>
          <p:cNvPr name="TextBox 18" id="18"/>
          <p:cNvSpPr txBox="true"/>
          <p:nvPr/>
        </p:nvSpPr>
        <p:spPr>
          <a:xfrm rot="0">
            <a:off x="1028700" y="1095375"/>
            <a:ext cx="10411835" cy="1308592"/>
          </a:xfrm>
          <a:prstGeom prst="rect">
            <a:avLst/>
          </a:prstGeom>
        </p:spPr>
        <p:txBody>
          <a:bodyPr anchor="t" rtlCol="false" tIns="0" lIns="0" bIns="0" rIns="0">
            <a:spAutoFit/>
          </a:bodyPr>
          <a:lstStyle/>
          <a:p>
            <a:pPr algn="l">
              <a:lnSpc>
                <a:spcPts val="4890"/>
              </a:lnSpc>
            </a:pPr>
            <a:r>
              <a:rPr lang="en-US" sz="4990" b="true">
                <a:solidFill>
                  <a:srgbClr val="1E293B"/>
                </a:solidFill>
                <a:latin typeface="Poppins Semi-Bold"/>
                <a:ea typeface="Poppins Semi-Bold"/>
                <a:cs typeface="Poppins Semi-Bold"/>
                <a:sym typeface="Poppins Semi-Bold"/>
              </a:rPr>
              <a:t>Total (unique) orders &amp; revenue (after discounts) per month</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3149080" y="2872975"/>
            <a:ext cx="13308015" cy="6941698"/>
          </a:xfrm>
          <a:custGeom>
            <a:avLst/>
            <a:gdLst/>
            <a:ahLst/>
            <a:cxnLst/>
            <a:rect r="r" b="b" t="t" l="l"/>
            <a:pathLst>
              <a:path h="6941698" w="13308015">
                <a:moveTo>
                  <a:pt x="0" y="0"/>
                </a:moveTo>
                <a:lnTo>
                  <a:pt x="13308016" y="0"/>
                </a:lnTo>
                <a:lnTo>
                  <a:pt x="13308016" y="6941698"/>
                </a:lnTo>
                <a:lnTo>
                  <a:pt x="0" y="6941698"/>
                </a:lnTo>
                <a:lnTo>
                  <a:pt x="0" y="0"/>
                </a:lnTo>
                <a:close/>
              </a:path>
            </a:pathLst>
          </a:custGeom>
          <a:blipFill>
            <a:blip r:embed="rId2"/>
            <a:stretch>
              <a:fillRect l="0" t="0" r="0" b="0"/>
            </a:stretch>
          </a:blipFill>
        </p:spPr>
      </p:sp>
      <p:sp>
        <p:nvSpPr>
          <p:cNvPr name="TextBox 18" id="18"/>
          <p:cNvSpPr txBox="true"/>
          <p:nvPr/>
        </p:nvSpPr>
        <p:spPr>
          <a:xfrm rot="0">
            <a:off x="1168119" y="865107"/>
            <a:ext cx="10411835" cy="1768075"/>
          </a:xfrm>
          <a:prstGeom prst="rect">
            <a:avLst/>
          </a:prstGeom>
        </p:spPr>
        <p:txBody>
          <a:bodyPr anchor="t" rtlCol="false" tIns="0" lIns="0" bIns="0" rIns="0">
            <a:spAutoFit/>
          </a:bodyPr>
          <a:lstStyle/>
          <a:p>
            <a:pPr algn="l">
              <a:lnSpc>
                <a:spcPts val="6556"/>
              </a:lnSpc>
            </a:pPr>
            <a:r>
              <a:rPr lang="en-US" sz="6690" b="true">
                <a:solidFill>
                  <a:srgbClr val="1E293B"/>
                </a:solidFill>
                <a:latin typeface="Poppins Semi-Bold"/>
                <a:ea typeface="Poppins Semi-Bold"/>
                <a:cs typeface="Poppins Semi-Bold"/>
                <a:sym typeface="Poppins Semi-Bold"/>
              </a:rPr>
              <a:t>MoM Revenue Growth </a:t>
            </a:r>
          </a:p>
          <a:p>
            <a:pPr algn="l">
              <a:lnSpc>
                <a:spcPts val="6556"/>
              </a:lnSpc>
            </a:pPr>
            <a:r>
              <a:rPr lang="en-US" sz="6690" b="true">
                <a:solidFill>
                  <a:srgbClr val="1E293B"/>
                </a:solidFill>
                <a:latin typeface="Poppins Semi-Bold"/>
                <a:ea typeface="Poppins Semi-Bold"/>
                <a:cs typeface="Poppins Semi-Bold"/>
                <a:sym typeface="Poppins Semi-Bold"/>
              </a:rPr>
              <a:t>2024 vs 2023</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360188" y="2766531"/>
            <a:ext cx="15567624" cy="6674525"/>
          </a:xfrm>
          <a:custGeom>
            <a:avLst/>
            <a:gdLst/>
            <a:ahLst/>
            <a:cxnLst/>
            <a:rect r="r" b="b" t="t" l="l"/>
            <a:pathLst>
              <a:path h="6674525" w="15567624">
                <a:moveTo>
                  <a:pt x="0" y="0"/>
                </a:moveTo>
                <a:lnTo>
                  <a:pt x="15567624" y="0"/>
                </a:lnTo>
                <a:lnTo>
                  <a:pt x="15567624" y="6674525"/>
                </a:lnTo>
                <a:lnTo>
                  <a:pt x="0" y="6674525"/>
                </a:lnTo>
                <a:lnTo>
                  <a:pt x="0" y="0"/>
                </a:lnTo>
                <a:close/>
              </a:path>
            </a:pathLst>
          </a:custGeom>
          <a:blipFill>
            <a:blip r:embed="rId2"/>
            <a:stretch>
              <a:fillRect l="0" t="0" r="0" b="0"/>
            </a:stretch>
          </a:blipFill>
        </p:spPr>
      </p:sp>
      <p:sp>
        <p:nvSpPr>
          <p:cNvPr name="TextBox 18" id="18"/>
          <p:cNvSpPr txBox="true"/>
          <p:nvPr/>
        </p:nvSpPr>
        <p:spPr>
          <a:xfrm rot="0">
            <a:off x="1168119" y="865107"/>
            <a:ext cx="10411835" cy="1768075"/>
          </a:xfrm>
          <a:prstGeom prst="rect">
            <a:avLst/>
          </a:prstGeom>
        </p:spPr>
        <p:txBody>
          <a:bodyPr anchor="t" rtlCol="false" tIns="0" lIns="0" bIns="0" rIns="0">
            <a:spAutoFit/>
          </a:bodyPr>
          <a:lstStyle/>
          <a:p>
            <a:pPr algn="l">
              <a:lnSpc>
                <a:spcPts val="6556"/>
              </a:lnSpc>
            </a:pPr>
            <a:r>
              <a:rPr lang="en-US" sz="6690" b="true">
                <a:solidFill>
                  <a:srgbClr val="1E293B"/>
                </a:solidFill>
                <a:latin typeface="Poppins Semi-Bold"/>
                <a:ea typeface="Poppins Semi-Bold"/>
                <a:cs typeface="Poppins Semi-Bold"/>
                <a:sym typeface="Poppins Semi-Bold"/>
              </a:rPr>
              <a:t>MoM Revenue Growth </a:t>
            </a:r>
          </a:p>
          <a:p>
            <a:pPr algn="l">
              <a:lnSpc>
                <a:spcPts val="6556"/>
              </a:lnSpc>
            </a:pPr>
            <a:r>
              <a:rPr lang="en-US" sz="6690" b="true">
                <a:solidFill>
                  <a:srgbClr val="1E293B"/>
                </a:solidFill>
                <a:latin typeface="Poppins Semi-Bold"/>
                <a:ea typeface="Poppins Semi-Bold"/>
                <a:cs typeface="Poppins Semi-Bold"/>
                <a:sym typeface="Poppins Semi-Bold"/>
              </a:rPr>
              <a:t>2024 vs 2023</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7858432" y="1114425"/>
            <a:ext cx="9400868"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Insight and Recommendation</a:t>
            </a:r>
          </a:p>
        </p:txBody>
      </p:sp>
      <p:grpSp>
        <p:nvGrpSpPr>
          <p:cNvPr name="Group 18" id="18"/>
          <p:cNvGrpSpPr/>
          <p:nvPr/>
        </p:nvGrpSpPr>
        <p:grpSpPr>
          <a:xfrm rot="0">
            <a:off x="998081" y="4349935"/>
            <a:ext cx="7579843" cy="4132511"/>
            <a:chOff x="0" y="0"/>
            <a:chExt cx="2264294" cy="1234487"/>
          </a:xfrm>
        </p:grpSpPr>
        <p:sp>
          <p:nvSpPr>
            <p:cNvPr name="Freeform 19" id="19"/>
            <p:cNvSpPr/>
            <p:nvPr/>
          </p:nvSpPr>
          <p:spPr>
            <a:xfrm flipH="false" flipV="false" rot="0">
              <a:off x="0" y="0"/>
              <a:ext cx="2264294" cy="1234487"/>
            </a:xfrm>
            <a:custGeom>
              <a:avLst/>
              <a:gdLst/>
              <a:ahLst/>
              <a:cxnLst/>
              <a:rect r="r" b="b" t="t" l="l"/>
              <a:pathLst>
                <a:path h="1234487" w="2264294">
                  <a:moveTo>
                    <a:pt x="15321" y="0"/>
                  </a:moveTo>
                  <a:lnTo>
                    <a:pt x="2248974" y="0"/>
                  </a:lnTo>
                  <a:cubicBezTo>
                    <a:pt x="2257435" y="0"/>
                    <a:pt x="2264294" y="6859"/>
                    <a:pt x="2264294" y="15321"/>
                  </a:cubicBezTo>
                  <a:lnTo>
                    <a:pt x="2264294" y="1219167"/>
                  </a:lnTo>
                  <a:cubicBezTo>
                    <a:pt x="2264294" y="1227628"/>
                    <a:pt x="2257435" y="1234487"/>
                    <a:pt x="2248974" y="1234487"/>
                  </a:cubicBezTo>
                  <a:lnTo>
                    <a:pt x="15321" y="1234487"/>
                  </a:lnTo>
                  <a:cubicBezTo>
                    <a:pt x="6859" y="1234487"/>
                    <a:pt x="0" y="1227628"/>
                    <a:pt x="0" y="1219167"/>
                  </a:cubicBezTo>
                  <a:lnTo>
                    <a:pt x="0" y="15321"/>
                  </a:lnTo>
                  <a:cubicBezTo>
                    <a:pt x="0" y="6859"/>
                    <a:pt x="6859" y="0"/>
                    <a:pt x="15321" y="0"/>
                  </a:cubicBezTo>
                  <a:close/>
                </a:path>
              </a:pathLst>
            </a:custGeom>
            <a:solidFill>
              <a:srgbClr val="CFE2F3"/>
            </a:solidFill>
          </p:spPr>
        </p:sp>
        <p:sp>
          <p:nvSpPr>
            <p:cNvPr name="TextBox 20" id="20"/>
            <p:cNvSpPr txBox="true"/>
            <p:nvPr/>
          </p:nvSpPr>
          <p:spPr>
            <a:xfrm>
              <a:off x="0" y="-47625"/>
              <a:ext cx="2264294" cy="1282112"/>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275532" y="5229842"/>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Offline Store growth paling eksplosif (+429–506% Jan-Feb) tapi juga paling tidak stabil (anjlok -60% di April); App Store 3 bul</a:t>
            </a:r>
            <a:r>
              <a:rPr lang="en-US" sz="2799">
                <a:solidFill>
                  <a:srgbClr val="000000"/>
                </a:solidFill>
                <a:latin typeface="Poppins"/>
                <a:ea typeface="Poppins"/>
                <a:cs typeface="Poppins"/>
                <a:sym typeface="Poppins"/>
              </a:rPr>
              <a:t>an turun beruntun sebelum rebound kuat +154% di April. </a:t>
            </a:r>
          </a:p>
          <a:p>
            <a:pPr algn="l">
              <a:lnSpc>
                <a:spcPts val="2743"/>
              </a:lnSpc>
            </a:pPr>
          </a:p>
        </p:txBody>
      </p:sp>
      <p:grpSp>
        <p:nvGrpSpPr>
          <p:cNvPr name="Group 22" id="22"/>
          <p:cNvGrpSpPr/>
          <p:nvPr/>
        </p:nvGrpSpPr>
        <p:grpSpPr>
          <a:xfrm rot="0">
            <a:off x="9679457" y="4349935"/>
            <a:ext cx="7579843" cy="4132511"/>
            <a:chOff x="0" y="0"/>
            <a:chExt cx="2264294" cy="1234487"/>
          </a:xfrm>
        </p:grpSpPr>
        <p:sp>
          <p:nvSpPr>
            <p:cNvPr name="Freeform 23" id="23"/>
            <p:cNvSpPr/>
            <p:nvPr/>
          </p:nvSpPr>
          <p:spPr>
            <a:xfrm flipH="false" flipV="false" rot="0">
              <a:off x="0" y="0"/>
              <a:ext cx="2264294" cy="1234487"/>
            </a:xfrm>
            <a:custGeom>
              <a:avLst/>
              <a:gdLst/>
              <a:ahLst/>
              <a:cxnLst/>
              <a:rect r="r" b="b" t="t" l="l"/>
              <a:pathLst>
                <a:path h="1234487" w="2264294">
                  <a:moveTo>
                    <a:pt x="15321" y="0"/>
                  </a:moveTo>
                  <a:lnTo>
                    <a:pt x="2248974" y="0"/>
                  </a:lnTo>
                  <a:cubicBezTo>
                    <a:pt x="2257435" y="0"/>
                    <a:pt x="2264294" y="6859"/>
                    <a:pt x="2264294" y="15321"/>
                  </a:cubicBezTo>
                  <a:lnTo>
                    <a:pt x="2264294" y="1219167"/>
                  </a:lnTo>
                  <a:cubicBezTo>
                    <a:pt x="2264294" y="1227628"/>
                    <a:pt x="2257435" y="1234487"/>
                    <a:pt x="2248974" y="1234487"/>
                  </a:cubicBezTo>
                  <a:lnTo>
                    <a:pt x="15321" y="1234487"/>
                  </a:lnTo>
                  <a:cubicBezTo>
                    <a:pt x="6859" y="1234487"/>
                    <a:pt x="0" y="1227628"/>
                    <a:pt x="0" y="1219167"/>
                  </a:cubicBezTo>
                  <a:lnTo>
                    <a:pt x="0" y="15321"/>
                  </a:lnTo>
                  <a:cubicBezTo>
                    <a:pt x="0" y="6859"/>
                    <a:pt x="6859" y="0"/>
                    <a:pt x="15321" y="0"/>
                  </a:cubicBezTo>
                  <a:close/>
                </a:path>
              </a:pathLst>
            </a:custGeom>
            <a:solidFill>
              <a:srgbClr val="CFE2F3"/>
            </a:solidFill>
          </p:spPr>
        </p:sp>
        <p:sp>
          <p:nvSpPr>
            <p:cNvPr name="TextBox 24" id="24"/>
            <p:cNvSpPr txBox="true"/>
            <p:nvPr/>
          </p:nvSpPr>
          <p:spPr>
            <a:xfrm>
              <a:off x="0" y="-47625"/>
              <a:ext cx="2264294" cy="1282112"/>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10016244" y="5125319"/>
            <a:ext cx="6923220" cy="2252732"/>
          </a:xfrm>
          <a:prstGeom prst="rect">
            <a:avLst/>
          </a:prstGeom>
        </p:spPr>
        <p:txBody>
          <a:bodyPr anchor="t" rtlCol="false" tIns="0" lIns="0" bIns="0" rIns="0">
            <a:spAutoFit/>
          </a:bodyPr>
          <a:lstStyle/>
          <a:p>
            <a:pPr algn="l">
              <a:lnSpc>
                <a:spcPts val="2209"/>
              </a:lnSpc>
            </a:pPr>
            <a:r>
              <a:rPr lang="en-US" sz="2254">
                <a:solidFill>
                  <a:srgbClr val="000000"/>
                </a:solidFill>
                <a:latin typeface="Poppins"/>
                <a:ea typeface="Poppins"/>
                <a:cs typeface="Poppins"/>
                <a:sym typeface="Poppins"/>
              </a:rPr>
              <a:t>Manfaatkan momentum Offline Store selagi naik, tapi dengan monitoring ketat — lonjakan sebesar itu kemungkinan besar bukan tren berkelanjutan. Untuk App Store, cari akar penyebab penurunan Jan–Mar dulu sebelum menambah/memotong budget, karena rebound April menunjukkan potensi masih ada. </a:t>
            </a:r>
          </a:p>
          <a:p>
            <a:pPr algn="l">
              <a:lnSpc>
                <a:spcPts val="2209"/>
              </a:lnSpc>
            </a:pPr>
          </a:p>
        </p:txBody>
      </p:sp>
      <p:sp>
        <p:nvSpPr>
          <p:cNvPr name="TextBox 26" id="26"/>
          <p:cNvSpPr txBox="true"/>
          <p:nvPr/>
        </p:nvSpPr>
        <p:spPr>
          <a:xfrm rot="0">
            <a:off x="183817" y="4556057"/>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Insight</a:t>
            </a:r>
          </a:p>
        </p:txBody>
      </p:sp>
      <p:sp>
        <p:nvSpPr>
          <p:cNvPr name="TextBox 27" id="27"/>
          <p:cNvSpPr txBox="true"/>
          <p:nvPr/>
        </p:nvSpPr>
        <p:spPr>
          <a:xfrm rot="0">
            <a:off x="10016244" y="4556057"/>
            <a:ext cx="3747037"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Recommendation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43286"/>
            <a:ext cx="898754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Case Analysis</a:t>
            </a:r>
          </a:p>
        </p:txBody>
      </p:sp>
      <p:grpSp>
        <p:nvGrpSpPr>
          <p:cNvPr name="Group 6" id="6"/>
          <p:cNvGrpSpPr/>
          <p:nvPr/>
        </p:nvGrpSpPr>
        <p:grpSpPr>
          <a:xfrm rot="0">
            <a:off x="998081" y="5663612"/>
            <a:ext cx="7579843" cy="3594688"/>
            <a:chOff x="0" y="0"/>
            <a:chExt cx="2264294" cy="1073826"/>
          </a:xfrm>
        </p:grpSpPr>
        <p:sp>
          <p:nvSpPr>
            <p:cNvPr name="Freeform 7" id="7"/>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8" id="8"/>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75532" y="6543519"/>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Marketing manager ingin memetakan efektivitas jalur organik: performa funnel untuk event 'organic' pada funnel_detail sepanjang 1 Jan–31 Des 2024, dirinci per channel_source.</a:t>
            </a:r>
          </a:p>
          <a:p>
            <a:pPr algn="l">
              <a:lnSpc>
                <a:spcPts val="2743"/>
              </a:lnSpc>
            </a:pPr>
          </a:p>
        </p:txBody>
      </p:sp>
      <p:grpSp>
        <p:nvGrpSpPr>
          <p:cNvPr name="Group 10" id="10"/>
          <p:cNvGrpSpPr/>
          <p:nvPr/>
        </p:nvGrpSpPr>
        <p:grpSpPr>
          <a:xfrm rot="0">
            <a:off x="9679457" y="5663612"/>
            <a:ext cx="7579843" cy="3594688"/>
            <a:chOff x="0" y="0"/>
            <a:chExt cx="2264294" cy="1073826"/>
          </a:xfrm>
        </p:grpSpPr>
        <p:sp>
          <p:nvSpPr>
            <p:cNvPr name="Freeform 11" id="11"/>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12" id="12"/>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9818182" y="6714969"/>
            <a:ext cx="7302393" cy="2449957"/>
          </a:xfrm>
          <a:prstGeom prst="rect">
            <a:avLst/>
          </a:prstGeom>
        </p:spPr>
        <p:txBody>
          <a:bodyPr anchor="t" rtlCol="false" tIns="0" lIns="0" bIns="0" rIns="0">
            <a:spAutoFit/>
          </a:bodyPr>
          <a:lstStyle/>
          <a:p>
            <a:pPr algn="l" marL="604519" indent="-302260" lvl="1">
              <a:lnSpc>
                <a:spcPts val="2743"/>
              </a:lnSpc>
              <a:buFont typeface="Arial"/>
              <a:buChar char="•"/>
            </a:pPr>
            <a:r>
              <a:rPr lang="en-US" sz="2799">
                <a:solidFill>
                  <a:srgbClr val="000000"/>
                </a:solidFill>
                <a:latin typeface="Poppins"/>
                <a:ea typeface="Poppins"/>
                <a:cs typeface="Poppins"/>
                <a:sym typeface="Poppins"/>
              </a:rPr>
              <a:t>Total event organic per channel_source</a:t>
            </a:r>
          </a:p>
          <a:p>
            <a:pPr algn="l" marL="604519" indent="-302260" lvl="1">
              <a:lnSpc>
                <a:spcPts val="2743"/>
              </a:lnSpc>
              <a:buFont typeface="Arial"/>
              <a:buChar char="•"/>
            </a:pPr>
            <a:r>
              <a:rPr lang="en-US" sz="2799">
                <a:solidFill>
                  <a:srgbClr val="000000"/>
                </a:solidFill>
                <a:latin typeface="Poppins"/>
                <a:ea typeface="Poppins"/>
                <a:cs typeface="Poppins"/>
                <a:sym typeface="Poppins"/>
              </a:rPr>
              <a:t>Total unique order_id (converted) dari event organic</a:t>
            </a:r>
          </a:p>
          <a:p>
            <a:pPr algn="l" marL="604519" indent="-302260" lvl="1">
              <a:lnSpc>
                <a:spcPts val="2743"/>
              </a:lnSpc>
              <a:buFont typeface="Arial"/>
              <a:buChar char="•"/>
            </a:pPr>
            <a:r>
              <a:rPr lang="en-US" sz="2799">
                <a:solidFill>
                  <a:srgbClr val="000000"/>
                </a:solidFill>
                <a:latin typeface="Poppins"/>
                <a:ea typeface="Poppins"/>
                <a:cs typeface="Poppins"/>
                <a:sym typeface="Poppins"/>
              </a:rPr>
              <a:t>C</a:t>
            </a:r>
            <a:r>
              <a:rPr lang="en-US" sz="2799">
                <a:solidFill>
                  <a:srgbClr val="000000"/>
                </a:solidFill>
                <a:latin typeface="Poppins"/>
                <a:ea typeface="Poppins"/>
                <a:cs typeface="Poppins"/>
                <a:sym typeface="Poppins"/>
              </a:rPr>
              <a:t>onversion rate = total_orders ÷ total events × 100%</a:t>
            </a:r>
          </a:p>
          <a:p>
            <a:pPr algn="l">
              <a:lnSpc>
                <a:spcPts val="2743"/>
              </a:lnSpc>
            </a:pPr>
          </a:p>
        </p:txBody>
      </p:sp>
      <p:sp>
        <p:nvSpPr>
          <p:cNvPr name="TextBox 14" id="14"/>
          <p:cNvSpPr txBox="true"/>
          <p:nvPr/>
        </p:nvSpPr>
        <p:spPr>
          <a:xfrm rot="0">
            <a:off x="1275532" y="5899135"/>
            <a:ext cx="3657800" cy="441833"/>
          </a:xfrm>
          <a:prstGeom prst="rect">
            <a:avLst/>
          </a:prstGeom>
        </p:spPr>
        <p:txBody>
          <a:bodyPr anchor="t" rtlCol="false" tIns="0" lIns="0" bIns="0" rIns="0">
            <a:spAutoFit/>
          </a:bodyPr>
          <a:lstStyle/>
          <a:p>
            <a:pPr algn="ctr">
              <a:lnSpc>
                <a:spcPts val="3136"/>
              </a:lnSpc>
            </a:pPr>
            <a:r>
              <a:rPr lang="en-US" b="true" sz="3200">
                <a:solidFill>
                  <a:srgbClr val="1800AD"/>
                </a:solidFill>
                <a:latin typeface="Poppins Semi-Bold"/>
                <a:ea typeface="Poppins Semi-Bold"/>
                <a:cs typeface="Poppins Semi-Bold"/>
                <a:sym typeface="Poppins Semi-Bold"/>
              </a:rPr>
              <a:t>Business Request</a:t>
            </a:r>
          </a:p>
        </p:txBody>
      </p:sp>
      <p:sp>
        <p:nvSpPr>
          <p:cNvPr name="TextBox 15" id="15"/>
          <p:cNvSpPr txBox="true"/>
          <p:nvPr/>
        </p:nvSpPr>
        <p:spPr>
          <a:xfrm rot="0">
            <a:off x="10016244" y="5869734"/>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Objective/Output</a:t>
            </a:r>
          </a:p>
        </p:txBody>
      </p:sp>
      <p:grpSp>
        <p:nvGrpSpPr>
          <p:cNvPr name="Group 16" id="16"/>
          <p:cNvGrpSpPr/>
          <p:nvPr/>
        </p:nvGrpSpPr>
        <p:grpSpPr>
          <a:xfrm rot="0">
            <a:off x="11043819" y="-3760614"/>
            <a:ext cx="7244181" cy="72441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390132" y="-4068572"/>
            <a:ext cx="7116554" cy="711655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028700" y="3255366"/>
            <a:ext cx="16230600" cy="1324562"/>
            <a:chOff x="0" y="0"/>
            <a:chExt cx="4274726" cy="348856"/>
          </a:xfrm>
        </p:grpSpPr>
        <p:sp>
          <p:nvSpPr>
            <p:cNvPr name="Freeform 23" id="23"/>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4" id="24"/>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25" id="25"/>
          <p:cNvSpPr/>
          <p:nvPr/>
        </p:nvSpPr>
        <p:spPr>
          <a:xfrm flipH="false" flipV="false" rot="0">
            <a:off x="1504905" y="3615200"/>
            <a:ext cx="520208" cy="604893"/>
          </a:xfrm>
          <a:custGeom>
            <a:avLst/>
            <a:gdLst/>
            <a:ahLst/>
            <a:cxnLst/>
            <a:rect r="r" b="b" t="t" l="l"/>
            <a:pathLst>
              <a:path h="604893" w="520208">
                <a:moveTo>
                  <a:pt x="0" y="0"/>
                </a:moveTo>
                <a:lnTo>
                  <a:pt x="520208" y="0"/>
                </a:lnTo>
                <a:lnTo>
                  <a:pt x="520208" y="604894"/>
                </a:lnTo>
                <a:lnTo>
                  <a:pt x="0" y="6048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2415394" y="3350742"/>
            <a:ext cx="5733903" cy="1134316"/>
            <a:chOff x="0" y="0"/>
            <a:chExt cx="7645204" cy="1512421"/>
          </a:xfrm>
        </p:grpSpPr>
        <p:sp>
          <p:nvSpPr>
            <p:cNvPr name="TextBox 27" id="27"/>
            <p:cNvSpPr txBox="true"/>
            <p:nvPr/>
          </p:nvSpPr>
          <p:spPr>
            <a:xfrm rot="0">
              <a:off x="0" y="28575"/>
              <a:ext cx="1487674"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4</a:t>
              </a:r>
            </a:p>
          </p:txBody>
        </p:sp>
        <p:sp>
          <p:nvSpPr>
            <p:cNvPr name="TextBox 28" id="28"/>
            <p:cNvSpPr txBox="true"/>
            <p:nvPr/>
          </p:nvSpPr>
          <p:spPr>
            <a:xfrm rot="0">
              <a:off x="0" y="590084"/>
              <a:ext cx="6703243"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Analisis Funnel Conversion — Organic</a:t>
              </a:r>
            </a:p>
          </p:txBody>
        </p:sp>
        <p:sp>
          <p:nvSpPr>
            <p:cNvPr name="TextBox 29" id="29"/>
            <p:cNvSpPr txBox="true"/>
            <p:nvPr/>
          </p:nvSpPr>
          <p:spPr>
            <a:xfrm rot="0">
              <a:off x="0" y="1119864"/>
              <a:ext cx="7645204"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Marketing Manager • Deadline 20 Jan 2025</a:t>
              </a:r>
            </a:p>
          </p:txBody>
        </p:sp>
      </p:grpSp>
      <p:grpSp>
        <p:nvGrpSpPr>
          <p:cNvPr name="Group 30" id="30"/>
          <p:cNvGrpSpPr/>
          <p:nvPr/>
        </p:nvGrpSpPr>
        <p:grpSpPr>
          <a:xfrm rot="0">
            <a:off x="12292745" y="3560166"/>
            <a:ext cx="4507591" cy="815978"/>
            <a:chOff x="0" y="0"/>
            <a:chExt cx="1187184" cy="214908"/>
          </a:xfrm>
        </p:grpSpPr>
        <p:sp>
          <p:nvSpPr>
            <p:cNvPr name="Freeform 31" id="31"/>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32" id="32"/>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33" id="33"/>
          <p:cNvSpPr txBox="true"/>
          <p:nvPr/>
        </p:nvSpPr>
        <p:spPr>
          <a:xfrm rot="0">
            <a:off x="12173932" y="3845916"/>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Funnel &amp; Conversion</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1028700" y="891162"/>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Syntax</a:t>
            </a:r>
          </a:p>
        </p:txBody>
      </p:sp>
      <p:grpSp>
        <p:nvGrpSpPr>
          <p:cNvPr name="Group 12" id="12"/>
          <p:cNvGrpSpPr/>
          <p:nvPr/>
        </p:nvGrpSpPr>
        <p:grpSpPr>
          <a:xfrm rot="0">
            <a:off x="11327005" y="-4168773"/>
            <a:ext cx="7244181" cy="7244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0741948" y="-4104960"/>
            <a:ext cx="7116554" cy="711655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1028700" y="2056512"/>
            <a:ext cx="14163521" cy="7870825"/>
          </a:xfrm>
          <a:prstGeom prst="rect">
            <a:avLst/>
          </a:prstGeom>
        </p:spPr>
        <p:txBody>
          <a:bodyPr anchor="t" rtlCol="false" tIns="0" lIns="0" bIns="0" rIns="0">
            <a:spAutoFit/>
          </a:bodyPr>
          <a:lstStyle/>
          <a:p>
            <a:pPr algn="l">
              <a:lnSpc>
                <a:spcPts val="3499"/>
              </a:lnSpc>
              <a:spcBef>
                <a:spcPct val="0"/>
              </a:spcBef>
            </a:pPr>
            <a:r>
              <a:rPr lang="en-US" b="true" sz="2499">
                <a:solidFill>
                  <a:srgbClr val="1E293B"/>
                </a:solidFill>
                <a:latin typeface="Open Sans Bold"/>
                <a:ea typeface="Open Sans Bold"/>
                <a:cs typeface="Open Sans Bold"/>
                <a:sym typeface="Open Sans Bold"/>
              </a:rPr>
              <a:t>SELECT</a:t>
            </a:r>
          </a:p>
          <a:p>
            <a:pPr algn="l">
              <a:lnSpc>
                <a:spcPts val="3499"/>
              </a:lnSpc>
              <a:spcBef>
                <a:spcPct val="0"/>
              </a:spcBef>
            </a:pPr>
            <a:r>
              <a:rPr lang="en-US" b="true" sz="2499">
                <a:solidFill>
                  <a:srgbClr val="1E293B"/>
                </a:solidFill>
                <a:latin typeface="Open Sans Bold"/>
                <a:ea typeface="Open Sans Bold"/>
                <a:cs typeface="Open Sans Bold"/>
                <a:sym typeface="Open Sans Bold"/>
              </a:rPr>
              <a:t>channel_source,</a:t>
            </a:r>
          </a:p>
          <a:p>
            <a:pPr algn="l">
              <a:lnSpc>
                <a:spcPts val="3499"/>
              </a:lnSpc>
              <a:spcBef>
                <a:spcPct val="0"/>
              </a:spcBef>
            </a:pPr>
            <a:r>
              <a:rPr lang="en-US" b="true" sz="2499">
                <a:solidFill>
                  <a:srgbClr val="1E293B"/>
                </a:solidFill>
                <a:latin typeface="Open Sans Bold"/>
                <a:ea typeface="Open Sans Bold"/>
                <a:cs typeface="Open Sans Bold"/>
                <a:sym typeface="Open Sans Bold"/>
              </a:rPr>
              <a:t>count(*) as total_organic_events,</a:t>
            </a:r>
          </a:p>
          <a:p>
            <a:pPr algn="l">
              <a:lnSpc>
                <a:spcPts val="3499"/>
              </a:lnSpc>
              <a:spcBef>
                <a:spcPct val="0"/>
              </a:spcBef>
            </a:pPr>
            <a:r>
              <a:rPr lang="en-US" b="true" sz="2499">
                <a:solidFill>
                  <a:srgbClr val="1E293B"/>
                </a:solidFill>
                <a:latin typeface="Open Sans Bold"/>
                <a:ea typeface="Open Sans Bold"/>
                <a:cs typeface="Open Sans Bold"/>
                <a:sym typeface="Open Sans Bold"/>
              </a:rPr>
              <a:t>count (distinct order_id) as total_unique_orders,</a:t>
            </a:r>
          </a:p>
          <a:p>
            <a:pPr algn="l">
              <a:lnSpc>
                <a:spcPts val="3499"/>
              </a:lnSpc>
              <a:spcBef>
                <a:spcPct val="0"/>
              </a:spcBef>
            </a:pPr>
            <a:r>
              <a:rPr lang="en-US" b="true" sz="2499">
                <a:solidFill>
                  <a:srgbClr val="1E293B"/>
                </a:solidFill>
                <a:latin typeface="Open Sans Bold"/>
                <a:ea typeface="Open Sans Bold"/>
                <a:cs typeface="Open Sans Bold"/>
                <a:sym typeface="Open Sans Bold"/>
              </a:rPr>
              <a:t>round (</a:t>
            </a:r>
          </a:p>
          <a:p>
            <a:pPr algn="l">
              <a:lnSpc>
                <a:spcPts val="3499"/>
              </a:lnSpc>
              <a:spcBef>
                <a:spcPct val="0"/>
              </a:spcBef>
            </a:pPr>
            <a:r>
              <a:rPr lang="en-US" b="true" sz="2499">
                <a:solidFill>
                  <a:srgbClr val="1E293B"/>
                </a:solidFill>
                <a:latin typeface="Open Sans Bold"/>
                <a:ea typeface="Open Sans Bold"/>
                <a:cs typeface="Open Sans Bold"/>
                <a:sym typeface="Open Sans Bold"/>
              </a:rPr>
              <a:t>  safe_divide(</a:t>
            </a:r>
          </a:p>
          <a:p>
            <a:pPr algn="l">
              <a:lnSpc>
                <a:spcPts val="3499"/>
              </a:lnSpc>
              <a:spcBef>
                <a:spcPct val="0"/>
              </a:spcBef>
            </a:pPr>
            <a:r>
              <a:rPr lang="en-US" b="true" sz="2499">
                <a:solidFill>
                  <a:srgbClr val="1E293B"/>
                </a:solidFill>
                <a:latin typeface="Open Sans Bold"/>
                <a:ea typeface="Open Sans Bold"/>
                <a:cs typeface="Open Sans Bold"/>
                <a:sym typeface="Open Sans Bold"/>
              </a:rPr>
              <a:t>    count(distinct order_id),</a:t>
            </a:r>
          </a:p>
          <a:p>
            <a:pPr algn="l">
              <a:lnSpc>
                <a:spcPts val="3499"/>
              </a:lnSpc>
              <a:spcBef>
                <a:spcPct val="0"/>
              </a:spcBef>
            </a:pPr>
            <a:r>
              <a:rPr lang="en-US" b="true" sz="2499">
                <a:solidFill>
                  <a:srgbClr val="1E293B"/>
                </a:solidFill>
                <a:latin typeface="Open Sans Bold"/>
                <a:ea typeface="Open Sans Bold"/>
                <a:cs typeface="Open Sans Bold"/>
                <a:sym typeface="Open Sans Bold"/>
              </a:rPr>
              <a:t>    count(*)</a:t>
            </a:r>
          </a:p>
          <a:p>
            <a:pPr algn="l">
              <a:lnSpc>
                <a:spcPts val="3499"/>
              </a:lnSpc>
              <a:spcBef>
                <a:spcPct val="0"/>
              </a:spcBef>
            </a:pPr>
            <a:r>
              <a:rPr lang="en-US" b="true" sz="2499">
                <a:solidFill>
                  <a:srgbClr val="1E293B"/>
                </a:solidFill>
                <a:latin typeface="Open Sans Bold"/>
                <a:ea typeface="Open Sans Bold"/>
                <a:cs typeface="Open Sans Bold"/>
                <a:sym typeface="Open Sans Bold"/>
              </a:rPr>
              <a:t>    )*100,</a:t>
            </a:r>
          </a:p>
          <a:p>
            <a:pPr algn="l">
              <a:lnSpc>
                <a:spcPts val="3499"/>
              </a:lnSpc>
              <a:spcBef>
                <a:spcPct val="0"/>
              </a:spcBef>
            </a:pPr>
            <a:r>
              <a:rPr lang="en-US" b="true" sz="2499">
                <a:solidFill>
                  <a:srgbClr val="1E293B"/>
                </a:solidFill>
                <a:latin typeface="Open Sans Bold"/>
                <a:ea typeface="Open Sans Bold"/>
                <a:cs typeface="Open Sans Bold"/>
                <a:sym typeface="Open Sans Bold"/>
              </a:rPr>
              <a:t>    2</a:t>
            </a:r>
          </a:p>
          <a:p>
            <a:pPr algn="l">
              <a:lnSpc>
                <a:spcPts val="3499"/>
              </a:lnSpc>
              <a:spcBef>
                <a:spcPct val="0"/>
              </a:spcBef>
            </a:pPr>
            <a:r>
              <a:rPr lang="en-US" b="true" sz="2499">
                <a:solidFill>
                  <a:srgbClr val="1E293B"/>
                </a:solidFill>
                <a:latin typeface="Open Sans Bold"/>
                <a:ea typeface="Open Sans Bold"/>
                <a:cs typeface="Open Sans Bold"/>
                <a:sym typeface="Open Sans Bold"/>
              </a:rPr>
              <a:t>    ) as conversion_rate</a:t>
            </a:r>
          </a:p>
          <a:p>
            <a:pPr algn="l">
              <a:lnSpc>
                <a:spcPts val="3499"/>
              </a:lnSpc>
              <a:spcBef>
                <a:spcPct val="0"/>
              </a:spcBef>
            </a:pPr>
            <a:r>
              <a:rPr lang="en-US" b="true" sz="2499">
                <a:solidFill>
                  <a:srgbClr val="1E293B"/>
                </a:solidFill>
                <a:latin typeface="Open Sans Bold"/>
                <a:ea typeface="Open Sans Bold"/>
                <a:cs typeface="Open Sans Bold"/>
                <a:sym typeface="Open Sans Bold"/>
              </a:rPr>
              <a:t>FROM `bootcamp-data-analyst-505512.SQLexercise.funnel_detail`</a:t>
            </a:r>
          </a:p>
          <a:p>
            <a:pPr algn="l">
              <a:lnSpc>
                <a:spcPts val="3499"/>
              </a:lnSpc>
              <a:spcBef>
                <a:spcPct val="0"/>
              </a:spcBef>
            </a:pPr>
            <a:r>
              <a:rPr lang="en-US" b="true" sz="2499">
                <a:solidFill>
                  <a:srgbClr val="1E293B"/>
                </a:solidFill>
                <a:latin typeface="Open Sans Bold"/>
                <a:ea typeface="Open Sans Bold"/>
                <a:cs typeface="Open Sans Bold"/>
                <a:sym typeface="Open Sans Bold"/>
              </a:rPr>
              <a:t>where</a:t>
            </a:r>
          </a:p>
          <a:p>
            <a:pPr algn="l">
              <a:lnSpc>
                <a:spcPts val="3499"/>
              </a:lnSpc>
              <a:spcBef>
                <a:spcPct val="0"/>
              </a:spcBef>
            </a:pPr>
            <a:r>
              <a:rPr lang="en-US" b="true" sz="2499">
                <a:solidFill>
                  <a:srgbClr val="1E293B"/>
                </a:solidFill>
                <a:latin typeface="Open Sans Bold"/>
                <a:ea typeface="Open Sans Bold"/>
                <a:cs typeface="Open Sans Bold"/>
                <a:sym typeface="Open Sans Bold"/>
              </a:rPr>
              <a:t>  event = "Organic"</a:t>
            </a:r>
          </a:p>
          <a:p>
            <a:pPr algn="l">
              <a:lnSpc>
                <a:spcPts val="3499"/>
              </a:lnSpc>
              <a:spcBef>
                <a:spcPct val="0"/>
              </a:spcBef>
            </a:pPr>
            <a:r>
              <a:rPr lang="en-US" b="true" sz="2499">
                <a:solidFill>
                  <a:srgbClr val="1E293B"/>
                </a:solidFill>
                <a:latin typeface="Open Sans Bold"/>
                <a:ea typeface="Open Sans Bold"/>
                <a:cs typeface="Open Sans Bold"/>
                <a:sym typeface="Open Sans Bold"/>
              </a:rPr>
              <a:t>  and funnel_date between "2024-01-01" and "2024-12-31"</a:t>
            </a:r>
          </a:p>
          <a:p>
            <a:pPr algn="l">
              <a:lnSpc>
                <a:spcPts val="3499"/>
              </a:lnSpc>
              <a:spcBef>
                <a:spcPct val="0"/>
              </a:spcBef>
            </a:pPr>
            <a:r>
              <a:rPr lang="en-US" b="true" sz="2499">
                <a:solidFill>
                  <a:srgbClr val="1E293B"/>
                </a:solidFill>
                <a:latin typeface="Open Sans Bold"/>
                <a:ea typeface="Open Sans Bold"/>
                <a:cs typeface="Open Sans Bold"/>
                <a:sym typeface="Open Sans Bold"/>
              </a:rPr>
              <a:t>group by channel_source</a:t>
            </a:r>
          </a:p>
          <a:p>
            <a:pPr algn="l">
              <a:lnSpc>
                <a:spcPts val="3499"/>
              </a:lnSpc>
              <a:spcBef>
                <a:spcPct val="0"/>
              </a:spcBef>
            </a:pPr>
            <a:r>
              <a:rPr lang="en-US" b="true" sz="2499">
                <a:solidFill>
                  <a:srgbClr val="1E293B"/>
                </a:solidFill>
                <a:latin typeface="Open Sans Bold"/>
                <a:ea typeface="Open Sans Bold"/>
                <a:cs typeface="Open Sans Bold"/>
                <a:sym typeface="Open Sans Bold"/>
              </a:rPr>
              <a:t>order by conversion_rate desc</a:t>
            </a:r>
          </a:p>
          <a:p>
            <a:pPr algn="l">
              <a:lnSpc>
                <a:spcPts val="3499"/>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901624" y="2268644"/>
            <a:ext cx="14484751" cy="7581733"/>
          </a:xfrm>
          <a:custGeom>
            <a:avLst/>
            <a:gdLst/>
            <a:ahLst/>
            <a:cxnLst/>
            <a:rect r="r" b="b" t="t" l="l"/>
            <a:pathLst>
              <a:path h="7581733" w="14484751">
                <a:moveTo>
                  <a:pt x="0" y="0"/>
                </a:moveTo>
                <a:lnTo>
                  <a:pt x="14484752" y="0"/>
                </a:lnTo>
                <a:lnTo>
                  <a:pt x="14484752" y="7581733"/>
                </a:lnTo>
                <a:lnTo>
                  <a:pt x="0" y="7581733"/>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435320" y="1112270"/>
            <a:ext cx="15417361" cy="8062460"/>
          </a:xfrm>
          <a:custGeom>
            <a:avLst/>
            <a:gdLst/>
            <a:ahLst/>
            <a:cxnLst/>
            <a:rect r="r" b="b" t="t" l="l"/>
            <a:pathLst>
              <a:path h="8062460" w="15417361">
                <a:moveTo>
                  <a:pt x="0" y="0"/>
                </a:moveTo>
                <a:lnTo>
                  <a:pt x="15417360" y="0"/>
                </a:lnTo>
                <a:lnTo>
                  <a:pt x="15417360" y="8062460"/>
                </a:lnTo>
                <a:lnTo>
                  <a:pt x="0" y="8062460"/>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7830575" y="1114425"/>
            <a:ext cx="9428725"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Insight and Recommendation</a:t>
            </a:r>
          </a:p>
        </p:txBody>
      </p:sp>
      <p:grpSp>
        <p:nvGrpSpPr>
          <p:cNvPr name="Group 18" id="18"/>
          <p:cNvGrpSpPr/>
          <p:nvPr/>
        </p:nvGrpSpPr>
        <p:grpSpPr>
          <a:xfrm rot="0">
            <a:off x="998081" y="4349935"/>
            <a:ext cx="7579843" cy="3808857"/>
            <a:chOff x="0" y="0"/>
            <a:chExt cx="2264294" cy="1137804"/>
          </a:xfrm>
        </p:grpSpPr>
        <p:sp>
          <p:nvSpPr>
            <p:cNvPr name="Freeform 19" id="19"/>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0" id="20"/>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275532" y="5229842"/>
            <a:ext cx="7082895" cy="17641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Conversion rate tiga channel nyaris identik (2,16–2,22%) meski Website punya traffic terbesar — volume besar tidak berart</a:t>
            </a:r>
            <a:r>
              <a:rPr lang="en-US" sz="2799">
                <a:solidFill>
                  <a:srgbClr val="000000"/>
                </a:solidFill>
                <a:latin typeface="Poppins"/>
                <a:ea typeface="Poppins"/>
                <a:cs typeface="Poppins"/>
                <a:sym typeface="Poppins"/>
              </a:rPr>
              <a:t>i paling efisien. </a:t>
            </a:r>
          </a:p>
          <a:p>
            <a:pPr algn="l">
              <a:lnSpc>
                <a:spcPts val="2743"/>
              </a:lnSpc>
            </a:pPr>
          </a:p>
        </p:txBody>
      </p:sp>
      <p:grpSp>
        <p:nvGrpSpPr>
          <p:cNvPr name="Group 22" id="22"/>
          <p:cNvGrpSpPr/>
          <p:nvPr/>
        </p:nvGrpSpPr>
        <p:grpSpPr>
          <a:xfrm rot="0">
            <a:off x="9679457" y="4349935"/>
            <a:ext cx="7579843" cy="3808857"/>
            <a:chOff x="0" y="0"/>
            <a:chExt cx="2264294" cy="1137804"/>
          </a:xfrm>
        </p:grpSpPr>
        <p:sp>
          <p:nvSpPr>
            <p:cNvPr name="Freeform 23" id="23"/>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4" id="24"/>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10016244" y="5134844"/>
            <a:ext cx="7302393" cy="27928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Fokuskan perbaikan pada elemen funnel yang berlaku lintas-channel (UX checkout, CTA, kecepatan halaman) lewat A/B testing, bukan realokasi budget ke satu channel "terbaik" — karena gap antar-channel memang tidak signifikan. </a:t>
            </a:r>
          </a:p>
          <a:p>
            <a:pPr algn="l">
              <a:lnSpc>
                <a:spcPts val="2743"/>
              </a:lnSpc>
            </a:pPr>
          </a:p>
        </p:txBody>
      </p:sp>
      <p:sp>
        <p:nvSpPr>
          <p:cNvPr name="TextBox 26" id="26"/>
          <p:cNvSpPr txBox="true"/>
          <p:nvPr/>
        </p:nvSpPr>
        <p:spPr>
          <a:xfrm rot="0">
            <a:off x="183817" y="4556057"/>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Insight</a:t>
            </a:r>
          </a:p>
        </p:txBody>
      </p:sp>
      <p:sp>
        <p:nvSpPr>
          <p:cNvPr name="TextBox 27" id="27"/>
          <p:cNvSpPr txBox="true"/>
          <p:nvPr/>
        </p:nvSpPr>
        <p:spPr>
          <a:xfrm rot="0">
            <a:off x="10016244" y="4556057"/>
            <a:ext cx="3747037"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Recommendation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43286"/>
            <a:ext cx="898754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Case Analysis</a:t>
            </a:r>
          </a:p>
        </p:txBody>
      </p:sp>
      <p:grpSp>
        <p:nvGrpSpPr>
          <p:cNvPr name="Group 6" id="6"/>
          <p:cNvGrpSpPr/>
          <p:nvPr/>
        </p:nvGrpSpPr>
        <p:grpSpPr>
          <a:xfrm rot="0">
            <a:off x="998081" y="5663612"/>
            <a:ext cx="7579843" cy="3594688"/>
            <a:chOff x="0" y="0"/>
            <a:chExt cx="2264294" cy="1073826"/>
          </a:xfrm>
        </p:grpSpPr>
        <p:sp>
          <p:nvSpPr>
            <p:cNvPr name="Freeform 7" id="7"/>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8" id="8"/>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75532" y="6543519"/>
            <a:ext cx="7082895" cy="24499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BI &amp; CRM lead meminta laporan onboarding per bulan 2024: jumlah pelanggan baru per registration_channel, dan rata-rata jarak hari dari registrasi ke transaksi pertama pelanggan.</a:t>
            </a:r>
          </a:p>
          <a:p>
            <a:pPr algn="l">
              <a:lnSpc>
                <a:spcPts val="2743"/>
              </a:lnSpc>
            </a:pPr>
          </a:p>
        </p:txBody>
      </p:sp>
      <p:grpSp>
        <p:nvGrpSpPr>
          <p:cNvPr name="Group 10" id="10"/>
          <p:cNvGrpSpPr/>
          <p:nvPr/>
        </p:nvGrpSpPr>
        <p:grpSpPr>
          <a:xfrm rot="0">
            <a:off x="9679457" y="5663612"/>
            <a:ext cx="7579843" cy="3594688"/>
            <a:chOff x="0" y="0"/>
            <a:chExt cx="2264294" cy="1073826"/>
          </a:xfrm>
        </p:grpSpPr>
        <p:sp>
          <p:nvSpPr>
            <p:cNvPr name="Freeform 11" id="11"/>
            <p:cNvSpPr/>
            <p:nvPr/>
          </p:nvSpPr>
          <p:spPr>
            <a:xfrm flipH="false" flipV="false" rot="0">
              <a:off x="0" y="0"/>
              <a:ext cx="2264294" cy="1073826"/>
            </a:xfrm>
            <a:custGeom>
              <a:avLst/>
              <a:gdLst/>
              <a:ahLst/>
              <a:cxnLst/>
              <a:rect r="r" b="b" t="t" l="l"/>
              <a:pathLst>
                <a:path h="1073826" w="2264294">
                  <a:moveTo>
                    <a:pt x="15321" y="0"/>
                  </a:moveTo>
                  <a:lnTo>
                    <a:pt x="2248974" y="0"/>
                  </a:lnTo>
                  <a:cubicBezTo>
                    <a:pt x="2257435" y="0"/>
                    <a:pt x="2264294" y="6859"/>
                    <a:pt x="2264294" y="15321"/>
                  </a:cubicBezTo>
                  <a:lnTo>
                    <a:pt x="2264294" y="1058505"/>
                  </a:lnTo>
                  <a:cubicBezTo>
                    <a:pt x="2264294" y="1066967"/>
                    <a:pt x="2257435" y="1073826"/>
                    <a:pt x="2248974" y="1073826"/>
                  </a:cubicBezTo>
                  <a:lnTo>
                    <a:pt x="15321" y="1073826"/>
                  </a:lnTo>
                  <a:cubicBezTo>
                    <a:pt x="6859" y="1073826"/>
                    <a:pt x="0" y="1066967"/>
                    <a:pt x="0" y="1058505"/>
                  </a:cubicBezTo>
                  <a:lnTo>
                    <a:pt x="0" y="15321"/>
                  </a:lnTo>
                  <a:cubicBezTo>
                    <a:pt x="0" y="6859"/>
                    <a:pt x="6859" y="0"/>
                    <a:pt x="15321" y="0"/>
                  </a:cubicBezTo>
                  <a:close/>
                </a:path>
              </a:pathLst>
            </a:custGeom>
            <a:solidFill>
              <a:srgbClr val="CFE2F3"/>
            </a:solidFill>
          </p:spPr>
        </p:sp>
        <p:sp>
          <p:nvSpPr>
            <p:cNvPr name="TextBox 12" id="12"/>
            <p:cNvSpPr txBox="true"/>
            <p:nvPr/>
          </p:nvSpPr>
          <p:spPr>
            <a:xfrm>
              <a:off x="0" y="-47625"/>
              <a:ext cx="2264294" cy="1121451"/>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9818182" y="6714969"/>
            <a:ext cx="7302393" cy="2449957"/>
          </a:xfrm>
          <a:prstGeom prst="rect">
            <a:avLst/>
          </a:prstGeom>
        </p:spPr>
        <p:txBody>
          <a:bodyPr anchor="t" rtlCol="false" tIns="0" lIns="0" bIns="0" rIns="0">
            <a:spAutoFit/>
          </a:bodyPr>
          <a:lstStyle/>
          <a:p>
            <a:pPr algn="l" marL="604519" indent="-302260" lvl="1">
              <a:lnSpc>
                <a:spcPts val="2743"/>
              </a:lnSpc>
              <a:buFont typeface="Arial"/>
              <a:buChar char="•"/>
            </a:pPr>
            <a:r>
              <a:rPr lang="en-US" sz="2799">
                <a:solidFill>
                  <a:srgbClr val="000000"/>
                </a:solidFill>
                <a:latin typeface="Poppins"/>
                <a:ea typeface="Poppins"/>
                <a:cs typeface="Poppins"/>
                <a:sym typeface="Poppins"/>
              </a:rPr>
              <a:t>COUNT(DISTINCT customer_id) baru per registration_channel per bulan</a:t>
            </a:r>
          </a:p>
          <a:p>
            <a:pPr algn="l" marL="604519" indent="-302260" lvl="1">
              <a:lnSpc>
                <a:spcPts val="2743"/>
              </a:lnSpc>
              <a:buFont typeface="Arial"/>
              <a:buChar char="•"/>
            </a:pPr>
            <a:r>
              <a:rPr lang="en-US" sz="2799">
                <a:solidFill>
                  <a:srgbClr val="000000"/>
                </a:solidFill>
                <a:latin typeface="Poppins"/>
                <a:ea typeface="Poppins"/>
                <a:cs typeface="Poppins"/>
                <a:sym typeface="Poppins"/>
              </a:rPr>
              <a:t>AVG(hari) dari registration_date ke order_date pertama</a:t>
            </a:r>
          </a:p>
          <a:p>
            <a:pPr algn="l" marL="604519" indent="-302260" lvl="1">
              <a:lnSpc>
                <a:spcPts val="2743"/>
              </a:lnSpc>
              <a:buFont typeface="Arial"/>
              <a:buChar char="•"/>
            </a:pPr>
            <a:r>
              <a:rPr lang="en-US" sz="2799">
                <a:solidFill>
                  <a:srgbClr val="000000"/>
                </a:solidFill>
                <a:latin typeface="Poppins"/>
                <a:ea typeface="Poppins"/>
                <a:cs typeface="Poppins"/>
                <a:sym typeface="Poppins"/>
              </a:rPr>
              <a:t>Hanya pelanggan yang sudah melakukan ≥ 1 pembelian</a:t>
            </a:r>
          </a:p>
          <a:p>
            <a:pPr algn="l">
              <a:lnSpc>
                <a:spcPts val="2743"/>
              </a:lnSpc>
            </a:pPr>
          </a:p>
        </p:txBody>
      </p:sp>
      <p:sp>
        <p:nvSpPr>
          <p:cNvPr name="TextBox 14" id="14"/>
          <p:cNvSpPr txBox="true"/>
          <p:nvPr/>
        </p:nvSpPr>
        <p:spPr>
          <a:xfrm rot="0">
            <a:off x="1275532" y="5899135"/>
            <a:ext cx="3657800" cy="441833"/>
          </a:xfrm>
          <a:prstGeom prst="rect">
            <a:avLst/>
          </a:prstGeom>
        </p:spPr>
        <p:txBody>
          <a:bodyPr anchor="t" rtlCol="false" tIns="0" lIns="0" bIns="0" rIns="0">
            <a:spAutoFit/>
          </a:bodyPr>
          <a:lstStyle/>
          <a:p>
            <a:pPr algn="ctr">
              <a:lnSpc>
                <a:spcPts val="3136"/>
              </a:lnSpc>
            </a:pPr>
            <a:r>
              <a:rPr lang="en-US" b="true" sz="3200">
                <a:solidFill>
                  <a:srgbClr val="1800AD"/>
                </a:solidFill>
                <a:latin typeface="Poppins Semi-Bold"/>
                <a:ea typeface="Poppins Semi-Bold"/>
                <a:cs typeface="Poppins Semi-Bold"/>
                <a:sym typeface="Poppins Semi-Bold"/>
              </a:rPr>
              <a:t>Business Request</a:t>
            </a:r>
          </a:p>
        </p:txBody>
      </p:sp>
      <p:sp>
        <p:nvSpPr>
          <p:cNvPr name="TextBox 15" id="15"/>
          <p:cNvSpPr txBox="true"/>
          <p:nvPr/>
        </p:nvSpPr>
        <p:spPr>
          <a:xfrm rot="0">
            <a:off x="10016244" y="5869734"/>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Objective/Output</a:t>
            </a:r>
          </a:p>
        </p:txBody>
      </p:sp>
      <p:grpSp>
        <p:nvGrpSpPr>
          <p:cNvPr name="Group 16" id="16"/>
          <p:cNvGrpSpPr/>
          <p:nvPr/>
        </p:nvGrpSpPr>
        <p:grpSpPr>
          <a:xfrm rot="0">
            <a:off x="11043819" y="-3760614"/>
            <a:ext cx="7244181" cy="72441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390132" y="-4068572"/>
            <a:ext cx="7116554" cy="711655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5400000">
            <a:off x="5271488" y="4350342"/>
            <a:ext cx="562492" cy="452200"/>
            <a:chOff x="0" y="0"/>
            <a:chExt cx="647700" cy="520700"/>
          </a:xfrm>
        </p:grpSpPr>
        <p:sp>
          <p:nvSpPr>
            <p:cNvPr name="Freeform 23" id="2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24" id="2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0">
            <a:off x="1028700" y="3483567"/>
            <a:ext cx="16230600" cy="1324562"/>
            <a:chOff x="0" y="0"/>
            <a:chExt cx="4274726" cy="348856"/>
          </a:xfrm>
        </p:grpSpPr>
        <p:sp>
          <p:nvSpPr>
            <p:cNvPr name="Freeform 26" id="26"/>
            <p:cNvSpPr/>
            <p:nvPr/>
          </p:nvSpPr>
          <p:spPr>
            <a:xfrm flipH="false" flipV="false" rot="0">
              <a:off x="0" y="0"/>
              <a:ext cx="4274726" cy="348856"/>
            </a:xfrm>
            <a:custGeom>
              <a:avLst/>
              <a:gdLst/>
              <a:ahLst/>
              <a:cxnLst/>
              <a:rect r="r" b="b" t="t" l="l"/>
              <a:pathLst>
                <a:path h="348856" w="4274726">
                  <a:moveTo>
                    <a:pt x="7155" y="0"/>
                  </a:moveTo>
                  <a:lnTo>
                    <a:pt x="4267571" y="0"/>
                  </a:lnTo>
                  <a:cubicBezTo>
                    <a:pt x="4271523" y="0"/>
                    <a:pt x="4274726" y="3203"/>
                    <a:pt x="4274726" y="7155"/>
                  </a:cubicBezTo>
                  <a:lnTo>
                    <a:pt x="4274726" y="341701"/>
                  </a:lnTo>
                  <a:cubicBezTo>
                    <a:pt x="4274726" y="343599"/>
                    <a:pt x="4273972" y="345418"/>
                    <a:pt x="4272630" y="346760"/>
                  </a:cubicBezTo>
                  <a:cubicBezTo>
                    <a:pt x="4271289" y="348102"/>
                    <a:pt x="4269468" y="348856"/>
                    <a:pt x="4267571" y="348856"/>
                  </a:cubicBezTo>
                  <a:lnTo>
                    <a:pt x="7155" y="348856"/>
                  </a:lnTo>
                  <a:cubicBezTo>
                    <a:pt x="5257" y="348856"/>
                    <a:pt x="3437" y="348102"/>
                    <a:pt x="2096" y="346760"/>
                  </a:cubicBezTo>
                  <a:cubicBezTo>
                    <a:pt x="754" y="345418"/>
                    <a:pt x="0" y="343599"/>
                    <a:pt x="0" y="341701"/>
                  </a:cubicBezTo>
                  <a:lnTo>
                    <a:pt x="0" y="7155"/>
                  </a:lnTo>
                  <a:cubicBezTo>
                    <a:pt x="0" y="5257"/>
                    <a:pt x="754" y="3437"/>
                    <a:pt x="2096" y="2096"/>
                  </a:cubicBezTo>
                  <a:cubicBezTo>
                    <a:pt x="3437" y="754"/>
                    <a:pt x="5257" y="0"/>
                    <a:pt x="7155" y="0"/>
                  </a:cubicBezTo>
                  <a:close/>
                </a:path>
              </a:pathLst>
            </a:custGeom>
            <a:solidFill>
              <a:srgbClr val="BFD9F9"/>
            </a:solidFill>
          </p:spPr>
        </p:sp>
        <p:sp>
          <p:nvSpPr>
            <p:cNvPr name="TextBox 27" id="27"/>
            <p:cNvSpPr txBox="true"/>
            <p:nvPr/>
          </p:nvSpPr>
          <p:spPr>
            <a:xfrm>
              <a:off x="0" y="-47625"/>
              <a:ext cx="4274726" cy="396481"/>
            </a:xfrm>
            <a:prstGeom prst="rect">
              <a:avLst/>
            </a:prstGeom>
          </p:spPr>
          <p:txBody>
            <a:bodyPr anchor="ctr" rtlCol="false" tIns="50800" lIns="50800" bIns="50800" rIns="50800"/>
            <a:lstStyle/>
            <a:p>
              <a:pPr algn="ctr">
                <a:lnSpc>
                  <a:spcPts val="3499"/>
                </a:lnSpc>
              </a:pPr>
            </a:p>
          </p:txBody>
        </p:sp>
      </p:grpSp>
      <p:sp>
        <p:nvSpPr>
          <p:cNvPr name="Freeform 28" id="28"/>
          <p:cNvSpPr/>
          <p:nvPr/>
        </p:nvSpPr>
        <p:spPr>
          <a:xfrm flipH="false" flipV="false" rot="0">
            <a:off x="1365094" y="3746313"/>
            <a:ext cx="799831" cy="799831"/>
          </a:xfrm>
          <a:custGeom>
            <a:avLst/>
            <a:gdLst/>
            <a:ahLst/>
            <a:cxnLst/>
            <a:rect r="r" b="b" t="t" l="l"/>
            <a:pathLst>
              <a:path h="799831" w="799831">
                <a:moveTo>
                  <a:pt x="0" y="0"/>
                </a:moveTo>
                <a:lnTo>
                  <a:pt x="799830" y="0"/>
                </a:lnTo>
                <a:lnTo>
                  <a:pt x="799830" y="799830"/>
                </a:lnTo>
                <a:lnTo>
                  <a:pt x="0" y="799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15394" y="3579070"/>
            <a:ext cx="5603621" cy="1134316"/>
            <a:chOff x="0" y="0"/>
            <a:chExt cx="7471495" cy="1512421"/>
          </a:xfrm>
        </p:grpSpPr>
        <p:sp>
          <p:nvSpPr>
            <p:cNvPr name="TextBox 30" id="30"/>
            <p:cNvSpPr txBox="true"/>
            <p:nvPr/>
          </p:nvSpPr>
          <p:spPr>
            <a:xfrm rot="0">
              <a:off x="0" y="28575"/>
              <a:ext cx="1550388" cy="532934"/>
            </a:xfrm>
            <a:prstGeom prst="rect">
              <a:avLst/>
            </a:prstGeom>
          </p:spPr>
          <p:txBody>
            <a:bodyPr anchor="t" rtlCol="false" tIns="0" lIns="0" bIns="0" rIns="0">
              <a:spAutoFit/>
            </a:bodyPr>
            <a:lstStyle/>
            <a:p>
              <a:pPr algn="ctr">
                <a:lnSpc>
                  <a:spcPts val="2743"/>
                </a:lnSpc>
              </a:pPr>
              <a:r>
                <a:rPr lang="en-US" sz="2799" b="true">
                  <a:solidFill>
                    <a:srgbClr val="000000"/>
                  </a:solidFill>
                  <a:latin typeface="Poppins Semi-Bold"/>
                  <a:ea typeface="Poppins Semi-Bold"/>
                  <a:cs typeface="Poppins Semi-Bold"/>
                  <a:sym typeface="Poppins Semi-Bold"/>
                </a:rPr>
                <a:t>Soal 5</a:t>
              </a:r>
            </a:p>
          </p:txBody>
        </p:sp>
        <p:sp>
          <p:nvSpPr>
            <p:cNvPr name="TextBox 31" id="31"/>
            <p:cNvSpPr txBox="true"/>
            <p:nvPr/>
          </p:nvSpPr>
          <p:spPr>
            <a:xfrm rot="0">
              <a:off x="0" y="590084"/>
              <a:ext cx="7471495"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Registrasi &amp; Waktu ke Pembelian Pertama</a:t>
              </a:r>
            </a:p>
          </p:txBody>
        </p:sp>
        <p:sp>
          <p:nvSpPr>
            <p:cNvPr name="TextBox 32" id="32"/>
            <p:cNvSpPr txBox="true"/>
            <p:nvPr/>
          </p:nvSpPr>
          <p:spPr>
            <a:xfrm rot="0">
              <a:off x="0" y="1119864"/>
              <a:ext cx="6610416" cy="392557"/>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BI &amp; CRM Lead • Deadline 10 Jan 2025</a:t>
              </a:r>
            </a:p>
          </p:txBody>
        </p:sp>
      </p:grpSp>
      <p:grpSp>
        <p:nvGrpSpPr>
          <p:cNvPr name="Group 33" id="33"/>
          <p:cNvGrpSpPr/>
          <p:nvPr/>
        </p:nvGrpSpPr>
        <p:grpSpPr>
          <a:xfrm rot="0">
            <a:off x="12292745" y="3746313"/>
            <a:ext cx="4507591" cy="815978"/>
            <a:chOff x="0" y="0"/>
            <a:chExt cx="1187184" cy="214908"/>
          </a:xfrm>
        </p:grpSpPr>
        <p:sp>
          <p:nvSpPr>
            <p:cNvPr name="Freeform 34" id="34"/>
            <p:cNvSpPr/>
            <p:nvPr/>
          </p:nvSpPr>
          <p:spPr>
            <a:xfrm flipH="false" flipV="false" rot="0">
              <a:off x="0" y="0"/>
              <a:ext cx="1187184" cy="214908"/>
            </a:xfrm>
            <a:custGeom>
              <a:avLst/>
              <a:gdLst/>
              <a:ahLst/>
              <a:cxnLst/>
              <a:rect r="r" b="b" t="t" l="l"/>
              <a:pathLst>
                <a:path h="214908" w="1187184">
                  <a:moveTo>
                    <a:pt x="107454" y="0"/>
                  </a:moveTo>
                  <a:lnTo>
                    <a:pt x="1079731" y="0"/>
                  </a:lnTo>
                  <a:cubicBezTo>
                    <a:pt x="1139076" y="0"/>
                    <a:pt x="1187184" y="48109"/>
                    <a:pt x="1187184" y="107454"/>
                  </a:cubicBezTo>
                  <a:lnTo>
                    <a:pt x="1187184" y="107454"/>
                  </a:lnTo>
                  <a:cubicBezTo>
                    <a:pt x="1187184" y="166799"/>
                    <a:pt x="1139076" y="214908"/>
                    <a:pt x="1079731" y="214908"/>
                  </a:cubicBezTo>
                  <a:lnTo>
                    <a:pt x="107454" y="214908"/>
                  </a:lnTo>
                  <a:cubicBezTo>
                    <a:pt x="48109" y="214908"/>
                    <a:pt x="0" y="166799"/>
                    <a:pt x="0" y="107454"/>
                  </a:cubicBezTo>
                  <a:lnTo>
                    <a:pt x="0" y="107454"/>
                  </a:lnTo>
                  <a:cubicBezTo>
                    <a:pt x="0" y="48109"/>
                    <a:pt x="48109" y="0"/>
                    <a:pt x="107454" y="0"/>
                  </a:cubicBezTo>
                  <a:close/>
                </a:path>
              </a:pathLst>
            </a:custGeom>
            <a:solidFill>
              <a:srgbClr val="F4F9FD"/>
            </a:solidFill>
          </p:spPr>
        </p:sp>
        <p:sp>
          <p:nvSpPr>
            <p:cNvPr name="TextBox 35" id="35"/>
            <p:cNvSpPr txBox="true"/>
            <p:nvPr/>
          </p:nvSpPr>
          <p:spPr>
            <a:xfrm>
              <a:off x="0" y="-47625"/>
              <a:ext cx="1187184" cy="262533"/>
            </a:xfrm>
            <a:prstGeom prst="rect">
              <a:avLst/>
            </a:prstGeom>
          </p:spPr>
          <p:txBody>
            <a:bodyPr anchor="ctr" rtlCol="false" tIns="50800" lIns="50800" bIns="50800" rIns="50800"/>
            <a:lstStyle/>
            <a:p>
              <a:pPr algn="ctr">
                <a:lnSpc>
                  <a:spcPts val="3499"/>
                </a:lnSpc>
              </a:pPr>
            </a:p>
          </p:txBody>
        </p:sp>
      </p:grpSp>
      <p:sp>
        <p:nvSpPr>
          <p:cNvPr name="TextBox 36" id="36"/>
          <p:cNvSpPr txBox="true"/>
          <p:nvPr/>
        </p:nvSpPr>
        <p:spPr>
          <a:xfrm rot="0">
            <a:off x="12173932" y="4017435"/>
            <a:ext cx="4745217" cy="287274"/>
          </a:xfrm>
          <a:prstGeom prst="rect">
            <a:avLst/>
          </a:prstGeom>
        </p:spPr>
        <p:txBody>
          <a:bodyPr anchor="t" rtlCol="false" tIns="0" lIns="0" bIns="0" rIns="0">
            <a:spAutoFit/>
          </a:bodyPr>
          <a:lstStyle/>
          <a:p>
            <a:pPr algn="ctr">
              <a:lnSpc>
                <a:spcPts val="2058"/>
              </a:lnSpc>
            </a:pPr>
            <a:r>
              <a:rPr lang="en-US" sz="2100">
                <a:solidFill>
                  <a:srgbClr val="000000"/>
                </a:solidFill>
                <a:latin typeface="Poppins"/>
                <a:ea typeface="Poppins"/>
                <a:cs typeface="Poppins"/>
                <a:sym typeface="Poppins"/>
              </a:rPr>
              <a:t>Cohort &amp; Time-to-Event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221093" y="2354997"/>
            <a:ext cx="9168766" cy="7131262"/>
          </a:xfrm>
          <a:custGeom>
            <a:avLst/>
            <a:gdLst/>
            <a:ahLst/>
            <a:cxnLst/>
            <a:rect r="r" b="b" t="t" l="l"/>
            <a:pathLst>
              <a:path h="7131262" w="9168766">
                <a:moveTo>
                  <a:pt x="0" y="0"/>
                </a:moveTo>
                <a:lnTo>
                  <a:pt x="9168765" y="0"/>
                </a:lnTo>
                <a:lnTo>
                  <a:pt x="9168765" y="7131263"/>
                </a:lnTo>
                <a:lnTo>
                  <a:pt x="0" y="7131263"/>
                </a:lnTo>
                <a:lnTo>
                  <a:pt x="0" y="0"/>
                </a:lnTo>
                <a:close/>
              </a:path>
            </a:pathLst>
          </a:custGeom>
          <a:blipFill>
            <a:blip r:embed="rId2"/>
            <a:stretch>
              <a:fillRect l="0" t="0" r="0" b="0"/>
            </a:stretch>
          </a:blipFill>
        </p:spPr>
      </p:sp>
      <p:sp>
        <p:nvSpPr>
          <p:cNvPr name="TextBox 18" id="18"/>
          <p:cNvSpPr txBox="true"/>
          <p:nvPr/>
        </p:nvSpPr>
        <p:spPr>
          <a:xfrm rot="0">
            <a:off x="1028700" y="891162"/>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Syntax</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926876" y="2466735"/>
            <a:ext cx="14434248" cy="6791565"/>
          </a:xfrm>
          <a:custGeom>
            <a:avLst/>
            <a:gdLst/>
            <a:ahLst/>
            <a:cxnLst/>
            <a:rect r="r" b="b" t="t" l="l"/>
            <a:pathLst>
              <a:path h="6791565" w="14434248">
                <a:moveTo>
                  <a:pt x="0" y="0"/>
                </a:moveTo>
                <a:lnTo>
                  <a:pt x="14434248" y="0"/>
                </a:lnTo>
                <a:lnTo>
                  <a:pt x="14434248" y="6791565"/>
                </a:lnTo>
                <a:lnTo>
                  <a:pt x="0" y="6791565"/>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191090" y="2709934"/>
            <a:ext cx="15905821" cy="6171602"/>
          </a:xfrm>
          <a:custGeom>
            <a:avLst/>
            <a:gdLst/>
            <a:ahLst/>
            <a:cxnLst/>
            <a:rect r="r" b="b" t="t" l="l"/>
            <a:pathLst>
              <a:path h="6171602" w="15905821">
                <a:moveTo>
                  <a:pt x="0" y="0"/>
                </a:moveTo>
                <a:lnTo>
                  <a:pt x="15905820" y="0"/>
                </a:lnTo>
                <a:lnTo>
                  <a:pt x="15905820" y="6171603"/>
                </a:lnTo>
                <a:lnTo>
                  <a:pt x="0" y="6171603"/>
                </a:lnTo>
                <a:lnTo>
                  <a:pt x="0" y="0"/>
                </a:lnTo>
                <a:close/>
              </a:path>
            </a:pathLst>
          </a:custGeom>
          <a:blipFill>
            <a:blip r:embed="rId2"/>
            <a:stretch>
              <a:fillRect l="0" t="0" r="0" b="0"/>
            </a:stretch>
          </a:blipFill>
        </p:spPr>
      </p:sp>
      <p:sp>
        <p:nvSpPr>
          <p:cNvPr name="TextBox 18" id="18"/>
          <p:cNvSpPr txBox="true"/>
          <p:nvPr/>
        </p:nvSpPr>
        <p:spPr>
          <a:xfrm rot="0">
            <a:off x="1191090" y="733425"/>
            <a:ext cx="9717668" cy="1637925"/>
          </a:xfrm>
          <a:prstGeom prst="rect">
            <a:avLst/>
          </a:prstGeom>
        </p:spPr>
        <p:txBody>
          <a:bodyPr anchor="t" rtlCol="false" tIns="0" lIns="0" bIns="0" rIns="0">
            <a:spAutoFit/>
          </a:bodyPr>
          <a:lstStyle/>
          <a:p>
            <a:pPr algn="l">
              <a:lnSpc>
                <a:spcPts val="6061"/>
              </a:lnSpc>
            </a:pPr>
            <a:r>
              <a:rPr lang="en-US" sz="6185" b="true">
                <a:solidFill>
                  <a:srgbClr val="1E293B"/>
                </a:solidFill>
                <a:latin typeface="Poppins Semi-Bold"/>
                <a:ea typeface="Poppins Semi-Bold"/>
                <a:cs typeface="Poppins Semi-Bold"/>
                <a:sym typeface="Poppins Semi-Bold"/>
              </a:rPr>
              <a:t>New Customer Acquisition by Channel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028700" y="2242400"/>
            <a:ext cx="6234569" cy="7292906"/>
          </a:xfrm>
          <a:custGeom>
            <a:avLst/>
            <a:gdLst/>
            <a:ahLst/>
            <a:cxnLst/>
            <a:rect r="r" b="b" t="t" l="l"/>
            <a:pathLst>
              <a:path h="7292906" w="6234569">
                <a:moveTo>
                  <a:pt x="0" y="0"/>
                </a:moveTo>
                <a:lnTo>
                  <a:pt x="6234569" y="0"/>
                </a:lnTo>
                <a:lnTo>
                  <a:pt x="6234569" y="7292906"/>
                </a:lnTo>
                <a:lnTo>
                  <a:pt x="0" y="7292906"/>
                </a:lnTo>
                <a:lnTo>
                  <a:pt x="0" y="0"/>
                </a:lnTo>
                <a:close/>
              </a:path>
            </a:pathLst>
          </a:custGeom>
          <a:blipFill>
            <a:blip r:embed="rId2"/>
            <a:stretch>
              <a:fillRect l="0" t="0" r="0" b="0"/>
            </a:stretch>
          </a:blipFill>
        </p:spPr>
      </p:sp>
      <p:sp>
        <p:nvSpPr>
          <p:cNvPr name="TextBox 18" id="18"/>
          <p:cNvSpPr txBox="true"/>
          <p:nvPr/>
        </p:nvSpPr>
        <p:spPr>
          <a:xfrm rot="0">
            <a:off x="1028700" y="891162"/>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Syntax</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52190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6004726" y="605951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751777" y="-447832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166720" y="-4414509"/>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3882857" y="2436701"/>
            <a:ext cx="10522286" cy="7181086"/>
          </a:xfrm>
          <a:custGeom>
            <a:avLst/>
            <a:gdLst/>
            <a:ahLst/>
            <a:cxnLst/>
            <a:rect r="r" b="b" t="t" l="l"/>
            <a:pathLst>
              <a:path h="7181086" w="10522286">
                <a:moveTo>
                  <a:pt x="0" y="0"/>
                </a:moveTo>
                <a:lnTo>
                  <a:pt x="10522286" y="0"/>
                </a:lnTo>
                <a:lnTo>
                  <a:pt x="10522286" y="7181086"/>
                </a:lnTo>
                <a:lnTo>
                  <a:pt x="0" y="7181086"/>
                </a:lnTo>
                <a:lnTo>
                  <a:pt x="0" y="0"/>
                </a:lnTo>
                <a:close/>
              </a:path>
            </a:pathLst>
          </a:custGeom>
          <a:blipFill>
            <a:blip r:embed="rId2"/>
            <a:stretch>
              <a:fillRect l="0" t="0" r="0" b="0"/>
            </a:stretch>
          </a:blipFill>
        </p:spPr>
      </p:sp>
      <p:sp>
        <p:nvSpPr>
          <p:cNvPr name="TextBox 18" id="18"/>
          <p:cNvSpPr txBox="true"/>
          <p:nvPr/>
        </p:nvSpPr>
        <p:spPr>
          <a:xfrm rot="0">
            <a:off x="1028700" y="1114425"/>
            <a:ext cx="697847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Result</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43819" y="6664909"/>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579954" y="636906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27005" y="-4168773"/>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741948" y="-410496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372992" y="2632229"/>
            <a:ext cx="15542015" cy="6963874"/>
          </a:xfrm>
          <a:custGeom>
            <a:avLst/>
            <a:gdLst/>
            <a:ahLst/>
            <a:cxnLst/>
            <a:rect r="r" b="b" t="t" l="l"/>
            <a:pathLst>
              <a:path h="6963874" w="15542015">
                <a:moveTo>
                  <a:pt x="0" y="0"/>
                </a:moveTo>
                <a:lnTo>
                  <a:pt x="15542016" y="0"/>
                </a:lnTo>
                <a:lnTo>
                  <a:pt x="15542016" y="6963874"/>
                </a:lnTo>
                <a:lnTo>
                  <a:pt x="0" y="6963874"/>
                </a:lnTo>
                <a:lnTo>
                  <a:pt x="0" y="0"/>
                </a:lnTo>
                <a:close/>
              </a:path>
            </a:pathLst>
          </a:custGeom>
          <a:blipFill>
            <a:blip r:embed="rId2"/>
            <a:stretch>
              <a:fillRect l="0" t="0" r="0" b="0"/>
            </a:stretch>
          </a:blipFill>
        </p:spPr>
      </p:sp>
      <p:sp>
        <p:nvSpPr>
          <p:cNvPr name="TextBox 18" id="18"/>
          <p:cNvSpPr txBox="true"/>
          <p:nvPr/>
        </p:nvSpPr>
        <p:spPr>
          <a:xfrm rot="0">
            <a:off x="1326150" y="733425"/>
            <a:ext cx="9717668" cy="1637925"/>
          </a:xfrm>
          <a:prstGeom prst="rect">
            <a:avLst/>
          </a:prstGeom>
        </p:spPr>
        <p:txBody>
          <a:bodyPr anchor="t" rtlCol="false" tIns="0" lIns="0" bIns="0" rIns="0">
            <a:spAutoFit/>
          </a:bodyPr>
          <a:lstStyle/>
          <a:p>
            <a:pPr algn="l">
              <a:lnSpc>
                <a:spcPts val="6061"/>
              </a:lnSpc>
            </a:pPr>
            <a:r>
              <a:rPr lang="en-US" sz="6185" b="true">
                <a:solidFill>
                  <a:srgbClr val="1E293B"/>
                </a:solidFill>
                <a:latin typeface="Poppins Semi-Bold"/>
                <a:ea typeface="Poppins Semi-Bold"/>
                <a:cs typeface="Poppins Semi-Bold"/>
                <a:sym typeface="Poppins Semi-Bold"/>
              </a:rPr>
              <a:t>Average Days </a:t>
            </a:r>
          </a:p>
          <a:p>
            <a:pPr algn="l">
              <a:lnSpc>
                <a:spcPts val="6061"/>
              </a:lnSpc>
            </a:pPr>
            <a:r>
              <a:rPr lang="en-US" sz="6185" b="true">
                <a:solidFill>
                  <a:srgbClr val="1E293B"/>
                </a:solidFill>
                <a:latin typeface="Poppins Semi-Bold"/>
                <a:ea typeface="Poppins Semi-Bold"/>
                <a:cs typeface="Poppins Semi-Bold"/>
                <a:sym typeface="Poppins Semi-Bold"/>
              </a:rPr>
              <a:t>to First Transaction </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7830575" y="1114425"/>
            <a:ext cx="9428725"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Insight and Recommendation</a:t>
            </a:r>
          </a:p>
        </p:txBody>
      </p:sp>
      <p:grpSp>
        <p:nvGrpSpPr>
          <p:cNvPr name="Group 18" id="18"/>
          <p:cNvGrpSpPr/>
          <p:nvPr/>
        </p:nvGrpSpPr>
        <p:grpSpPr>
          <a:xfrm rot="0">
            <a:off x="998081" y="4349935"/>
            <a:ext cx="7579843" cy="3808857"/>
            <a:chOff x="0" y="0"/>
            <a:chExt cx="2264294" cy="1137804"/>
          </a:xfrm>
        </p:grpSpPr>
        <p:sp>
          <p:nvSpPr>
            <p:cNvPr name="Freeform 19" id="19"/>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0" id="20"/>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275532" y="5229842"/>
            <a:ext cx="7082895" cy="21070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Rata-rata waktu ke pembelian pertama 55–84 hari (2–3 bulan) — tergolong lama; April &amp; September jadi pengecualian dengan waktu tercepat</a:t>
            </a:r>
            <a:r>
              <a:rPr lang="en-US" sz="2799">
                <a:solidFill>
                  <a:srgbClr val="000000"/>
                </a:solidFill>
                <a:latin typeface="Poppins"/>
                <a:ea typeface="Poppins"/>
                <a:cs typeface="Poppins"/>
                <a:sym typeface="Poppins"/>
              </a:rPr>
              <a:t> (58 &amp; 55 hari). </a:t>
            </a:r>
          </a:p>
          <a:p>
            <a:pPr algn="l">
              <a:lnSpc>
                <a:spcPts val="2743"/>
              </a:lnSpc>
            </a:pPr>
          </a:p>
        </p:txBody>
      </p:sp>
      <p:grpSp>
        <p:nvGrpSpPr>
          <p:cNvPr name="Group 22" id="22"/>
          <p:cNvGrpSpPr/>
          <p:nvPr/>
        </p:nvGrpSpPr>
        <p:grpSpPr>
          <a:xfrm rot="0">
            <a:off x="9679457" y="4349935"/>
            <a:ext cx="7579843" cy="3808857"/>
            <a:chOff x="0" y="0"/>
            <a:chExt cx="2264294" cy="1137804"/>
          </a:xfrm>
        </p:grpSpPr>
        <p:sp>
          <p:nvSpPr>
            <p:cNvPr name="Freeform 23" id="23"/>
            <p:cNvSpPr/>
            <p:nvPr/>
          </p:nvSpPr>
          <p:spPr>
            <a:xfrm flipH="false" flipV="false" rot="0">
              <a:off x="0" y="0"/>
              <a:ext cx="2264294" cy="1137804"/>
            </a:xfrm>
            <a:custGeom>
              <a:avLst/>
              <a:gdLst/>
              <a:ahLst/>
              <a:cxnLst/>
              <a:rect r="r" b="b" t="t" l="l"/>
              <a:pathLst>
                <a:path h="1137804" w="2264294">
                  <a:moveTo>
                    <a:pt x="15321" y="0"/>
                  </a:moveTo>
                  <a:lnTo>
                    <a:pt x="2248974" y="0"/>
                  </a:lnTo>
                  <a:cubicBezTo>
                    <a:pt x="2257435" y="0"/>
                    <a:pt x="2264294" y="6859"/>
                    <a:pt x="2264294" y="15321"/>
                  </a:cubicBezTo>
                  <a:lnTo>
                    <a:pt x="2264294" y="1122483"/>
                  </a:lnTo>
                  <a:cubicBezTo>
                    <a:pt x="2264294" y="1130944"/>
                    <a:pt x="2257435" y="1137804"/>
                    <a:pt x="2248974" y="1137804"/>
                  </a:cubicBezTo>
                  <a:lnTo>
                    <a:pt x="15321" y="1137804"/>
                  </a:lnTo>
                  <a:cubicBezTo>
                    <a:pt x="6859" y="1137804"/>
                    <a:pt x="0" y="1130944"/>
                    <a:pt x="0" y="1122483"/>
                  </a:cubicBezTo>
                  <a:lnTo>
                    <a:pt x="0" y="15321"/>
                  </a:lnTo>
                  <a:cubicBezTo>
                    <a:pt x="0" y="6859"/>
                    <a:pt x="6859" y="0"/>
                    <a:pt x="15321" y="0"/>
                  </a:cubicBezTo>
                  <a:close/>
                </a:path>
              </a:pathLst>
            </a:custGeom>
            <a:solidFill>
              <a:srgbClr val="CFE2F3"/>
            </a:solidFill>
          </p:spPr>
        </p:sp>
        <p:sp>
          <p:nvSpPr>
            <p:cNvPr name="TextBox 24" id="24"/>
            <p:cNvSpPr txBox="true"/>
            <p:nvPr/>
          </p:nvSpPr>
          <p:spPr>
            <a:xfrm>
              <a:off x="0" y="-47625"/>
              <a:ext cx="2264294" cy="1185429"/>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10016244" y="5134844"/>
            <a:ext cx="7302393" cy="31357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Selidiki apa yang berbeda di April &amp; September (promo welcome, campaign onboarding tertentu) lalu replikasi ke bulan lain; pertimbangkan trigger CRM otomatis (voucher dengan expiry pendek) untuk pelanggan yang belum bertransaksi dalam 2 minggu pertama setelah registrasi. </a:t>
            </a:r>
          </a:p>
          <a:p>
            <a:pPr algn="l">
              <a:lnSpc>
                <a:spcPts val="2743"/>
              </a:lnSpc>
            </a:pPr>
          </a:p>
        </p:txBody>
      </p:sp>
      <p:sp>
        <p:nvSpPr>
          <p:cNvPr name="TextBox 26" id="26"/>
          <p:cNvSpPr txBox="true"/>
          <p:nvPr/>
        </p:nvSpPr>
        <p:spPr>
          <a:xfrm rot="0">
            <a:off x="183817" y="4556057"/>
            <a:ext cx="3657800"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Insight</a:t>
            </a:r>
          </a:p>
        </p:txBody>
      </p:sp>
      <p:sp>
        <p:nvSpPr>
          <p:cNvPr name="TextBox 27" id="27"/>
          <p:cNvSpPr txBox="true"/>
          <p:nvPr/>
        </p:nvSpPr>
        <p:spPr>
          <a:xfrm rot="0">
            <a:off x="10016244" y="4556057"/>
            <a:ext cx="3747037" cy="441833"/>
          </a:xfrm>
          <a:prstGeom prst="rect">
            <a:avLst/>
          </a:prstGeom>
        </p:spPr>
        <p:txBody>
          <a:bodyPr anchor="t" rtlCol="false" tIns="0" lIns="0" bIns="0" rIns="0">
            <a:spAutoFit/>
          </a:bodyPr>
          <a:lstStyle/>
          <a:p>
            <a:pPr algn="ctr">
              <a:lnSpc>
                <a:spcPts val="3136"/>
              </a:lnSpc>
            </a:pPr>
            <a:r>
              <a:rPr lang="en-US" sz="3200" b="true">
                <a:solidFill>
                  <a:srgbClr val="1800AD"/>
                </a:solidFill>
                <a:latin typeface="Poppins Semi-Bold"/>
                <a:ea typeface="Poppins Semi-Bold"/>
                <a:cs typeface="Poppins Semi-Bold"/>
                <a:sym typeface="Poppins Semi-Bold"/>
              </a:rPr>
              <a:t>Recommendation</a:t>
            </a:r>
          </a:p>
        </p:txBody>
      </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52691"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367633"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6713916" y="1725232"/>
            <a:ext cx="1054538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grpSp>
        <p:nvGrpSpPr>
          <p:cNvPr name="Group 18" id="18"/>
          <p:cNvGrpSpPr/>
          <p:nvPr/>
        </p:nvGrpSpPr>
        <p:grpSpPr>
          <a:xfrm rot="0">
            <a:off x="1302624" y="3134191"/>
            <a:ext cx="15956676" cy="5305164"/>
            <a:chOff x="0" y="0"/>
            <a:chExt cx="4766670" cy="1584789"/>
          </a:xfrm>
        </p:grpSpPr>
        <p:sp>
          <p:nvSpPr>
            <p:cNvPr name="Freeform 19" id="19"/>
            <p:cNvSpPr/>
            <p:nvPr/>
          </p:nvSpPr>
          <p:spPr>
            <a:xfrm flipH="false" flipV="false" rot="0">
              <a:off x="0" y="0"/>
              <a:ext cx="4766670" cy="1584789"/>
            </a:xfrm>
            <a:custGeom>
              <a:avLst/>
              <a:gdLst/>
              <a:ahLst/>
              <a:cxnLst/>
              <a:rect r="r" b="b" t="t" l="l"/>
              <a:pathLst>
                <a:path h="1584789" w="4766670">
                  <a:moveTo>
                    <a:pt x="7278" y="0"/>
                  </a:moveTo>
                  <a:lnTo>
                    <a:pt x="4759392" y="0"/>
                  </a:lnTo>
                  <a:cubicBezTo>
                    <a:pt x="4761323" y="0"/>
                    <a:pt x="4763174" y="767"/>
                    <a:pt x="4764539" y="2132"/>
                  </a:cubicBezTo>
                  <a:cubicBezTo>
                    <a:pt x="4765904" y="3496"/>
                    <a:pt x="4766670" y="5348"/>
                    <a:pt x="4766670" y="7278"/>
                  </a:cubicBezTo>
                  <a:lnTo>
                    <a:pt x="4766670" y="1577512"/>
                  </a:lnTo>
                  <a:cubicBezTo>
                    <a:pt x="4766670" y="1579442"/>
                    <a:pt x="4765904" y="1581293"/>
                    <a:pt x="4764539" y="1582658"/>
                  </a:cubicBezTo>
                  <a:cubicBezTo>
                    <a:pt x="4763174" y="1584023"/>
                    <a:pt x="4761323" y="1584789"/>
                    <a:pt x="4759392" y="1584789"/>
                  </a:cubicBezTo>
                  <a:lnTo>
                    <a:pt x="7278" y="1584789"/>
                  </a:lnTo>
                  <a:cubicBezTo>
                    <a:pt x="5348" y="1584789"/>
                    <a:pt x="3496" y="1584023"/>
                    <a:pt x="2132" y="1582658"/>
                  </a:cubicBezTo>
                  <a:cubicBezTo>
                    <a:pt x="767" y="1581293"/>
                    <a:pt x="0" y="1579442"/>
                    <a:pt x="0" y="1577512"/>
                  </a:cubicBezTo>
                  <a:lnTo>
                    <a:pt x="0" y="7278"/>
                  </a:lnTo>
                  <a:cubicBezTo>
                    <a:pt x="0" y="5348"/>
                    <a:pt x="767" y="3496"/>
                    <a:pt x="2132" y="2132"/>
                  </a:cubicBezTo>
                  <a:cubicBezTo>
                    <a:pt x="3496" y="767"/>
                    <a:pt x="5348" y="0"/>
                    <a:pt x="7278" y="0"/>
                  </a:cubicBezTo>
                  <a:close/>
                </a:path>
              </a:pathLst>
            </a:custGeom>
            <a:solidFill>
              <a:srgbClr val="CFE2F3"/>
            </a:solidFill>
          </p:spPr>
        </p:sp>
        <p:sp>
          <p:nvSpPr>
            <p:cNvPr name="TextBox 20" id="20"/>
            <p:cNvSpPr txBox="true"/>
            <p:nvPr/>
          </p:nvSpPr>
          <p:spPr>
            <a:xfrm>
              <a:off x="0" y="-47625"/>
              <a:ext cx="4766670" cy="1632414"/>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404588" y="3547382"/>
            <a:ext cx="15478823" cy="45073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Total sales 2024 = Rp23.302.112.728, dengan pola musiman yang kuat — bukan tren naik linear, tapi ada 2 puncak jelas (Mei &amp; Desember) dan 2 titik lemah (Maret &amp; Juli).</a:t>
            </a:r>
          </a:p>
          <a:p>
            <a:pPr algn="l">
              <a:lnSpc>
                <a:spcPts val="2743"/>
              </a:lnSpc>
            </a:pPr>
            <a:r>
              <a:rPr lang="en-US" sz="2799">
                <a:solidFill>
                  <a:srgbClr val="000000"/>
                </a:solidFill>
                <a:latin typeface="Poppins"/>
                <a:ea typeface="Poppins"/>
                <a:cs typeface="Poppins"/>
                <a:sym typeface="Poppins"/>
              </a:rPr>
              <a:t>1. Kinerja Revenue Bulanan — untuk Board of Directors</a:t>
            </a:r>
          </a:p>
          <a:p>
            <a:pPr algn="l" marL="604519" indent="-302260" lvl="1">
              <a:lnSpc>
                <a:spcPts val="2743"/>
              </a:lnSpc>
              <a:buFont typeface="Arial"/>
              <a:buChar char="•"/>
            </a:pPr>
            <a:r>
              <a:rPr lang="en-US" sz="2799">
                <a:solidFill>
                  <a:srgbClr val="000000"/>
                </a:solidFill>
                <a:latin typeface="Poppins"/>
                <a:ea typeface="Poppins"/>
                <a:cs typeface="Poppins"/>
                <a:sym typeface="Poppins"/>
              </a:rPr>
              <a:t>Desember adalah bulan tertinggi sepanjang 2024 (Rp4,12 M) — hampir 2× rata-rata bulanan (~Rp1,94 M), kemungkinan didorong event year-end sale/Harbolnas.</a:t>
            </a:r>
          </a:p>
          <a:p>
            <a:pPr algn="l" marL="604519" indent="-302260" lvl="1">
              <a:lnSpc>
                <a:spcPts val="2743"/>
              </a:lnSpc>
              <a:buFont typeface="Arial"/>
              <a:buChar char="•"/>
            </a:pPr>
            <a:r>
              <a:rPr lang="en-US" sz="2799">
                <a:solidFill>
                  <a:srgbClr val="000000"/>
                </a:solidFill>
                <a:latin typeface="Poppins"/>
                <a:ea typeface="Poppins"/>
                <a:cs typeface="Poppins"/>
                <a:sym typeface="Poppins"/>
              </a:rPr>
              <a:t>Mei jadi puncak kedua (Rp2,73 M) — indikasi ada campaign musim tengah tahun yang efektif.</a:t>
            </a:r>
          </a:p>
          <a:p>
            <a:pPr algn="l" marL="604519" indent="-302260" lvl="1">
              <a:lnSpc>
                <a:spcPts val="2743"/>
              </a:lnSpc>
              <a:buFont typeface="Arial"/>
              <a:buChar char="•"/>
            </a:pPr>
            <a:r>
              <a:rPr lang="en-US" sz="2799">
                <a:solidFill>
                  <a:srgbClr val="000000"/>
                </a:solidFill>
                <a:latin typeface="Poppins"/>
                <a:ea typeface="Poppins"/>
                <a:cs typeface="Poppins"/>
                <a:sym typeface="Poppins"/>
              </a:rPr>
              <a:t>Juli (Rp1,1 M) dan Maret (Rp1,2 M) adalah titik terlemah.</a:t>
            </a:r>
          </a:p>
          <a:p>
            <a:pPr algn="l" marL="604519" indent="-302260" lvl="1">
              <a:lnSpc>
                <a:spcPts val="2743"/>
              </a:lnSpc>
              <a:buFont typeface="Arial"/>
              <a:buChar char="•"/>
            </a:pPr>
            <a:r>
              <a:rPr lang="en-US" sz="2799">
                <a:solidFill>
                  <a:srgbClr val="000000"/>
                </a:solidFill>
                <a:latin typeface="Poppins"/>
                <a:ea typeface="Poppins"/>
                <a:cs typeface="Poppins"/>
                <a:sym typeface="Poppins"/>
              </a:rPr>
              <a:t>Insight untuk BOD: revenue Tokopaedi sangat event-driven, bukan pertumbuhan organik yang stabil bulan ke bulan — perlu waspada terhadap ketergantungan pada momen promo besar.</a:t>
            </a:r>
          </a:p>
          <a:p>
            <a:pPr algn="l">
              <a:lnSpc>
                <a:spcPts val="2743"/>
              </a:lnSpc>
            </a:pPr>
          </a:p>
          <a:p>
            <a:pPr algn="l">
              <a:lnSpc>
                <a:spcPts val="2743"/>
              </a:lnSpc>
            </a:pPr>
          </a:p>
        </p:txBody>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131778"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667913"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043819"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458761"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1302624" y="1725232"/>
            <a:ext cx="1054538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grpSp>
        <p:nvGrpSpPr>
          <p:cNvPr name="Group 18" id="18"/>
          <p:cNvGrpSpPr/>
          <p:nvPr/>
        </p:nvGrpSpPr>
        <p:grpSpPr>
          <a:xfrm rot="0">
            <a:off x="1302624" y="3134191"/>
            <a:ext cx="15956676" cy="5510819"/>
            <a:chOff x="0" y="0"/>
            <a:chExt cx="4766670" cy="1646224"/>
          </a:xfrm>
        </p:grpSpPr>
        <p:sp>
          <p:nvSpPr>
            <p:cNvPr name="Freeform 19" id="19"/>
            <p:cNvSpPr/>
            <p:nvPr/>
          </p:nvSpPr>
          <p:spPr>
            <a:xfrm flipH="false" flipV="false" rot="0">
              <a:off x="0" y="0"/>
              <a:ext cx="4766670" cy="1646224"/>
            </a:xfrm>
            <a:custGeom>
              <a:avLst/>
              <a:gdLst/>
              <a:ahLst/>
              <a:cxnLst/>
              <a:rect r="r" b="b" t="t" l="l"/>
              <a:pathLst>
                <a:path h="1646224" w="4766670">
                  <a:moveTo>
                    <a:pt x="7278" y="0"/>
                  </a:moveTo>
                  <a:lnTo>
                    <a:pt x="4759392" y="0"/>
                  </a:lnTo>
                  <a:cubicBezTo>
                    <a:pt x="4761323" y="0"/>
                    <a:pt x="4763174" y="767"/>
                    <a:pt x="4764539" y="2132"/>
                  </a:cubicBezTo>
                  <a:cubicBezTo>
                    <a:pt x="4765904" y="3496"/>
                    <a:pt x="4766670" y="5348"/>
                    <a:pt x="4766670" y="7278"/>
                  </a:cubicBezTo>
                  <a:lnTo>
                    <a:pt x="4766670" y="1638946"/>
                  </a:lnTo>
                  <a:cubicBezTo>
                    <a:pt x="4766670" y="1640876"/>
                    <a:pt x="4765904" y="1642727"/>
                    <a:pt x="4764539" y="1644092"/>
                  </a:cubicBezTo>
                  <a:cubicBezTo>
                    <a:pt x="4763174" y="1645457"/>
                    <a:pt x="4761323" y="1646224"/>
                    <a:pt x="4759392" y="1646224"/>
                  </a:cubicBezTo>
                  <a:lnTo>
                    <a:pt x="7278" y="1646224"/>
                  </a:lnTo>
                  <a:cubicBezTo>
                    <a:pt x="5348" y="1646224"/>
                    <a:pt x="3496" y="1645457"/>
                    <a:pt x="2132" y="1644092"/>
                  </a:cubicBezTo>
                  <a:cubicBezTo>
                    <a:pt x="767" y="1642727"/>
                    <a:pt x="0" y="1640876"/>
                    <a:pt x="0" y="1638946"/>
                  </a:cubicBezTo>
                  <a:lnTo>
                    <a:pt x="0" y="7278"/>
                  </a:lnTo>
                  <a:cubicBezTo>
                    <a:pt x="0" y="5348"/>
                    <a:pt x="767" y="3496"/>
                    <a:pt x="2132" y="2132"/>
                  </a:cubicBezTo>
                  <a:cubicBezTo>
                    <a:pt x="3496" y="767"/>
                    <a:pt x="5348" y="0"/>
                    <a:pt x="7278" y="0"/>
                  </a:cubicBezTo>
                  <a:close/>
                </a:path>
              </a:pathLst>
            </a:custGeom>
            <a:solidFill>
              <a:srgbClr val="CFE2F3"/>
            </a:solidFill>
          </p:spPr>
        </p:sp>
        <p:sp>
          <p:nvSpPr>
            <p:cNvPr name="TextBox 20" id="20"/>
            <p:cNvSpPr txBox="true"/>
            <p:nvPr/>
          </p:nvSpPr>
          <p:spPr>
            <a:xfrm>
              <a:off x="0" y="-47625"/>
              <a:ext cx="4766670" cy="1693849"/>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608225" y="3383510"/>
            <a:ext cx="15478823" cy="48502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2. Tren Kategori &amp; Kebutuhan Restock — untuk Warehouse Manager</a:t>
            </a:r>
          </a:p>
          <a:p>
            <a:pPr algn="l" marL="604519" indent="-302260" lvl="1">
              <a:lnSpc>
                <a:spcPts val="2743"/>
              </a:lnSpc>
              <a:buFont typeface="Arial"/>
              <a:buChar char="•"/>
            </a:pPr>
            <a:r>
              <a:rPr lang="en-US" sz="2799">
                <a:solidFill>
                  <a:srgbClr val="000000"/>
                </a:solidFill>
                <a:latin typeface="Poppins"/>
                <a:ea typeface="Poppins"/>
                <a:cs typeface="Poppins"/>
                <a:sym typeface="Poppins"/>
              </a:rPr>
              <a:t>Food &amp; Beverage adalah kategori volume tertinggi (6.000–8.000+ unit/tahun) — kandidat utama prioritas stok.</a:t>
            </a:r>
          </a:p>
          <a:p>
            <a:pPr algn="l" marL="604519" indent="-302260" lvl="1">
              <a:lnSpc>
                <a:spcPts val="2743"/>
              </a:lnSpc>
              <a:buFont typeface="Arial"/>
              <a:buChar char="•"/>
            </a:pPr>
            <a:r>
              <a:rPr lang="en-US" sz="2799">
                <a:solidFill>
                  <a:srgbClr val="000000"/>
                </a:solidFill>
                <a:latin typeface="Poppins"/>
                <a:ea typeface="Poppins"/>
                <a:cs typeface="Poppins"/>
                <a:sym typeface="Poppins"/>
              </a:rPr>
              <a:t>Electronics justru kategori dengan volume paling kecil &amp; paling stabil (~300 unit/tahun) — pola high-value, low-frequency, jadi risiko overstock rendah tapi juga tidak butuh replenishment agresif.</a:t>
            </a:r>
          </a:p>
          <a:p>
            <a:pPr algn="l" marL="604519" indent="-302260" lvl="1">
              <a:lnSpc>
                <a:spcPts val="2743"/>
              </a:lnSpc>
              <a:buFont typeface="Arial"/>
              <a:buChar char="•"/>
            </a:pPr>
            <a:r>
              <a:rPr lang="en-US" sz="2799">
                <a:solidFill>
                  <a:srgbClr val="000000"/>
                </a:solidFill>
                <a:latin typeface="Poppins"/>
                <a:ea typeface="Poppins"/>
                <a:cs typeface="Poppins"/>
                <a:sym typeface="Poppins"/>
              </a:rPr>
              <a:t>Fashion &amp; Footwear melonjak tajam di 2024 (5.070 unit, naik dari 2.336 di 2023) — sinyal demand shift yang perlu direspons cepat di planning.</a:t>
            </a:r>
          </a:p>
          <a:p>
            <a:pPr algn="l" marL="604519" indent="-302260" lvl="1">
              <a:lnSpc>
                <a:spcPts val="2743"/>
              </a:lnSpc>
              <a:buFont typeface="Arial"/>
              <a:buChar char="•"/>
            </a:pPr>
            <a:r>
              <a:rPr lang="en-US" sz="2799">
                <a:solidFill>
                  <a:srgbClr val="000000"/>
                </a:solidFill>
                <a:latin typeface="Poppins"/>
                <a:ea typeface="Poppins"/>
                <a:cs typeface="Poppins"/>
                <a:sym typeface="Poppins"/>
              </a:rPr>
              <a:t>Beauty &amp; Personal Care sempat turun 3 tahun berturut (5.240→3.270→2.052 di 2020–2022) lalu recover ke 4.320 di 2024 — pola V-shape yang butuh investigasi penyebabnya (bisa jadi disrupsi supply/permintaan saat itu).</a:t>
            </a:r>
          </a:p>
          <a:p>
            <a:pPr algn="l" marL="604519" indent="-302260" lvl="1">
              <a:lnSpc>
                <a:spcPts val="2743"/>
              </a:lnSpc>
              <a:buFont typeface="Arial"/>
              <a:buChar char="•"/>
            </a:pPr>
            <a:r>
              <a:rPr lang="en-US" sz="2799">
                <a:solidFill>
                  <a:srgbClr val="000000"/>
                </a:solidFill>
                <a:latin typeface="Poppins"/>
                <a:ea typeface="Poppins"/>
                <a:cs typeface="Poppins"/>
                <a:sym typeface="Poppins"/>
              </a:rPr>
              <a:t>Insight untuk Warehouse Manager: kategori dengan volatilitas tinggi (Fashion, Beauty) idealnya pakai buffer stock/forecast method berbeda dibanding kategori stabil (Electronics).</a:t>
            </a: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67633" y="6200570"/>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903769" y="590472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043819" y="-4390554"/>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458761" y="-4326740"/>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1302624" y="1725232"/>
            <a:ext cx="1054538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grpSp>
        <p:nvGrpSpPr>
          <p:cNvPr name="Group 18" id="18"/>
          <p:cNvGrpSpPr/>
          <p:nvPr/>
        </p:nvGrpSpPr>
        <p:grpSpPr>
          <a:xfrm rot="0">
            <a:off x="1302624" y="3134191"/>
            <a:ext cx="15956676" cy="4367925"/>
            <a:chOff x="0" y="0"/>
            <a:chExt cx="4766670" cy="1304812"/>
          </a:xfrm>
        </p:grpSpPr>
        <p:sp>
          <p:nvSpPr>
            <p:cNvPr name="Freeform 19" id="19"/>
            <p:cNvSpPr/>
            <p:nvPr/>
          </p:nvSpPr>
          <p:spPr>
            <a:xfrm flipH="false" flipV="false" rot="0">
              <a:off x="0" y="0"/>
              <a:ext cx="4766670" cy="1304812"/>
            </a:xfrm>
            <a:custGeom>
              <a:avLst/>
              <a:gdLst/>
              <a:ahLst/>
              <a:cxnLst/>
              <a:rect r="r" b="b" t="t" l="l"/>
              <a:pathLst>
                <a:path h="1304812" w="4766670">
                  <a:moveTo>
                    <a:pt x="7278" y="0"/>
                  </a:moveTo>
                  <a:lnTo>
                    <a:pt x="4759392" y="0"/>
                  </a:lnTo>
                  <a:cubicBezTo>
                    <a:pt x="4761323" y="0"/>
                    <a:pt x="4763174" y="767"/>
                    <a:pt x="4764539" y="2132"/>
                  </a:cubicBezTo>
                  <a:cubicBezTo>
                    <a:pt x="4765904" y="3496"/>
                    <a:pt x="4766670" y="5348"/>
                    <a:pt x="4766670" y="7278"/>
                  </a:cubicBezTo>
                  <a:lnTo>
                    <a:pt x="4766670" y="1297534"/>
                  </a:lnTo>
                  <a:cubicBezTo>
                    <a:pt x="4766670" y="1299464"/>
                    <a:pt x="4765904" y="1301315"/>
                    <a:pt x="4764539" y="1302680"/>
                  </a:cubicBezTo>
                  <a:cubicBezTo>
                    <a:pt x="4763174" y="1304045"/>
                    <a:pt x="4761323" y="1304812"/>
                    <a:pt x="4759392" y="1304812"/>
                  </a:cubicBezTo>
                  <a:lnTo>
                    <a:pt x="7278" y="1304812"/>
                  </a:lnTo>
                  <a:cubicBezTo>
                    <a:pt x="5348" y="1304812"/>
                    <a:pt x="3496" y="1304045"/>
                    <a:pt x="2132" y="1302680"/>
                  </a:cubicBezTo>
                  <a:cubicBezTo>
                    <a:pt x="767" y="1301315"/>
                    <a:pt x="0" y="1299464"/>
                    <a:pt x="0" y="1297534"/>
                  </a:cubicBezTo>
                  <a:lnTo>
                    <a:pt x="0" y="7278"/>
                  </a:lnTo>
                  <a:cubicBezTo>
                    <a:pt x="0" y="5348"/>
                    <a:pt x="767" y="3496"/>
                    <a:pt x="2132" y="2132"/>
                  </a:cubicBezTo>
                  <a:cubicBezTo>
                    <a:pt x="3496" y="767"/>
                    <a:pt x="5348" y="0"/>
                    <a:pt x="7278" y="0"/>
                  </a:cubicBezTo>
                  <a:close/>
                </a:path>
              </a:pathLst>
            </a:custGeom>
            <a:solidFill>
              <a:srgbClr val="CFE2F3"/>
            </a:solidFill>
          </p:spPr>
        </p:sp>
        <p:sp>
          <p:nvSpPr>
            <p:cNvPr name="TextBox 20" id="20"/>
            <p:cNvSpPr txBox="true"/>
            <p:nvPr/>
          </p:nvSpPr>
          <p:spPr>
            <a:xfrm>
              <a:off x="0" y="-47625"/>
              <a:ext cx="4766670" cy="1352437"/>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608225" y="3383510"/>
            <a:ext cx="15478823" cy="38215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3. Pertumbuhan Channel — untuk Marketing Manager (channel investment)</a:t>
            </a:r>
          </a:p>
          <a:p>
            <a:pPr algn="l" marL="604519" indent="-302260" lvl="1">
              <a:lnSpc>
                <a:spcPts val="2743"/>
              </a:lnSpc>
              <a:buFont typeface="Arial"/>
              <a:buChar char="•"/>
            </a:pPr>
            <a:r>
              <a:rPr lang="en-US" sz="2799">
                <a:solidFill>
                  <a:srgbClr val="000000"/>
                </a:solidFill>
                <a:latin typeface="Poppins"/>
                <a:ea typeface="Poppins"/>
                <a:cs typeface="Poppins"/>
                <a:sym typeface="Poppins"/>
              </a:rPr>
              <a:t>Offline store paling mencolok — growth revenue YoY meledak di awal 2024 (Jan +429%, Feb +506%), jauh melampaui channel lain. Ini kemungkinan hasil ekspansi toko fisik baru atau baseline 2023 yang memang masih kecil.</a:t>
            </a:r>
          </a:p>
          <a:p>
            <a:pPr algn="l" marL="604519" indent="-302260" lvl="1">
              <a:lnSpc>
                <a:spcPts val="2743"/>
              </a:lnSpc>
              <a:buFont typeface="Arial"/>
              <a:buChar char="•"/>
            </a:pPr>
            <a:r>
              <a:rPr lang="en-US" sz="2799">
                <a:solidFill>
                  <a:srgbClr val="000000"/>
                </a:solidFill>
                <a:latin typeface="Poppins"/>
                <a:ea typeface="Poppins"/>
                <a:cs typeface="Poppins"/>
                <a:sym typeface="Poppins"/>
              </a:rPr>
              <a:t>App</a:t>
            </a:r>
            <a:r>
              <a:rPr lang="en-US" sz="2799">
                <a:solidFill>
                  <a:srgbClr val="000000"/>
                </a:solidFill>
                <a:latin typeface="Poppins"/>
                <a:ea typeface="Poppins"/>
                <a:cs typeface="Poppins"/>
                <a:sym typeface="Poppins"/>
              </a:rPr>
              <a:t> store justru revenue turun 3 bulan berturut (Jan −16%, Feb −39%, Mar −39%) sebelum rebound kuat di April (+154%).</a:t>
            </a:r>
          </a:p>
          <a:p>
            <a:pPr algn="l" marL="604519" indent="-302260" lvl="1">
              <a:lnSpc>
                <a:spcPts val="2743"/>
              </a:lnSpc>
              <a:buFont typeface="Arial"/>
              <a:buChar char="•"/>
            </a:pPr>
            <a:r>
              <a:rPr lang="en-US" sz="2799">
                <a:solidFill>
                  <a:srgbClr val="000000"/>
                </a:solidFill>
                <a:latin typeface="Poppins"/>
                <a:ea typeface="Poppins"/>
                <a:cs typeface="Poppins"/>
                <a:sym typeface="Poppins"/>
              </a:rPr>
              <a:t>Website tumbuh moderat (+45% s.d. +56%) tapi sempat negatif di Maret (−44%) dan April (−16%) — performanya paling tidak konsisten.</a:t>
            </a:r>
          </a:p>
          <a:p>
            <a:pPr algn="l" marL="604519" indent="-302260" lvl="1">
              <a:lnSpc>
                <a:spcPts val="2743"/>
              </a:lnSpc>
              <a:buFont typeface="Arial"/>
              <a:buChar char="•"/>
            </a:pPr>
            <a:r>
              <a:rPr lang="en-US" sz="2799">
                <a:solidFill>
                  <a:srgbClr val="000000"/>
                </a:solidFill>
                <a:latin typeface="Poppins"/>
                <a:ea typeface="Poppins"/>
                <a:cs typeface="Poppins"/>
                <a:sym typeface="Poppins"/>
              </a:rPr>
              <a:t>Insight: momentum investasi Q1 2024 sebaiknya berat ke offline (lagi tumbuh cepat), sambil evaluasi kenapa app store melambat sebelum ikut menambah budget di sana.</a:t>
            </a:r>
          </a:p>
        </p:txBody>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67633" y="6200570"/>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903769" y="590472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85058" y="-4109990"/>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0" y="-4046176"/>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6541664" y="1697076"/>
            <a:ext cx="1054538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grpSp>
        <p:nvGrpSpPr>
          <p:cNvPr name="Group 18" id="18"/>
          <p:cNvGrpSpPr/>
          <p:nvPr/>
        </p:nvGrpSpPr>
        <p:grpSpPr>
          <a:xfrm rot="0">
            <a:off x="1302624" y="3134191"/>
            <a:ext cx="15956676" cy="3837296"/>
            <a:chOff x="0" y="0"/>
            <a:chExt cx="4766670" cy="1146299"/>
          </a:xfrm>
        </p:grpSpPr>
        <p:sp>
          <p:nvSpPr>
            <p:cNvPr name="Freeform 19" id="19"/>
            <p:cNvSpPr/>
            <p:nvPr/>
          </p:nvSpPr>
          <p:spPr>
            <a:xfrm flipH="false" flipV="false" rot="0">
              <a:off x="0" y="0"/>
              <a:ext cx="4766670" cy="1146299"/>
            </a:xfrm>
            <a:custGeom>
              <a:avLst/>
              <a:gdLst/>
              <a:ahLst/>
              <a:cxnLst/>
              <a:rect r="r" b="b" t="t" l="l"/>
              <a:pathLst>
                <a:path h="1146299" w="4766670">
                  <a:moveTo>
                    <a:pt x="7278" y="0"/>
                  </a:moveTo>
                  <a:lnTo>
                    <a:pt x="4759392" y="0"/>
                  </a:lnTo>
                  <a:cubicBezTo>
                    <a:pt x="4761323" y="0"/>
                    <a:pt x="4763174" y="767"/>
                    <a:pt x="4764539" y="2132"/>
                  </a:cubicBezTo>
                  <a:cubicBezTo>
                    <a:pt x="4765904" y="3496"/>
                    <a:pt x="4766670" y="5348"/>
                    <a:pt x="4766670" y="7278"/>
                  </a:cubicBezTo>
                  <a:lnTo>
                    <a:pt x="4766670" y="1139021"/>
                  </a:lnTo>
                  <a:cubicBezTo>
                    <a:pt x="4766670" y="1140952"/>
                    <a:pt x="4765904" y="1142803"/>
                    <a:pt x="4764539" y="1144168"/>
                  </a:cubicBezTo>
                  <a:cubicBezTo>
                    <a:pt x="4763174" y="1145533"/>
                    <a:pt x="4761323" y="1146299"/>
                    <a:pt x="4759392" y="1146299"/>
                  </a:cubicBezTo>
                  <a:lnTo>
                    <a:pt x="7278" y="1146299"/>
                  </a:lnTo>
                  <a:cubicBezTo>
                    <a:pt x="5348" y="1146299"/>
                    <a:pt x="3496" y="1145533"/>
                    <a:pt x="2132" y="1144168"/>
                  </a:cubicBezTo>
                  <a:cubicBezTo>
                    <a:pt x="767" y="1142803"/>
                    <a:pt x="0" y="1140952"/>
                    <a:pt x="0" y="1139021"/>
                  </a:cubicBezTo>
                  <a:lnTo>
                    <a:pt x="0" y="7278"/>
                  </a:lnTo>
                  <a:cubicBezTo>
                    <a:pt x="0" y="5348"/>
                    <a:pt x="767" y="3496"/>
                    <a:pt x="2132" y="2132"/>
                  </a:cubicBezTo>
                  <a:cubicBezTo>
                    <a:pt x="3496" y="767"/>
                    <a:pt x="5348" y="0"/>
                    <a:pt x="7278" y="0"/>
                  </a:cubicBezTo>
                  <a:close/>
                </a:path>
              </a:pathLst>
            </a:custGeom>
            <a:solidFill>
              <a:srgbClr val="CFE2F3"/>
            </a:solidFill>
          </p:spPr>
        </p:sp>
        <p:sp>
          <p:nvSpPr>
            <p:cNvPr name="TextBox 20" id="20"/>
            <p:cNvSpPr txBox="true"/>
            <p:nvPr/>
          </p:nvSpPr>
          <p:spPr>
            <a:xfrm>
              <a:off x="0" y="-47625"/>
              <a:ext cx="4766670" cy="1193924"/>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608225" y="3383510"/>
            <a:ext cx="15478823" cy="31357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4. Efisiensi Funnel Organic — untuk Marketing Manager (marketing efficiency) </a:t>
            </a:r>
          </a:p>
          <a:p>
            <a:pPr algn="l">
              <a:lnSpc>
                <a:spcPts val="2743"/>
              </a:lnSpc>
            </a:pPr>
          </a:p>
          <a:p>
            <a:pPr algn="l">
              <a:lnSpc>
                <a:spcPts val="2743"/>
              </a:lnSpc>
            </a:pPr>
            <a:r>
              <a:rPr lang="en-US" sz="2799">
                <a:solidFill>
                  <a:srgbClr val="000000"/>
                </a:solidFill>
                <a:latin typeface="Poppins"/>
                <a:ea typeface="Poppins"/>
                <a:cs typeface="Poppins"/>
                <a:sym typeface="Poppins"/>
              </a:rPr>
              <a:t>Ketiga channel performanya hampir identik (~2,2%) — tidak ada channel organic yang menonjol jauh.</a:t>
            </a:r>
          </a:p>
          <a:p>
            <a:pPr algn="l">
              <a:lnSpc>
                <a:spcPts val="2743"/>
              </a:lnSpc>
            </a:pPr>
            <a:r>
              <a:rPr lang="en-US" sz="2799">
                <a:solidFill>
                  <a:srgbClr val="000000"/>
                </a:solidFill>
                <a:latin typeface="Poppins"/>
                <a:ea typeface="Poppins"/>
                <a:cs typeface="Poppins"/>
                <a:sym typeface="Poppins"/>
              </a:rPr>
              <a:t>Website punya traffic terbesar tapi conversion-nya justru sedikit paling rendah — volume besar belum tentu paling efisien.</a:t>
            </a:r>
          </a:p>
          <a:p>
            <a:pPr algn="l">
              <a:lnSpc>
                <a:spcPts val="2743"/>
              </a:lnSpc>
            </a:pPr>
            <a:r>
              <a:rPr lang="en-US" sz="2799">
                <a:solidFill>
                  <a:srgbClr val="000000"/>
                </a:solidFill>
                <a:latin typeface="Poppins"/>
                <a:ea typeface="Poppins"/>
                <a:cs typeface="Poppins"/>
                <a:sym typeface="Poppins"/>
              </a:rPr>
              <a:t>In</a:t>
            </a:r>
            <a:r>
              <a:rPr lang="en-US" sz="2799">
                <a:solidFill>
                  <a:srgbClr val="000000"/>
                </a:solidFill>
                <a:latin typeface="Poppins"/>
                <a:ea typeface="Poppins"/>
                <a:cs typeface="Poppins"/>
                <a:sym typeface="Poppins"/>
              </a:rPr>
              <a:t>sight: karena gap antar-channel tipis, peluang improvement lebih baik difokuskan ke perbaikan funnel yang berlaku lintas-channel (UX, CTA, landing page) daripada realokasi budget antar channel.</a:t>
            </a:r>
          </a:p>
        </p:txBody>
      </p:sp>
    </p:spTree>
  </p:cSld>
  <p:clrMapOvr>
    <a:masterClrMapping/>
  </p:clrMapOvr>
</p:sld>
</file>

<file path=ppt/slides/slide4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635310" y="6812834"/>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171446" y="6516985"/>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585058" y="-4109990"/>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0" y="-4046176"/>
            <a:ext cx="7116554" cy="711655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6541664" y="1697076"/>
            <a:ext cx="1054538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grpSp>
        <p:nvGrpSpPr>
          <p:cNvPr name="Group 18" id="18"/>
          <p:cNvGrpSpPr/>
          <p:nvPr/>
        </p:nvGrpSpPr>
        <p:grpSpPr>
          <a:xfrm rot="0">
            <a:off x="1302624" y="3134191"/>
            <a:ext cx="15956676" cy="4413775"/>
            <a:chOff x="0" y="0"/>
            <a:chExt cx="4766670" cy="1318508"/>
          </a:xfrm>
        </p:grpSpPr>
        <p:sp>
          <p:nvSpPr>
            <p:cNvPr name="Freeform 19" id="19"/>
            <p:cNvSpPr/>
            <p:nvPr/>
          </p:nvSpPr>
          <p:spPr>
            <a:xfrm flipH="false" flipV="false" rot="0">
              <a:off x="0" y="0"/>
              <a:ext cx="4766670" cy="1318508"/>
            </a:xfrm>
            <a:custGeom>
              <a:avLst/>
              <a:gdLst/>
              <a:ahLst/>
              <a:cxnLst/>
              <a:rect r="r" b="b" t="t" l="l"/>
              <a:pathLst>
                <a:path h="1318508" w="4766670">
                  <a:moveTo>
                    <a:pt x="7278" y="0"/>
                  </a:moveTo>
                  <a:lnTo>
                    <a:pt x="4759392" y="0"/>
                  </a:lnTo>
                  <a:cubicBezTo>
                    <a:pt x="4761323" y="0"/>
                    <a:pt x="4763174" y="767"/>
                    <a:pt x="4764539" y="2132"/>
                  </a:cubicBezTo>
                  <a:cubicBezTo>
                    <a:pt x="4765904" y="3496"/>
                    <a:pt x="4766670" y="5348"/>
                    <a:pt x="4766670" y="7278"/>
                  </a:cubicBezTo>
                  <a:lnTo>
                    <a:pt x="4766670" y="1311231"/>
                  </a:lnTo>
                  <a:cubicBezTo>
                    <a:pt x="4766670" y="1313161"/>
                    <a:pt x="4765904" y="1315012"/>
                    <a:pt x="4764539" y="1316377"/>
                  </a:cubicBezTo>
                  <a:cubicBezTo>
                    <a:pt x="4763174" y="1317742"/>
                    <a:pt x="4761323" y="1318508"/>
                    <a:pt x="4759392" y="1318508"/>
                  </a:cubicBezTo>
                  <a:lnTo>
                    <a:pt x="7278" y="1318508"/>
                  </a:lnTo>
                  <a:cubicBezTo>
                    <a:pt x="5348" y="1318508"/>
                    <a:pt x="3496" y="1317742"/>
                    <a:pt x="2132" y="1316377"/>
                  </a:cubicBezTo>
                  <a:cubicBezTo>
                    <a:pt x="767" y="1315012"/>
                    <a:pt x="0" y="1313161"/>
                    <a:pt x="0" y="1311231"/>
                  </a:cubicBezTo>
                  <a:lnTo>
                    <a:pt x="0" y="7278"/>
                  </a:lnTo>
                  <a:cubicBezTo>
                    <a:pt x="0" y="5348"/>
                    <a:pt x="767" y="3496"/>
                    <a:pt x="2132" y="2132"/>
                  </a:cubicBezTo>
                  <a:cubicBezTo>
                    <a:pt x="3496" y="767"/>
                    <a:pt x="5348" y="0"/>
                    <a:pt x="7278" y="0"/>
                  </a:cubicBezTo>
                  <a:close/>
                </a:path>
              </a:pathLst>
            </a:custGeom>
            <a:solidFill>
              <a:srgbClr val="CFE2F3"/>
            </a:solidFill>
          </p:spPr>
        </p:sp>
        <p:sp>
          <p:nvSpPr>
            <p:cNvPr name="TextBox 20" id="20"/>
            <p:cNvSpPr txBox="true"/>
            <p:nvPr/>
          </p:nvSpPr>
          <p:spPr>
            <a:xfrm>
              <a:off x="0" y="-47625"/>
              <a:ext cx="4766670" cy="1366133"/>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608225" y="3383510"/>
            <a:ext cx="15478823" cy="4164457"/>
          </a:xfrm>
          <a:prstGeom prst="rect">
            <a:avLst/>
          </a:prstGeom>
        </p:spPr>
        <p:txBody>
          <a:bodyPr anchor="t" rtlCol="false" tIns="0" lIns="0" bIns="0" rIns="0">
            <a:spAutoFit/>
          </a:bodyPr>
          <a:lstStyle/>
          <a:p>
            <a:pPr algn="l">
              <a:lnSpc>
                <a:spcPts val="2743"/>
              </a:lnSpc>
            </a:pPr>
            <a:r>
              <a:rPr lang="en-US" sz="2799">
                <a:solidFill>
                  <a:srgbClr val="000000"/>
                </a:solidFill>
                <a:latin typeface="Poppins"/>
                <a:ea typeface="Poppins"/>
                <a:cs typeface="Poppins"/>
                <a:sym typeface="Poppins"/>
              </a:rPr>
              <a:t>5. Onboarding &amp; Customer Lifecycle — untuk BI &amp; CRM Lead</a:t>
            </a:r>
          </a:p>
          <a:p>
            <a:pPr algn="l" marL="604519" indent="-302260" lvl="1">
              <a:lnSpc>
                <a:spcPts val="2743"/>
              </a:lnSpc>
              <a:buFont typeface="Arial"/>
              <a:buChar char="•"/>
            </a:pPr>
            <a:r>
              <a:rPr lang="en-US" sz="2799">
                <a:solidFill>
                  <a:srgbClr val="000000"/>
                </a:solidFill>
                <a:latin typeface="Poppins"/>
                <a:ea typeface="Poppins"/>
                <a:cs typeface="Poppins"/>
                <a:sym typeface="Poppins"/>
              </a:rPr>
              <a:t>Rata-rata waktu registrasi → pembelian pertama berkisar 55–84 hari — hampir 2–3 bulan, tergolong panjang.</a:t>
            </a:r>
          </a:p>
          <a:p>
            <a:pPr algn="l" marL="604519" indent="-302260" lvl="1">
              <a:lnSpc>
                <a:spcPts val="2743"/>
              </a:lnSpc>
              <a:buFont typeface="Arial"/>
              <a:buChar char="•"/>
            </a:pPr>
            <a:r>
              <a:rPr lang="en-US" sz="2799">
                <a:solidFill>
                  <a:srgbClr val="000000"/>
                </a:solidFill>
                <a:latin typeface="Poppins"/>
                <a:ea typeface="Poppins"/>
                <a:cs typeface="Poppins"/>
                <a:sym typeface="Poppins"/>
              </a:rPr>
              <a:t>Dua bulan menonjol dengan waktu konversi jauh lebih cepat: April (58 hari) dan September (55 hari) — mengindikasikan ada mekanisme (promo welcome, campaign onboarding) yang efektif di bulan tersebut.</a:t>
            </a:r>
          </a:p>
          <a:p>
            <a:pPr algn="l" marL="604519" indent="-302260" lvl="1">
              <a:lnSpc>
                <a:spcPts val="2743"/>
              </a:lnSpc>
              <a:buFont typeface="Arial"/>
              <a:buChar char="•"/>
            </a:pPr>
            <a:r>
              <a:rPr lang="en-US" sz="2799">
                <a:solidFill>
                  <a:srgbClr val="000000"/>
                </a:solidFill>
                <a:latin typeface="Poppins"/>
                <a:ea typeface="Poppins"/>
                <a:cs typeface="Poppins"/>
                <a:sym typeface="Poppins"/>
              </a:rPr>
              <a:t>Bulan lain relatif seragam di kisaran 79–84 hari (Jan, Feb, Jun, Jul, Aug).</a:t>
            </a:r>
          </a:p>
          <a:p>
            <a:pPr algn="l" marL="604519" indent="-302260" lvl="1">
              <a:lnSpc>
                <a:spcPts val="2743"/>
              </a:lnSpc>
              <a:buFont typeface="Arial"/>
              <a:buChar char="•"/>
            </a:pPr>
            <a:r>
              <a:rPr lang="en-US" sz="2799">
                <a:solidFill>
                  <a:srgbClr val="000000"/>
                </a:solidFill>
                <a:latin typeface="Poppins"/>
                <a:ea typeface="Poppins"/>
                <a:cs typeface="Poppins"/>
                <a:sym typeface="Poppins"/>
              </a:rPr>
              <a:t>In</a:t>
            </a:r>
            <a:r>
              <a:rPr lang="en-US" sz="2799">
                <a:solidFill>
                  <a:srgbClr val="000000"/>
                </a:solidFill>
                <a:latin typeface="Poppins"/>
                <a:ea typeface="Poppins"/>
                <a:cs typeface="Poppins"/>
                <a:sym typeface="Poppins"/>
              </a:rPr>
              <a:t>sight: gap besar antara sign-up dan first purchase adalah peluang jelas untuk CRM lifecycle campaign — coba identifikasi apa yang beda di April/September lalu replikasi triggernya (mis. welcome voucher dengan expiry pendek) ke bulan-bulan lain.</a:t>
            </a:r>
          </a:p>
          <a:p>
            <a:pPr algn="l">
              <a:lnSpc>
                <a:spcPts val="2743"/>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191726" y="1580598"/>
            <a:ext cx="7244181" cy="72441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319354" y="-4277500"/>
            <a:ext cx="7116554" cy="71165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0191726" y="6977077"/>
            <a:ext cx="7244181" cy="72441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4" id="14"/>
          <p:cNvSpPr txBox="true"/>
          <p:nvPr/>
        </p:nvSpPr>
        <p:spPr>
          <a:xfrm rot="0">
            <a:off x="1028700" y="2750394"/>
            <a:ext cx="9290654" cy="3871994"/>
          </a:xfrm>
          <a:prstGeom prst="rect">
            <a:avLst/>
          </a:prstGeom>
        </p:spPr>
        <p:txBody>
          <a:bodyPr anchor="t" rtlCol="false" tIns="0" lIns="0" bIns="0" rIns="0">
            <a:spAutoFit/>
          </a:bodyPr>
          <a:lstStyle/>
          <a:p>
            <a:pPr algn="just">
              <a:lnSpc>
                <a:spcPts val="29938"/>
              </a:lnSpc>
            </a:pPr>
            <a:r>
              <a:rPr lang="en-US" sz="21384" b="true">
                <a:solidFill>
                  <a:srgbClr val="1E293B"/>
                </a:solidFill>
                <a:latin typeface="Poppins Semi-Bold"/>
                <a:ea typeface="Poppins Semi-Bold"/>
                <a:cs typeface="Poppins Semi-Bold"/>
                <a:sym typeface="Poppins Semi-Bold"/>
              </a:rPr>
              <a:t>Thank</a:t>
            </a:r>
          </a:p>
        </p:txBody>
      </p:sp>
      <p:sp>
        <p:nvSpPr>
          <p:cNvPr name="TextBox 15" id="15"/>
          <p:cNvSpPr txBox="true"/>
          <p:nvPr/>
        </p:nvSpPr>
        <p:spPr>
          <a:xfrm rot="0">
            <a:off x="1028700" y="5462486"/>
            <a:ext cx="7370356" cy="3871994"/>
          </a:xfrm>
          <a:prstGeom prst="rect">
            <a:avLst/>
          </a:prstGeom>
        </p:spPr>
        <p:txBody>
          <a:bodyPr anchor="t" rtlCol="false" tIns="0" lIns="0" bIns="0" rIns="0">
            <a:spAutoFit/>
          </a:bodyPr>
          <a:lstStyle/>
          <a:p>
            <a:pPr algn="just">
              <a:lnSpc>
                <a:spcPts val="29938"/>
              </a:lnSpc>
            </a:pPr>
            <a:r>
              <a:rPr lang="en-US" sz="21384" b="true">
                <a:solidFill>
                  <a:srgbClr val="1E293B"/>
                </a:solidFill>
                <a:latin typeface="Poppins Semi-Bold"/>
                <a:ea typeface="Poppins Semi-Bold"/>
                <a:cs typeface="Poppins Semi-Bold"/>
                <a:sym typeface="Poppins Semi-Bold"/>
              </a:rPr>
              <a:t>You</a:t>
            </a:r>
          </a:p>
        </p:txBody>
      </p:sp>
      <p:sp>
        <p:nvSpPr>
          <p:cNvPr name="Freeform 16" id="16"/>
          <p:cNvSpPr/>
          <p:nvPr/>
        </p:nvSpPr>
        <p:spPr>
          <a:xfrm flipH="false" flipV="false" rot="0">
            <a:off x="1028700" y="1079148"/>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255701" y="1050573"/>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MySkill</a:t>
            </a:r>
          </a:p>
        </p:txBody>
      </p:sp>
      <p:sp>
        <p:nvSpPr>
          <p:cNvPr name="TextBox 18" id="18"/>
          <p:cNvSpPr txBox="true"/>
          <p:nvPr/>
        </p:nvSpPr>
        <p:spPr>
          <a:xfrm rot="0">
            <a:off x="2255701" y="1425223"/>
            <a:ext cx="564552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Final Project Data Analyst Batch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DAHV-riKA_0</dc:identifier>
  <dcterms:modified xsi:type="dcterms:W3CDTF">2011-08-01T06:04:30Z</dcterms:modified>
  <cp:revision>1</cp:revision>
  <dc:title>Portofolio My Skill SQL</dc:title>
</cp:coreProperties>
</file>